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omments/modernComment_133_A8D69841.xml" ContentType="application/vnd.ms-powerpoint.comment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4"/>
  </p:notesMasterIdLst>
  <p:sldIdLst>
    <p:sldId id="361" r:id="rId2"/>
    <p:sldId id="363" r:id="rId3"/>
    <p:sldId id="365" r:id="rId4"/>
    <p:sldId id="402" r:id="rId5"/>
    <p:sldId id="404" r:id="rId6"/>
    <p:sldId id="405" r:id="rId7"/>
    <p:sldId id="406" r:id="rId8"/>
    <p:sldId id="407" r:id="rId9"/>
    <p:sldId id="366" r:id="rId10"/>
    <p:sldId id="364" r:id="rId11"/>
    <p:sldId id="362" r:id="rId12"/>
    <p:sldId id="371" r:id="rId13"/>
    <p:sldId id="367" r:id="rId14"/>
    <p:sldId id="368" r:id="rId15"/>
    <p:sldId id="372" r:id="rId16"/>
    <p:sldId id="373" r:id="rId17"/>
    <p:sldId id="375" r:id="rId18"/>
    <p:sldId id="411" r:id="rId19"/>
    <p:sldId id="376" r:id="rId20"/>
    <p:sldId id="383" r:id="rId21"/>
    <p:sldId id="377" r:id="rId22"/>
    <p:sldId id="378" r:id="rId23"/>
    <p:sldId id="381" r:id="rId24"/>
    <p:sldId id="379" r:id="rId25"/>
    <p:sldId id="389" r:id="rId26"/>
    <p:sldId id="397" r:id="rId27"/>
    <p:sldId id="398" r:id="rId28"/>
    <p:sldId id="399" r:id="rId29"/>
    <p:sldId id="400" r:id="rId30"/>
    <p:sldId id="384" r:id="rId31"/>
    <p:sldId id="385" r:id="rId32"/>
    <p:sldId id="386" r:id="rId33"/>
    <p:sldId id="387" r:id="rId34"/>
    <p:sldId id="388" r:id="rId35"/>
    <p:sldId id="390" r:id="rId36"/>
    <p:sldId id="392" r:id="rId37"/>
    <p:sldId id="396" r:id="rId38"/>
    <p:sldId id="395" r:id="rId39"/>
    <p:sldId id="393" r:id="rId40"/>
    <p:sldId id="394" r:id="rId41"/>
    <p:sldId id="370" r:id="rId42"/>
    <p:sldId id="409" r:id="rId43"/>
    <p:sldId id="412" r:id="rId44"/>
    <p:sldId id="382" r:id="rId45"/>
    <p:sldId id="345" r:id="rId46"/>
    <p:sldId id="346" r:id="rId47"/>
    <p:sldId id="347" r:id="rId48"/>
    <p:sldId id="348" r:id="rId49"/>
    <p:sldId id="349" r:id="rId50"/>
    <p:sldId id="350" r:id="rId51"/>
    <p:sldId id="351" r:id="rId52"/>
    <p:sldId id="355" r:id="rId53"/>
    <p:sldId id="357" r:id="rId54"/>
    <p:sldId id="359" r:id="rId55"/>
    <p:sldId id="353" r:id="rId56"/>
    <p:sldId id="360" r:id="rId57"/>
    <p:sldId id="354" r:id="rId58"/>
    <p:sldId id="329" r:id="rId59"/>
    <p:sldId id="331" r:id="rId60"/>
    <p:sldId id="335" r:id="rId61"/>
    <p:sldId id="332" r:id="rId62"/>
    <p:sldId id="337" r:id="rId63"/>
    <p:sldId id="336" r:id="rId64"/>
    <p:sldId id="339" r:id="rId65"/>
    <p:sldId id="338" r:id="rId66"/>
    <p:sldId id="340" r:id="rId67"/>
    <p:sldId id="333" r:id="rId68"/>
    <p:sldId id="342" r:id="rId69"/>
    <p:sldId id="341" r:id="rId70"/>
    <p:sldId id="343" r:id="rId71"/>
    <p:sldId id="334" r:id="rId72"/>
    <p:sldId id="300" r:id="rId73"/>
    <p:sldId id="299" r:id="rId74"/>
    <p:sldId id="305" r:id="rId75"/>
    <p:sldId id="306" r:id="rId76"/>
    <p:sldId id="307" r:id="rId77"/>
    <p:sldId id="310" r:id="rId78"/>
    <p:sldId id="313" r:id="rId79"/>
    <p:sldId id="314" r:id="rId80"/>
    <p:sldId id="301" r:id="rId81"/>
    <p:sldId id="320" r:id="rId82"/>
    <p:sldId id="315" r:id="rId83"/>
    <p:sldId id="302" r:id="rId84"/>
    <p:sldId id="319" r:id="rId85"/>
    <p:sldId id="321" r:id="rId86"/>
    <p:sldId id="322" r:id="rId87"/>
    <p:sldId id="323" r:id="rId88"/>
    <p:sldId id="324" r:id="rId89"/>
    <p:sldId id="325" r:id="rId90"/>
    <p:sldId id="326" r:id="rId91"/>
    <p:sldId id="344" r:id="rId92"/>
    <p:sldId id="327" r:id="rId93"/>
    <p:sldId id="275" r:id="rId94"/>
    <p:sldId id="287" r:id="rId95"/>
    <p:sldId id="285" r:id="rId96"/>
    <p:sldId id="280" r:id="rId97"/>
    <p:sldId id="281" r:id="rId98"/>
    <p:sldId id="282" r:id="rId99"/>
    <p:sldId id="286" r:id="rId100"/>
    <p:sldId id="283" r:id="rId101"/>
    <p:sldId id="284" r:id="rId102"/>
    <p:sldId id="288" r:id="rId103"/>
    <p:sldId id="278" r:id="rId104"/>
    <p:sldId id="289" r:id="rId105"/>
    <p:sldId id="290" r:id="rId106"/>
    <p:sldId id="293" r:id="rId107"/>
    <p:sldId id="277" r:id="rId108"/>
    <p:sldId id="276" r:id="rId109"/>
    <p:sldId id="294" r:id="rId110"/>
    <p:sldId id="291" r:id="rId111"/>
    <p:sldId id="292" r:id="rId112"/>
    <p:sldId id="295" r:id="rId113"/>
    <p:sldId id="296" r:id="rId114"/>
    <p:sldId id="297" r:id="rId115"/>
    <p:sldId id="298" r:id="rId116"/>
    <p:sldId id="262" r:id="rId117"/>
    <p:sldId id="272" r:id="rId118"/>
    <p:sldId id="265" r:id="rId119"/>
    <p:sldId id="268" r:id="rId120"/>
    <p:sldId id="267" r:id="rId121"/>
    <p:sldId id="273" r:id="rId122"/>
    <p:sldId id="269" r:id="rId123"/>
    <p:sldId id="274" r:id="rId124"/>
    <p:sldId id="263" r:id="rId125"/>
    <p:sldId id="266" r:id="rId126"/>
    <p:sldId id="264" r:id="rId127"/>
    <p:sldId id="256" r:id="rId128"/>
    <p:sldId id="257" r:id="rId129"/>
    <p:sldId id="259" r:id="rId130"/>
    <p:sldId id="261" r:id="rId131"/>
    <p:sldId id="258" r:id="rId132"/>
    <p:sldId id="260" r:id="rId1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0B610FD-72E4-67EA-2503-7D0189F74843}" name="Jim Zhang" initials="JZ" userId="S::jz421@duke.edu::fa6909b4-cf68-47b2-80b2-932828f9043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2E2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E516DA-7FD6-854F-BE2D-6274BAED93BF}" v="5" dt="2026-09-08T14:14:50.1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71"/>
    <p:restoredTop sz="81416"/>
  </p:normalViewPr>
  <p:slideViewPr>
    <p:cSldViewPr snapToGrid="0">
      <p:cViewPr>
        <p:scale>
          <a:sx n="152" d="100"/>
          <a:sy n="152" d="100"/>
        </p:scale>
        <p:origin x="552" y="-6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tableStyles" Target="tableStyle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notesMaster" Target="notesMasters/notesMaster1.xml"/><Relationship Id="rId139" Type="http://schemas.microsoft.com/office/2016/11/relationships/changesInfo" Target="changesInfos/changesInfo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microsoft.com/office/2018/10/relationships/authors" Target="author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m Zhang" userId="fa6909b4-cf68-47b2-80b2-932828f90439" providerId="ADAL" clId="{FCC9E995-CCC9-508B-82F3-A146A336A0C0}"/>
    <pc:docChg chg="undo redo custSel addSld delSld modSld sldOrd">
      <pc:chgData name="Jim Zhang" userId="fa6909b4-cf68-47b2-80b2-932828f90439" providerId="ADAL" clId="{FCC9E995-CCC9-508B-82F3-A146A336A0C0}" dt="2026-09-08T14:14:52.661" v="29005" actId="21"/>
      <pc:docMkLst>
        <pc:docMk/>
      </pc:docMkLst>
      <pc:sldChg chg="addSp modSp mod">
        <pc:chgData name="Jim Zhang" userId="fa6909b4-cf68-47b2-80b2-932828f90439" providerId="ADAL" clId="{FCC9E995-CCC9-508B-82F3-A146A336A0C0}" dt="2026-09-04T15:21:24.580" v="28981" actId="164"/>
        <pc:sldMkLst>
          <pc:docMk/>
          <pc:sldMk cId="2581437636" sldId="285"/>
        </pc:sldMkLst>
        <pc:spChg chg="add mod">
          <ac:chgData name="Jim Zhang" userId="fa6909b4-cf68-47b2-80b2-932828f90439" providerId="ADAL" clId="{FCC9E995-CCC9-508B-82F3-A146A336A0C0}" dt="2026-09-04T15:21:24.580" v="28981" actId="164"/>
          <ac:spMkLst>
            <pc:docMk/>
            <pc:sldMk cId="2581437636" sldId="285"/>
            <ac:spMk id="3" creationId="{C5264BC5-FB08-32D6-D21E-37BF7B11E711}"/>
          </ac:spMkLst>
        </pc:spChg>
        <pc:grpChg chg="add mod">
          <ac:chgData name="Jim Zhang" userId="fa6909b4-cf68-47b2-80b2-932828f90439" providerId="ADAL" clId="{FCC9E995-CCC9-508B-82F3-A146A336A0C0}" dt="2026-09-04T15:21:24.580" v="28981" actId="164"/>
          <ac:grpSpMkLst>
            <pc:docMk/>
            <pc:sldMk cId="2581437636" sldId="285"/>
            <ac:grpSpMk id="4" creationId="{D667D3B5-1107-488C-8D6D-4D78912039CA}"/>
          </ac:grpSpMkLst>
        </pc:grpChg>
        <pc:picChg chg="mod modCrop">
          <ac:chgData name="Jim Zhang" userId="fa6909b4-cf68-47b2-80b2-932828f90439" providerId="ADAL" clId="{FCC9E995-CCC9-508B-82F3-A146A336A0C0}" dt="2026-09-04T15:21:24.580" v="28981" actId="164"/>
          <ac:picMkLst>
            <pc:docMk/>
            <pc:sldMk cId="2581437636" sldId="285"/>
            <ac:picMk id="9" creationId="{0CDA542F-3EFA-4612-A622-5857F6A20A2A}"/>
          </ac:picMkLst>
        </pc:picChg>
      </pc:sldChg>
      <pc:sldChg chg="addSp modSp mod">
        <pc:chgData name="Jim Zhang" userId="fa6909b4-cf68-47b2-80b2-932828f90439" providerId="ADAL" clId="{FCC9E995-CCC9-508B-82F3-A146A336A0C0}" dt="2026-09-04T15:22:38.552" v="28990" actId="732"/>
        <pc:sldMkLst>
          <pc:docMk/>
          <pc:sldMk cId="1296717083" sldId="299"/>
        </pc:sldMkLst>
        <pc:spChg chg="add mod">
          <ac:chgData name="Jim Zhang" userId="fa6909b4-cf68-47b2-80b2-932828f90439" providerId="ADAL" clId="{FCC9E995-CCC9-508B-82F3-A146A336A0C0}" dt="2026-09-04T15:22:25.604" v="28986" actId="164"/>
          <ac:spMkLst>
            <pc:docMk/>
            <pc:sldMk cId="1296717083" sldId="299"/>
            <ac:spMk id="3" creationId="{6EC08916-BD1E-93A8-88E8-0CE8725D6968}"/>
          </ac:spMkLst>
        </pc:spChg>
        <pc:grpChg chg="add mod">
          <ac:chgData name="Jim Zhang" userId="fa6909b4-cf68-47b2-80b2-932828f90439" providerId="ADAL" clId="{FCC9E995-CCC9-508B-82F3-A146A336A0C0}" dt="2026-09-04T15:22:25.604" v="28986" actId="164"/>
          <ac:grpSpMkLst>
            <pc:docMk/>
            <pc:sldMk cId="1296717083" sldId="299"/>
            <ac:grpSpMk id="4" creationId="{63A48101-904F-2063-ADF3-E22E40A831ED}"/>
          </ac:grpSpMkLst>
        </pc:grpChg>
        <pc:picChg chg="mod modCrop">
          <ac:chgData name="Jim Zhang" userId="fa6909b4-cf68-47b2-80b2-932828f90439" providerId="ADAL" clId="{FCC9E995-CCC9-508B-82F3-A146A336A0C0}" dt="2026-09-04T15:22:38.552" v="28990" actId="732"/>
          <ac:picMkLst>
            <pc:docMk/>
            <pc:sldMk cId="1296717083" sldId="299"/>
            <ac:picMk id="7" creationId="{4CA74127-E0CA-1469-2D56-4EA3907CAB5E}"/>
          </ac:picMkLst>
        </pc:picChg>
      </pc:sldChg>
      <pc:sldChg chg="addSp delSp modSp mod">
        <pc:chgData name="Jim Zhang" userId="fa6909b4-cf68-47b2-80b2-932828f90439" providerId="ADAL" clId="{FCC9E995-CCC9-508B-82F3-A146A336A0C0}" dt="2026-09-08T14:14:52.661" v="29005" actId="21"/>
        <pc:sldMkLst>
          <pc:docMk/>
          <pc:sldMk cId="4182284630" sldId="315"/>
        </pc:sldMkLst>
        <pc:spChg chg="add del mod">
          <ac:chgData name="Jim Zhang" userId="fa6909b4-cf68-47b2-80b2-932828f90439" providerId="ADAL" clId="{FCC9E995-CCC9-508B-82F3-A146A336A0C0}" dt="2026-09-08T14:14:52.661" v="29005" actId="21"/>
          <ac:spMkLst>
            <pc:docMk/>
            <pc:sldMk cId="4182284630" sldId="315"/>
            <ac:spMk id="3" creationId="{DD781A41-DDBF-59A6-394C-5B8AD29E6987}"/>
          </ac:spMkLst>
        </pc:spChg>
        <pc:spChg chg="add mod">
          <ac:chgData name="Jim Zhang" userId="fa6909b4-cf68-47b2-80b2-932828f90439" providerId="ADAL" clId="{FCC9E995-CCC9-508B-82F3-A146A336A0C0}" dt="2026-09-08T14:14:49.806" v="29003" actId="1076"/>
          <ac:spMkLst>
            <pc:docMk/>
            <pc:sldMk cId="4182284630" sldId="315"/>
            <ac:spMk id="4" creationId="{0986045B-1833-8D93-EA06-AE27B74C516F}"/>
          </ac:spMkLst>
        </pc:spChg>
        <pc:spChg chg="add del">
          <ac:chgData name="Jim Zhang" userId="fa6909b4-cf68-47b2-80b2-932828f90439" providerId="ADAL" clId="{FCC9E995-CCC9-508B-82F3-A146A336A0C0}" dt="2026-09-08T14:14:52.661" v="29005" actId="21"/>
          <ac:spMkLst>
            <pc:docMk/>
            <pc:sldMk cId="4182284630" sldId="315"/>
            <ac:spMk id="18" creationId="{DBBD4931-AD36-458A-9A47-EBAFA3555C73}"/>
          </ac:spMkLst>
        </pc:spChg>
        <pc:picChg chg="mod">
          <ac:chgData name="Jim Zhang" userId="fa6909b4-cf68-47b2-80b2-932828f90439" providerId="ADAL" clId="{FCC9E995-CCC9-508B-82F3-A146A336A0C0}" dt="2026-09-08T14:14:49.131" v="29001" actId="1076"/>
          <ac:picMkLst>
            <pc:docMk/>
            <pc:sldMk cId="4182284630" sldId="315"/>
            <ac:picMk id="11" creationId="{FB9A9D92-2416-1892-4024-B963C43BFD2F}"/>
          </ac:picMkLst>
        </pc:picChg>
        <pc:picChg chg="mod">
          <ac:chgData name="Jim Zhang" userId="fa6909b4-cf68-47b2-80b2-932828f90439" providerId="ADAL" clId="{FCC9E995-CCC9-508B-82F3-A146A336A0C0}" dt="2026-09-08T14:14:49.475" v="29002" actId="1076"/>
          <ac:picMkLst>
            <pc:docMk/>
            <pc:sldMk cId="4182284630" sldId="315"/>
            <ac:picMk id="13" creationId="{1FE709F2-5C52-C855-B051-E700EB44B674}"/>
          </ac:picMkLst>
        </pc:picChg>
        <pc:picChg chg="mod">
          <ac:chgData name="Jim Zhang" userId="fa6909b4-cf68-47b2-80b2-932828f90439" providerId="ADAL" clId="{FCC9E995-CCC9-508B-82F3-A146A336A0C0}" dt="2026-09-08T14:14:48.493" v="28999" actId="1076"/>
          <ac:picMkLst>
            <pc:docMk/>
            <pc:sldMk cId="4182284630" sldId="315"/>
            <ac:picMk id="15" creationId="{F45847DF-8661-771F-89E4-A279FA1D878D}"/>
          </ac:picMkLst>
        </pc:picChg>
      </pc:sldChg>
      <pc:sldChg chg="addSp delSp modSp new mod modNotesTx">
        <pc:chgData name="Jim Zhang" userId="fa6909b4-cf68-47b2-80b2-932828f90439" providerId="ADAL" clId="{FCC9E995-CCC9-508B-82F3-A146A336A0C0}" dt="2026-08-11T14:21:02.203" v="28204" actId="20577"/>
        <pc:sldMkLst>
          <pc:docMk/>
          <pc:sldMk cId="4233057763" sldId="360"/>
        </pc:sldMkLst>
      </pc:sldChg>
      <pc:sldChg chg="modSp add mod ord modNotesTx">
        <pc:chgData name="Jim Zhang" userId="fa6909b4-cf68-47b2-80b2-932828f90439" providerId="ADAL" clId="{FCC9E995-CCC9-508B-82F3-A146A336A0C0}" dt="2026-08-11T17:01:02.387" v="28973" actId="20577"/>
        <pc:sldMkLst>
          <pc:docMk/>
          <pc:sldMk cId="1760085448" sldId="361"/>
        </pc:sldMkLst>
        <pc:spChg chg="mod">
          <ac:chgData name="Jim Zhang" userId="fa6909b4-cf68-47b2-80b2-932828f90439" providerId="ADAL" clId="{FCC9E995-CCC9-508B-82F3-A146A336A0C0}" dt="2026-08-11T17:01:02.387" v="28973" actId="20577"/>
          <ac:spMkLst>
            <pc:docMk/>
            <pc:sldMk cId="1760085448" sldId="361"/>
            <ac:spMk id="2" creationId="{963277BE-23C9-96B1-D945-9C7D191514B3}"/>
          </ac:spMkLst>
        </pc:spChg>
      </pc:sldChg>
      <pc:sldChg chg="addSp delSp modSp new mod modNotesTx">
        <pc:chgData name="Jim Zhang" userId="fa6909b4-cf68-47b2-80b2-932828f90439" providerId="ADAL" clId="{FCC9E995-CCC9-508B-82F3-A146A336A0C0}" dt="2026-08-10T23:18:05.678" v="27204" actId="20577"/>
        <pc:sldMkLst>
          <pc:docMk/>
          <pc:sldMk cId="671234834" sldId="365"/>
        </pc:sldMkLst>
        <pc:spChg chg="mod">
          <ac:chgData name="Jim Zhang" userId="fa6909b4-cf68-47b2-80b2-932828f90439" providerId="ADAL" clId="{FCC9E995-CCC9-508B-82F3-A146A336A0C0}" dt="2026-08-10T23:18:05.678" v="27204" actId="20577"/>
          <ac:spMkLst>
            <pc:docMk/>
            <pc:sldMk cId="671234834" sldId="365"/>
            <ac:spMk id="2" creationId="{DC01704E-9E0B-44C7-8158-BA591094B809}"/>
          </ac:spMkLst>
        </pc:spChg>
      </pc:sldChg>
      <pc:sldChg chg="addSp delSp modSp add mod">
        <pc:chgData name="Jim Zhang" userId="fa6909b4-cf68-47b2-80b2-932828f90439" providerId="ADAL" clId="{FCC9E995-CCC9-508B-82F3-A146A336A0C0}" dt="2026-08-11T15:00:43.082" v="28353" actId="1076"/>
        <pc:sldMkLst>
          <pc:docMk/>
          <pc:sldMk cId="4214099371" sldId="366"/>
        </pc:sldMkLst>
        <pc:picChg chg="add mod">
          <ac:chgData name="Jim Zhang" userId="fa6909b4-cf68-47b2-80b2-932828f90439" providerId="ADAL" clId="{FCC9E995-CCC9-508B-82F3-A146A336A0C0}" dt="2026-08-11T15:00:43.082" v="28353" actId="1076"/>
          <ac:picMkLst>
            <pc:docMk/>
            <pc:sldMk cId="4214099371" sldId="366"/>
            <ac:picMk id="7" creationId="{F8562EFA-D65F-7364-851D-52FFBC49D12F}"/>
          </ac:picMkLst>
        </pc:picChg>
      </pc:sldChg>
      <pc:sldChg chg="modSp add mod">
        <pc:chgData name="Jim Zhang" userId="fa6909b4-cf68-47b2-80b2-932828f90439" providerId="ADAL" clId="{FCC9E995-CCC9-508B-82F3-A146A336A0C0}" dt="2026-08-11T15:19:31.723" v="28799" actId="5793"/>
        <pc:sldMkLst>
          <pc:docMk/>
          <pc:sldMk cId="505786817" sldId="370"/>
        </pc:sldMkLst>
        <pc:spChg chg="mod">
          <ac:chgData name="Jim Zhang" userId="fa6909b4-cf68-47b2-80b2-932828f90439" providerId="ADAL" clId="{FCC9E995-CCC9-508B-82F3-A146A336A0C0}" dt="2026-08-11T15:19:31.723" v="28799" actId="5793"/>
          <ac:spMkLst>
            <pc:docMk/>
            <pc:sldMk cId="505786817" sldId="370"/>
            <ac:spMk id="3" creationId="{29901C3A-1F98-AD36-8AAA-E744C37B5368}"/>
          </ac:spMkLst>
        </pc:spChg>
      </pc:sldChg>
      <pc:sldChg chg="modSp new mod">
        <pc:chgData name="Jim Zhang" userId="fa6909b4-cf68-47b2-80b2-932828f90439" providerId="ADAL" clId="{FCC9E995-CCC9-508B-82F3-A146A336A0C0}" dt="2026-08-11T12:53:46.015" v="27962" actId="20577"/>
        <pc:sldMkLst>
          <pc:docMk/>
          <pc:sldMk cId="326342265" sldId="372"/>
        </pc:sldMkLst>
        <pc:spChg chg="mod">
          <ac:chgData name="Jim Zhang" userId="fa6909b4-cf68-47b2-80b2-932828f90439" providerId="ADAL" clId="{FCC9E995-CCC9-508B-82F3-A146A336A0C0}" dt="2026-08-11T12:53:46.015" v="27962" actId="20577"/>
          <ac:spMkLst>
            <pc:docMk/>
            <pc:sldMk cId="326342265" sldId="372"/>
            <ac:spMk id="3" creationId="{94B78BF8-300D-AF7D-9620-74D1809EF1E1}"/>
          </ac:spMkLst>
        </pc:spChg>
      </pc:sldChg>
      <pc:sldChg chg="modSp new mod modNotesTx">
        <pc:chgData name="Jim Zhang" userId="fa6909b4-cf68-47b2-80b2-932828f90439" providerId="ADAL" clId="{FCC9E995-CCC9-508B-82F3-A146A336A0C0}" dt="2026-08-10T23:23:16.069" v="27267" actId="20577"/>
        <pc:sldMkLst>
          <pc:docMk/>
          <pc:sldMk cId="3846142056" sldId="376"/>
        </pc:sldMkLst>
        <pc:spChg chg="mod">
          <ac:chgData name="Jim Zhang" userId="fa6909b4-cf68-47b2-80b2-932828f90439" providerId="ADAL" clId="{FCC9E995-CCC9-508B-82F3-A146A336A0C0}" dt="2026-08-10T23:23:16.069" v="27267" actId="20577"/>
          <ac:spMkLst>
            <pc:docMk/>
            <pc:sldMk cId="3846142056" sldId="376"/>
            <ac:spMk id="3" creationId="{5DB94F42-7C18-B0D8-7B17-06E29C7F31DE}"/>
          </ac:spMkLst>
        </pc:spChg>
      </pc:sldChg>
      <pc:sldChg chg="addSp delSp modSp add mod modNotesTx">
        <pc:chgData name="Jim Zhang" userId="fa6909b4-cf68-47b2-80b2-932828f90439" providerId="ADAL" clId="{FCC9E995-CCC9-508B-82F3-A146A336A0C0}" dt="2026-08-10T23:24:24.833" v="27320" actId="22"/>
        <pc:sldMkLst>
          <pc:docMk/>
          <pc:sldMk cId="3319570431" sldId="379"/>
        </pc:sldMkLst>
      </pc:sldChg>
      <pc:sldChg chg="modSp new mod ord">
        <pc:chgData name="Jim Zhang" userId="fa6909b4-cf68-47b2-80b2-932828f90439" providerId="ADAL" clId="{FCC9E995-CCC9-508B-82F3-A146A336A0C0}" dt="2026-08-11T14:44:06.672" v="28338" actId="20577"/>
        <pc:sldMkLst>
          <pc:docMk/>
          <pc:sldMk cId="2762391605" sldId="382"/>
        </pc:sldMkLst>
        <pc:spChg chg="mod">
          <ac:chgData name="Jim Zhang" userId="fa6909b4-cf68-47b2-80b2-932828f90439" providerId="ADAL" clId="{FCC9E995-CCC9-508B-82F3-A146A336A0C0}" dt="2026-08-11T14:44:06.672" v="28338" actId="20577"/>
          <ac:spMkLst>
            <pc:docMk/>
            <pc:sldMk cId="2762391605" sldId="382"/>
            <ac:spMk id="3" creationId="{29A7D56A-DBFA-3F35-7621-74CCED468F32}"/>
          </ac:spMkLst>
        </pc:spChg>
      </pc:sldChg>
      <pc:sldChg chg="modSp new mod">
        <pc:chgData name="Jim Zhang" userId="fa6909b4-cf68-47b2-80b2-932828f90439" providerId="ADAL" clId="{FCC9E995-CCC9-508B-82F3-A146A336A0C0}" dt="2026-08-10T23:23:38.650" v="27291" actId="20577"/>
        <pc:sldMkLst>
          <pc:docMk/>
          <pc:sldMk cId="857521675" sldId="383"/>
        </pc:sldMkLst>
        <pc:spChg chg="mod">
          <ac:chgData name="Jim Zhang" userId="fa6909b4-cf68-47b2-80b2-932828f90439" providerId="ADAL" clId="{FCC9E995-CCC9-508B-82F3-A146A336A0C0}" dt="2026-08-10T23:23:26.982" v="27279" actId="20577"/>
          <ac:spMkLst>
            <pc:docMk/>
            <pc:sldMk cId="857521675" sldId="383"/>
            <ac:spMk id="2" creationId="{A63B1B57-C525-BDE1-F60D-CA6798215AC3}"/>
          </ac:spMkLst>
        </pc:spChg>
        <pc:spChg chg="mod">
          <ac:chgData name="Jim Zhang" userId="fa6909b4-cf68-47b2-80b2-932828f90439" providerId="ADAL" clId="{FCC9E995-CCC9-508B-82F3-A146A336A0C0}" dt="2026-08-10T23:23:38.650" v="27291" actId="20577"/>
          <ac:spMkLst>
            <pc:docMk/>
            <pc:sldMk cId="857521675" sldId="383"/>
            <ac:spMk id="3" creationId="{CB533F5F-5634-A1AD-6145-68ED5058C7D3}"/>
          </ac:spMkLst>
        </pc:spChg>
      </pc:sldChg>
      <pc:sldChg chg="modSp new mod">
        <pc:chgData name="Jim Zhang" userId="fa6909b4-cf68-47b2-80b2-932828f90439" providerId="ADAL" clId="{FCC9E995-CCC9-508B-82F3-A146A336A0C0}" dt="2026-08-10T23:24:17.963" v="27318" actId="20577"/>
        <pc:sldMkLst>
          <pc:docMk/>
          <pc:sldMk cId="1416133110" sldId="384"/>
        </pc:sldMkLst>
        <pc:spChg chg="mod">
          <ac:chgData name="Jim Zhang" userId="fa6909b4-cf68-47b2-80b2-932828f90439" providerId="ADAL" clId="{FCC9E995-CCC9-508B-82F3-A146A336A0C0}" dt="2026-08-10T23:23:33.915" v="27287" actId="20577"/>
          <ac:spMkLst>
            <pc:docMk/>
            <pc:sldMk cId="1416133110" sldId="384"/>
            <ac:spMk id="2" creationId="{B29FFD8D-02CF-BA3B-EA5F-B696B3487017}"/>
          </ac:spMkLst>
        </pc:spChg>
        <pc:spChg chg="mod">
          <ac:chgData name="Jim Zhang" userId="fa6909b4-cf68-47b2-80b2-932828f90439" providerId="ADAL" clId="{FCC9E995-CCC9-508B-82F3-A146A336A0C0}" dt="2026-08-10T23:24:17.963" v="27318" actId="20577"/>
          <ac:spMkLst>
            <pc:docMk/>
            <pc:sldMk cId="1416133110" sldId="384"/>
            <ac:spMk id="3" creationId="{34C55382-5CB7-4526-1F44-882DB7050A5C}"/>
          </ac:spMkLst>
        </pc:spChg>
      </pc:sldChg>
      <pc:sldChg chg="addSp delSp modSp add mod">
        <pc:chgData name="Jim Zhang" userId="fa6909b4-cf68-47b2-80b2-932828f90439" providerId="ADAL" clId="{FCC9E995-CCC9-508B-82F3-A146A336A0C0}" dt="2026-08-10T23:34:27.483" v="27359" actId="478"/>
        <pc:sldMkLst>
          <pc:docMk/>
          <pc:sldMk cId="1271182516" sldId="385"/>
        </pc:sldMkLst>
        <pc:spChg chg="mod">
          <ac:chgData name="Jim Zhang" userId="fa6909b4-cf68-47b2-80b2-932828f90439" providerId="ADAL" clId="{FCC9E995-CCC9-508B-82F3-A146A336A0C0}" dt="2026-08-10T23:23:58.508" v="27312" actId="20577"/>
          <ac:spMkLst>
            <pc:docMk/>
            <pc:sldMk cId="1271182516" sldId="385"/>
            <ac:spMk id="2" creationId="{477B324D-5032-B2E3-E08F-DD53FB72ADC9}"/>
          </ac:spMkLst>
        </pc:spChg>
        <pc:picChg chg="add mod">
          <ac:chgData name="Jim Zhang" userId="fa6909b4-cf68-47b2-80b2-932828f90439" providerId="ADAL" clId="{FCC9E995-CCC9-508B-82F3-A146A336A0C0}" dt="2026-08-10T23:25:35.742" v="27331" actId="1076"/>
          <ac:picMkLst>
            <pc:docMk/>
            <pc:sldMk cId="1271182516" sldId="385"/>
            <ac:picMk id="4" creationId="{0A548FAC-AE08-69E1-3B4B-0FAF6367A211}"/>
          </ac:picMkLst>
        </pc:picChg>
        <pc:picChg chg="add mod">
          <ac:chgData name="Jim Zhang" userId="fa6909b4-cf68-47b2-80b2-932828f90439" providerId="ADAL" clId="{FCC9E995-CCC9-508B-82F3-A146A336A0C0}" dt="2026-08-10T23:26:35.092" v="27350" actId="1076"/>
          <ac:picMkLst>
            <pc:docMk/>
            <pc:sldMk cId="1271182516" sldId="385"/>
            <ac:picMk id="13" creationId="{D46CD072-638C-1B9F-D143-7F4BB51FDBD1}"/>
          </ac:picMkLst>
        </pc:picChg>
        <pc:picChg chg="add mod">
          <ac:chgData name="Jim Zhang" userId="fa6909b4-cf68-47b2-80b2-932828f90439" providerId="ADAL" clId="{FCC9E995-CCC9-508B-82F3-A146A336A0C0}" dt="2026-08-10T23:34:24.043" v="27357" actId="1076"/>
          <ac:picMkLst>
            <pc:docMk/>
            <pc:sldMk cId="1271182516" sldId="385"/>
            <ac:picMk id="15" creationId="{D2B7EF77-F1FB-4253-2DFC-DAABACD288A7}"/>
          </ac:picMkLst>
        </pc:picChg>
        <pc:picChg chg="add mod">
          <ac:chgData name="Jim Zhang" userId="fa6909b4-cf68-47b2-80b2-932828f90439" providerId="ADAL" clId="{FCC9E995-CCC9-508B-82F3-A146A336A0C0}" dt="2026-08-10T23:34:14.030" v="27353" actId="1076"/>
          <ac:picMkLst>
            <pc:docMk/>
            <pc:sldMk cId="1271182516" sldId="385"/>
            <ac:picMk id="17" creationId="{FB24EE42-60D4-8A8A-9EF9-4535D02EBA48}"/>
          </ac:picMkLst>
        </pc:picChg>
      </pc:sldChg>
      <pc:sldChg chg="addSp delSp modSp add mod">
        <pc:chgData name="Jim Zhang" userId="fa6909b4-cf68-47b2-80b2-932828f90439" providerId="ADAL" clId="{FCC9E995-CCC9-508B-82F3-A146A336A0C0}" dt="2026-08-10T23:36:29.379" v="27387" actId="1076"/>
        <pc:sldMkLst>
          <pc:docMk/>
          <pc:sldMk cId="1586769380" sldId="386"/>
        </pc:sldMkLst>
        <pc:spChg chg="mod">
          <ac:chgData name="Jim Zhang" userId="fa6909b4-cf68-47b2-80b2-932828f90439" providerId="ADAL" clId="{FCC9E995-CCC9-508B-82F3-A146A336A0C0}" dt="2026-08-10T23:24:01.373" v="27313"/>
          <ac:spMkLst>
            <pc:docMk/>
            <pc:sldMk cId="1586769380" sldId="386"/>
            <ac:spMk id="2" creationId="{22C07A55-B22C-7F06-7DAC-0AC0E29582C0}"/>
          </ac:spMkLst>
        </pc:spChg>
        <pc:picChg chg="add mod">
          <ac:chgData name="Jim Zhang" userId="fa6909b4-cf68-47b2-80b2-932828f90439" providerId="ADAL" clId="{FCC9E995-CCC9-508B-82F3-A146A336A0C0}" dt="2026-08-10T23:36:29.379" v="27387" actId="1076"/>
          <ac:picMkLst>
            <pc:docMk/>
            <pc:sldMk cId="1586769380" sldId="386"/>
            <ac:picMk id="5" creationId="{52C2727F-347D-BFE0-F838-E5C4507524A1}"/>
          </ac:picMkLst>
        </pc:picChg>
        <pc:picChg chg="add mod">
          <ac:chgData name="Jim Zhang" userId="fa6909b4-cf68-47b2-80b2-932828f90439" providerId="ADAL" clId="{FCC9E995-CCC9-508B-82F3-A146A336A0C0}" dt="2026-08-10T23:36:21.325" v="27383" actId="1076"/>
          <ac:picMkLst>
            <pc:docMk/>
            <pc:sldMk cId="1586769380" sldId="386"/>
            <ac:picMk id="7" creationId="{7BB9994D-5E07-F21B-86AD-D5A694DFFF8F}"/>
          </ac:picMkLst>
        </pc:picChg>
        <pc:picChg chg="add mod">
          <ac:chgData name="Jim Zhang" userId="fa6909b4-cf68-47b2-80b2-932828f90439" providerId="ADAL" clId="{FCC9E995-CCC9-508B-82F3-A146A336A0C0}" dt="2026-08-10T23:35:23.060" v="27373" actId="1076"/>
          <ac:picMkLst>
            <pc:docMk/>
            <pc:sldMk cId="1586769380" sldId="386"/>
            <ac:picMk id="10" creationId="{C185A71E-68AD-2CC9-910D-4AD6D8494A74}"/>
          </ac:picMkLst>
        </pc:picChg>
        <pc:picChg chg="add mod">
          <ac:chgData name="Jim Zhang" userId="fa6909b4-cf68-47b2-80b2-932828f90439" providerId="ADAL" clId="{FCC9E995-CCC9-508B-82F3-A146A336A0C0}" dt="2026-08-10T23:35:54.808" v="27377" actId="1076"/>
          <ac:picMkLst>
            <pc:docMk/>
            <pc:sldMk cId="1586769380" sldId="386"/>
            <ac:picMk id="12" creationId="{E8379477-F54A-D070-A23E-B3879B8AB8F6}"/>
          </ac:picMkLst>
        </pc:picChg>
      </pc:sldChg>
      <pc:sldChg chg="addSp delSp modSp add mod">
        <pc:chgData name="Jim Zhang" userId="fa6909b4-cf68-47b2-80b2-932828f90439" providerId="ADAL" clId="{FCC9E995-CCC9-508B-82F3-A146A336A0C0}" dt="2026-08-10T23:41:37.124" v="27413" actId="1076"/>
        <pc:sldMkLst>
          <pc:docMk/>
          <pc:sldMk cId="2252330202" sldId="387"/>
        </pc:sldMkLst>
        <pc:spChg chg="mod">
          <ac:chgData name="Jim Zhang" userId="fa6909b4-cf68-47b2-80b2-932828f90439" providerId="ADAL" clId="{FCC9E995-CCC9-508B-82F3-A146A336A0C0}" dt="2026-08-10T23:24:03.327" v="27314"/>
          <ac:spMkLst>
            <pc:docMk/>
            <pc:sldMk cId="2252330202" sldId="387"/>
            <ac:spMk id="2" creationId="{9DC7B417-5E13-B6E7-7ADD-8137DE2F254D}"/>
          </ac:spMkLst>
        </pc:spChg>
        <pc:picChg chg="add mod">
          <ac:chgData name="Jim Zhang" userId="fa6909b4-cf68-47b2-80b2-932828f90439" providerId="ADAL" clId="{FCC9E995-CCC9-508B-82F3-A146A336A0C0}" dt="2026-08-10T23:41:23.273" v="27409" actId="1076"/>
          <ac:picMkLst>
            <pc:docMk/>
            <pc:sldMk cId="2252330202" sldId="387"/>
            <ac:picMk id="6" creationId="{1AEF7984-9DC1-1695-DF27-DE7783166D39}"/>
          </ac:picMkLst>
        </pc:picChg>
        <pc:picChg chg="add mod">
          <ac:chgData name="Jim Zhang" userId="fa6909b4-cf68-47b2-80b2-932828f90439" providerId="ADAL" clId="{FCC9E995-CCC9-508B-82F3-A146A336A0C0}" dt="2026-08-10T23:40:56.112" v="27400" actId="1076"/>
          <ac:picMkLst>
            <pc:docMk/>
            <pc:sldMk cId="2252330202" sldId="387"/>
            <ac:picMk id="9" creationId="{8648F271-2B66-44F8-E7B4-38E80857C93C}"/>
          </ac:picMkLst>
        </pc:picChg>
        <pc:picChg chg="add mod">
          <ac:chgData name="Jim Zhang" userId="fa6909b4-cf68-47b2-80b2-932828f90439" providerId="ADAL" clId="{FCC9E995-CCC9-508B-82F3-A146A336A0C0}" dt="2026-08-10T23:41:37.124" v="27413" actId="1076"/>
          <ac:picMkLst>
            <pc:docMk/>
            <pc:sldMk cId="2252330202" sldId="387"/>
            <ac:picMk id="13" creationId="{01FADA42-05DD-21CA-2428-B226F34A038A}"/>
          </ac:picMkLst>
        </pc:picChg>
        <pc:picChg chg="add mod">
          <ac:chgData name="Jim Zhang" userId="fa6909b4-cf68-47b2-80b2-932828f90439" providerId="ADAL" clId="{FCC9E995-CCC9-508B-82F3-A146A336A0C0}" dt="2026-08-10T23:41:03.509" v="27404" actId="1076"/>
          <ac:picMkLst>
            <pc:docMk/>
            <pc:sldMk cId="2252330202" sldId="387"/>
            <ac:picMk id="15" creationId="{500B0624-A502-425B-9422-8B80C0BB8F50}"/>
          </ac:picMkLst>
        </pc:picChg>
      </pc:sldChg>
      <pc:sldChg chg="addSp delSp modSp add mod">
        <pc:chgData name="Jim Zhang" userId="fa6909b4-cf68-47b2-80b2-932828f90439" providerId="ADAL" clId="{FCC9E995-CCC9-508B-82F3-A146A336A0C0}" dt="2026-08-10T23:44:28.038" v="27438" actId="1076"/>
        <pc:sldMkLst>
          <pc:docMk/>
          <pc:sldMk cId="3150000908" sldId="388"/>
        </pc:sldMkLst>
        <pc:spChg chg="mod">
          <ac:chgData name="Jim Zhang" userId="fa6909b4-cf68-47b2-80b2-932828f90439" providerId="ADAL" clId="{FCC9E995-CCC9-508B-82F3-A146A336A0C0}" dt="2026-08-10T23:24:05.789" v="27315"/>
          <ac:spMkLst>
            <pc:docMk/>
            <pc:sldMk cId="3150000908" sldId="388"/>
            <ac:spMk id="2" creationId="{2F030A2C-4187-19A7-7673-B89E81262D69}"/>
          </ac:spMkLst>
        </pc:spChg>
        <pc:picChg chg="add mod">
          <ac:chgData name="Jim Zhang" userId="fa6909b4-cf68-47b2-80b2-932828f90439" providerId="ADAL" clId="{FCC9E995-CCC9-508B-82F3-A146A336A0C0}" dt="2026-08-10T23:44:28.038" v="27438" actId="1076"/>
          <ac:picMkLst>
            <pc:docMk/>
            <pc:sldMk cId="3150000908" sldId="388"/>
            <ac:picMk id="4" creationId="{844ED065-D576-22F0-280A-95F2666107D9}"/>
          </ac:picMkLst>
        </pc:picChg>
        <pc:picChg chg="add mod">
          <ac:chgData name="Jim Zhang" userId="fa6909b4-cf68-47b2-80b2-932828f90439" providerId="ADAL" clId="{FCC9E995-CCC9-508B-82F3-A146A336A0C0}" dt="2026-08-10T23:43:53.567" v="27426" actId="1076"/>
          <ac:picMkLst>
            <pc:docMk/>
            <pc:sldMk cId="3150000908" sldId="388"/>
            <ac:picMk id="8" creationId="{5CE32001-A0D0-3F1D-F071-A3C93437AC95}"/>
          </ac:picMkLst>
        </pc:picChg>
        <pc:picChg chg="add mod">
          <ac:chgData name="Jim Zhang" userId="fa6909b4-cf68-47b2-80b2-932828f90439" providerId="ADAL" clId="{FCC9E995-CCC9-508B-82F3-A146A336A0C0}" dt="2026-08-10T23:44:12.520" v="27434" actId="1076"/>
          <ac:picMkLst>
            <pc:docMk/>
            <pc:sldMk cId="3150000908" sldId="388"/>
            <ac:picMk id="11" creationId="{27ED4B93-5260-8BC5-E87C-948E3354FD6A}"/>
          </ac:picMkLst>
        </pc:picChg>
        <pc:picChg chg="add mod">
          <ac:chgData name="Jim Zhang" userId="fa6909b4-cf68-47b2-80b2-932828f90439" providerId="ADAL" clId="{FCC9E995-CCC9-508B-82F3-A146A336A0C0}" dt="2026-08-10T23:44:00.702" v="27430" actId="1076"/>
          <ac:picMkLst>
            <pc:docMk/>
            <pc:sldMk cId="3150000908" sldId="388"/>
            <ac:picMk id="13" creationId="{3E090539-04B0-6EAB-0EEC-0FCC625D94EA}"/>
          </ac:picMkLst>
        </pc:picChg>
      </pc:sldChg>
      <pc:sldChg chg="modSp add mod">
        <pc:chgData name="Jim Zhang" userId="fa6909b4-cf68-47b2-80b2-932828f90439" providerId="ADAL" clId="{FCC9E995-CCC9-508B-82F3-A146A336A0C0}" dt="2026-08-10T23:24:28.450" v="27323" actId="20577"/>
        <pc:sldMkLst>
          <pc:docMk/>
          <pc:sldMk cId="81145104" sldId="389"/>
        </pc:sldMkLst>
        <pc:spChg chg="mod">
          <ac:chgData name="Jim Zhang" userId="fa6909b4-cf68-47b2-80b2-932828f90439" providerId="ADAL" clId="{FCC9E995-CCC9-508B-82F3-A146A336A0C0}" dt="2026-08-10T23:24:28.450" v="27323" actId="20577"/>
          <ac:spMkLst>
            <pc:docMk/>
            <pc:sldMk cId="81145104" sldId="389"/>
            <ac:spMk id="3" creationId="{7DB238E5-D92A-FAA4-F607-39EE5F85CCD2}"/>
          </ac:spMkLst>
        </pc:spChg>
      </pc:sldChg>
      <pc:sldChg chg="add">
        <pc:chgData name="Jim Zhang" userId="fa6909b4-cf68-47b2-80b2-932828f90439" providerId="ADAL" clId="{FCC9E995-CCC9-508B-82F3-A146A336A0C0}" dt="2026-08-11T15:08:03.902" v="28566"/>
        <pc:sldMkLst>
          <pc:docMk/>
          <pc:sldMk cId="2139132654" sldId="390"/>
        </pc:sldMkLst>
      </pc:sldChg>
      <pc:sldChg chg="add">
        <pc:chgData name="Jim Zhang" userId="fa6909b4-cf68-47b2-80b2-932828f90439" providerId="ADAL" clId="{FCC9E995-CCC9-508B-82F3-A146A336A0C0}" dt="2026-08-11T15:08:03.902" v="28566"/>
        <pc:sldMkLst>
          <pc:docMk/>
          <pc:sldMk cId="2954027469" sldId="392"/>
        </pc:sldMkLst>
      </pc:sldChg>
      <pc:sldChg chg="add">
        <pc:chgData name="Jim Zhang" userId="fa6909b4-cf68-47b2-80b2-932828f90439" providerId="ADAL" clId="{FCC9E995-CCC9-508B-82F3-A146A336A0C0}" dt="2026-08-11T15:08:03.902" v="28566"/>
        <pc:sldMkLst>
          <pc:docMk/>
          <pc:sldMk cId="4114852412" sldId="393"/>
        </pc:sldMkLst>
      </pc:sldChg>
      <pc:sldChg chg="add">
        <pc:chgData name="Jim Zhang" userId="fa6909b4-cf68-47b2-80b2-932828f90439" providerId="ADAL" clId="{FCC9E995-CCC9-508B-82F3-A146A336A0C0}" dt="2026-08-11T15:08:03.902" v="28566"/>
        <pc:sldMkLst>
          <pc:docMk/>
          <pc:sldMk cId="3300771516" sldId="394"/>
        </pc:sldMkLst>
      </pc:sldChg>
      <pc:sldChg chg="add">
        <pc:chgData name="Jim Zhang" userId="fa6909b4-cf68-47b2-80b2-932828f90439" providerId="ADAL" clId="{FCC9E995-CCC9-508B-82F3-A146A336A0C0}" dt="2026-08-11T15:08:03.902" v="28566"/>
        <pc:sldMkLst>
          <pc:docMk/>
          <pc:sldMk cId="90817903" sldId="395"/>
        </pc:sldMkLst>
      </pc:sldChg>
      <pc:sldChg chg="add">
        <pc:chgData name="Jim Zhang" userId="fa6909b4-cf68-47b2-80b2-932828f90439" providerId="ADAL" clId="{FCC9E995-CCC9-508B-82F3-A146A336A0C0}" dt="2026-08-11T15:08:03.902" v="28566"/>
        <pc:sldMkLst>
          <pc:docMk/>
          <pc:sldMk cId="1832664826" sldId="396"/>
        </pc:sldMkLst>
      </pc:sldChg>
      <pc:sldChg chg="addSp delSp modSp add mod">
        <pc:chgData name="Jim Zhang" userId="fa6909b4-cf68-47b2-80b2-932828f90439" providerId="ADAL" clId="{FCC9E995-CCC9-508B-82F3-A146A336A0C0}" dt="2026-08-11T00:16:16.902" v="27638" actId="1076"/>
        <pc:sldMkLst>
          <pc:docMk/>
          <pc:sldMk cId="3670690291" sldId="397"/>
        </pc:sldMkLst>
        <pc:picChg chg="add mod">
          <ac:chgData name="Jim Zhang" userId="fa6909b4-cf68-47b2-80b2-932828f90439" providerId="ADAL" clId="{FCC9E995-CCC9-508B-82F3-A146A336A0C0}" dt="2026-08-11T00:15:43.169" v="27628" actId="1076"/>
          <ac:picMkLst>
            <pc:docMk/>
            <pc:sldMk cId="3670690291" sldId="397"/>
            <ac:picMk id="5" creationId="{3C234EF8-E2A3-A9CC-72DD-130CDB765568}"/>
          </ac:picMkLst>
        </pc:picChg>
        <pc:picChg chg="add mod">
          <ac:chgData name="Jim Zhang" userId="fa6909b4-cf68-47b2-80b2-932828f90439" providerId="ADAL" clId="{FCC9E995-CCC9-508B-82F3-A146A336A0C0}" dt="2026-08-11T00:15:30.820" v="27623" actId="1076"/>
          <ac:picMkLst>
            <pc:docMk/>
            <pc:sldMk cId="3670690291" sldId="397"/>
            <ac:picMk id="7" creationId="{AA987EC7-F769-0AA4-9884-4E2FBB870D91}"/>
          </ac:picMkLst>
        </pc:picChg>
        <pc:picChg chg="add mod">
          <ac:chgData name="Jim Zhang" userId="fa6909b4-cf68-47b2-80b2-932828f90439" providerId="ADAL" clId="{FCC9E995-CCC9-508B-82F3-A146A336A0C0}" dt="2026-08-11T00:16:00.570" v="27633" actId="1076"/>
          <ac:picMkLst>
            <pc:docMk/>
            <pc:sldMk cId="3670690291" sldId="397"/>
            <ac:picMk id="9" creationId="{89171866-0BA8-074F-870E-A461A54B1103}"/>
          </ac:picMkLst>
        </pc:picChg>
        <pc:picChg chg="add mod">
          <ac:chgData name="Jim Zhang" userId="fa6909b4-cf68-47b2-80b2-932828f90439" providerId="ADAL" clId="{FCC9E995-CCC9-508B-82F3-A146A336A0C0}" dt="2026-08-11T00:16:16.902" v="27638" actId="1076"/>
          <ac:picMkLst>
            <pc:docMk/>
            <pc:sldMk cId="3670690291" sldId="397"/>
            <ac:picMk id="11" creationId="{4451F418-B199-3DAA-B752-84296B7E4BF0}"/>
          </ac:picMkLst>
        </pc:picChg>
      </pc:sldChg>
      <pc:sldChg chg="addSp delSp modSp add mod">
        <pc:chgData name="Jim Zhang" userId="fa6909b4-cf68-47b2-80b2-932828f90439" providerId="ADAL" clId="{FCC9E995-CCC9-508B-82F3-A146A336A0C0}" dt="2026-08-11T00:19:51.103" v="27673" actId="1076"/>
        <pc:sldMkLst>
          <pc:docMk/>
          <pc:sldMk cId="48949751" sldId="398"/>
        </pc:sldMkLst>
        <pc:picChg chg="add mod">
          <ac:chgData name="Jim Zhang" userId="fa6909b4-cf68-47b2-80b2-932828f90439" providerId="ADAL" clId="{FCC9E995-CCC9-508B-82F3-A146A336A0C0}" dt="2026-08-11T00:19:01.436" v="27658" actId="1076"/>
          <ac:picMkLst>
            <pc:docMk/>
            <pc:sldMk cId="48949751" sldId="398"/>
            <ac:picMk id="4" creationId="{8840D9C0-A1F6-212C-80C1-A1BD00EC0E33}"/>
          </ac:picMkLst>
        </pc:picChg>
        <pc:picChg chg="add mod">
          <ac:chgData name="Jim Zhang" userId="fa6909b4-cf68-47b2-80b2-932828f90439" providerId="ADAL" clId="{FCC9E995-CCC9-508B-82F3-A146A336A0C0}" dt="2026-08-11T00:19:36.436" v="27669" actId="1076"/>
          <ac:picMkLst>
            <pc:docMk/>
            <pc:sldMk cId="48949751" sldId="398"/>
            <ac:picMk id="8" creationId="{EEE4C49B-BC70-38BB-176D-FCBCB59557C7}"/>
          </ac:picMkLst>
        </pc:picChg>
        <pc:picChg chg="add mod">
          <ac:chgData name="Jim Zhang" userId="fa6909b4-cf68-47b2-80b2-932828f90439" providerId="ADAL" clId="{FCC9E995-CCC9-508B-82F3-A146A336A0C0}" dt="2026-08-11T00:19:51.103" v="27673" actId="1076"/>
          <ac:picMkLst>
            <pc:docMk/>
            <pc:sldMk cId="48949751" sldId="398"/>
            <ac:picMk id="11" creationId="{D73F1D54-9035-9C66-1D9A-C8270664DEDB}"/>
          </ac:picMkLst>
        </pc:picChg>
        <pc:picChg chg="add mod">
          <ac:chgData name="Jim Zhang" userId="fa6909b4-cf68-47b2-80b2-932828f90439" providerId="ADAL" clId="{FCC9E995-CCC9-508B-82F3-A146A336A0C0}" dt="2026-08-11T00:19:13.103" v="27662" actId="1076"/>
          <ac:picMkLst>
            <pc:docMk/>
            <pc:sldMk cId="48949751" sldId="398"/>
            <ac:picMk id="14" creationId="{FB7A6080-8BA2-A6A0-40A5-4BFF2A8B6236}"/>
          </ac:picMkLst>
        </pc:picChg>
      </pc:sldChg>
      <pc:sldChg chg="addSp delSp modSp add mod">
        <pc:chgData name="Jim Zhang" userId="fa6909b4-cf68-47b2-80b2-932828f90439" providerId="ADAL" clId="{FCC9E995-CCC9-508B-82F3-A146A336A0C0}" dt="2026-08-11T00:21:20.869" v="27703" actId="1076"/>
        <pc:sldMkLst>
          <pc:docMk/>
          <pc:sldMk cId="2117349264" sldId="399"/>
        </pc:sldMkLst>
        <pc:picChg chg="add mod">
          <ac:chgData name="Jim Zhang" userId="fa6909b4-cf68-47b2-80b2-932828f90439" providerId="ADAL" clId="{FCC9E995-CCC9-508B-82F3-A146A336A0C0}" dt="2026-08-11T00:20:55.800" v="27694" actId="1076"/>
          <ac:picMkLst>
            <pc:docMk/>
            <pc:sldMk cId="2117349264" sldId="399"/>
            <ac:picMk id="4" creationId="{818C450D-F9DB-6F57-27DC-35DDD5211C65}"/>
          </ac:picMkLst>
        </pc:picChg>
        <pc:picChg chg="add mod">
          <ac:chgData name="Jim Zhang" userId="fa6909b4-cf68-47b2-80b2-932828f90439" providerId="ADAL" clId="{FCC9E995-CCC9-508B-82F3-A146A336A0C0}" dt="2026-08-11T00:20:44.336" v="27690" actId="1076"/>
          <ac:picMkLst>
            <pc:docMk/>
            <pc:sldMk cId="2117349264" sldId="399"/>
            <ac:picMk id="8" creationId="{387BF326-2341-8E73-9303-AA17FB03388B}"/>
          </ac:picMkLst>
        </pc:picChg>
        <pc:picChg chg="add mod">
          <ac:chgData name="Jim Zhang" userId="fa6909b4-cf68-47b2-80b2-932828f90439" providerId="ADAL" clId="{FCC9E995-CCC9-508B-82F3-A146A336A0C0}" dt="2026-08-11T00:21:20.869" v="27703" actId="1076"/>
          <ac:picMkLst>
            <pc:docMk/>
            <pc:sldMk cId="2117349264" sldId="399"/>
            <ac:picMk id="11" creationId="{5F6F2A26-3956-8149-8A84-DB59E1605A0F}"/>
          </ac:picMkLst>
        </pc:picChg>
        <pc:picChg chg="add mod">
          <ac:chgData name="Jim Zhang" userId="fa6909b4-cf68-47b2-80b2-932828f90439" providerId="ADAL" clId="{FCC9E995-CCC9-508B-82F3-A146A336A0C0}" dt="2026-08-11T00:21:07.719" v="27698" actId="1076"/>
          <ac:picMkLst>
            <pc:docMk/>
            <pc:sldMk cId="2117349264" sldId="399"/>
            <ac:picMk id="14" creationId="{498D09AC-9660-5022-EFCB-74DA05408988}"/>
          </ac:picMkLst>
        </pc:picChg>
      </pc:sldChg>
      <pc:sldChg chg="addSp delSp modSp add mod">
        <pc:chgData name="Jim Zhang" userId="fa6909b4-cf68-47b2-80b2-932828f90439" providerId="ADAL" clId="{FCC9E995-CCC9-508B-82F3-A146A336A0C0}" dt="2026-08-11T00:23:50.637" v="27730" actId="1076"/>
        <pc:sldMkLst>
          <pc:docMk/>
          <pc:sldMk cId="1154503804" sldId="400"/>
        </pc:sldMkLst>
        <pc:picChg chg="add mod">
          <ac:chgData name="Jim Zhang" userId="fa6909b4-cf68-47b2-80b2-932828f90439" providerId="ADAL" clId="{FCC9E995-CCC9-508B-82F3-A146A336A0C0}" dt="2026-08-11T00:23:50.637" v="27730" actId="1076"/>
          <ac:picMkLst>
            <pc:docMk/>
            <pc:sldMk cId="1154503804" sldId="400"/>
            <ac:picMk id="5" creationId="{CB70A080-9F07-AD1E-CE00-410962C39D0E}"/>
          </ac:picMkLst>
        </pc:picChg>
        <pc:picChg chg="add mod">
          <ac:chgData name="Jim Zhang" userId="fa6909b4-cf68-47b2-80b2-932828f90439" providerId="ADAL" clId="{FCC9E995-CCC9-508B-82F3-A146A336A0C0}" dt="2026-08-11T00:23:03.425" v="27716" actId="1076"/>
          <ac:picMkLst>
            <pc:docMk/>
            <pc:sldMk cId="1154503804" sldId="400"/>
            <ac:picMk id="7" creationId="{43D0F257-C44E-766D-D075-F4BCC9E0EE88}"/>
          </ac:picMkLst>
        </pc:picChg>
        <pc:picChg chg="add mod">
          <ac:chgData name="Jim Zhang" userId="fa6909b4-cf68-47b2-80b2-932828f90439" providerId="ADAL" clId="{FCC9E995-CCC9-508B-82F3-A146A336A0C0}" dt="2026-08-11T00:23:31.853" v="27725" actId="1076"/>
          <ac:picMkLst>
            <pc:docMk/>
            <pc:sldMk cId="1154503804" sldId="400"/>
            <ac:picMk id="10" creationId="{5BD4A25D-DBB2-7F5B-557C-E98F5C59CF6D}"/>
          </ac:picMkLst>
        </pc:picChg>
      </pc:sldChg>
      <pc:sldChg chg="modSp add mod">
        <pc:chgData name="Jim Zhang" userId="fa6909b4-cf68-47b2-80b2-932828f90439" providerId="ADAL" clId="{FCC9E995-CCC9-508B-82F3-A146A336A0C0}" dt="2026-08-11T12:51:12.608" v="27861" actId="20577"/>
        <pc:sldMkLst>
          <pc:docMk/>
          <pc:sldMk cId="130737208" sldId="402"/>
        </pc:sldMkLst>
        <pc:spChg chg="mod">
          <ac:chgData name="Jim Zhang" userId="fa6909b4-cf68-47b2-80b2-932828f90439" providerId="ADAL" clId="{FCC9E995-CCC9-508B-82F3-A146A336A0C0}" dt="2026-08-11T12:51:12.608" v="27861" actId="20577"/>
          <ac:spMkLst>
            <pc:docMk/>
            <pc:sldMk cId="130737208" sldId="402"/>
            <ac:spMk id="3" creationId="{10C5B510-2C4A-DFA2-D850-82A16BD01E1E}"/>
          </ac:spMkLst>
        </pc:spChg>
      </pc:sldChg>
      <pc:sldChg chg="addSp delSp modSp add mod">
        <pc:chgData name="Jim Zhang" userId="fa6909b4-cf68-47b2-80b2-932828f90439" providerId="ADAL" clId="{FCC9E995-CCC9-508B-82F3-A146A336A0C0}" dt="2026-08-11T14:33:10.241" v="28252" actId="1076"/>
        <pc:sldMkLst>
          <pc:docMk/>
          <pc:sldMk cId="1145622672" sldId="404"/>
        </pc:sldMkLst>
        <pc:picChg chg="add mod">
          <ac:chgData name="Jim Zhang" userId="fa6909b4-cf68-47b2-80b2-932828f90439" providerId="ADAL" clId="{FCC9E995-CCC9-508B-82F3-A146A336A0C0}" dt="2026-08-11T14:33:10.241" v="28252" actId="1076"/>
          <ac:picMkLst>
            <pc:docMk/>
            <pc:sldMk cId="1145622672" sldId="404"/>
            <ac:picMk id="3" creationId="{E47BCAA1-0DCA-8BCA-4216-CA077126A6CB}"/>
          </ac:picMkLst>
        </pc:picChg>
      </pc:sldChg>
      <pc:sldChg chg="addSp delSp modSp add mod">
        <pc:chgData name="Jim Zhang" userId="fa6909b4-cf68-47b2-80b2-932828f90439" providerId="ADAL" clId="{FCC9E995-CCC9-508B-82F3-A146A336A0C0}" dt="2026-08-11T14:30:10.743" v="28226" actId="20577"/>
        <pc:sldMkLst>
          <pc:docMk/>
          <pc:sldMk cId="1970484727" sldId="405"/>
        </pc:sldMkLst>
        <pc:spChg chg="mod">
          <ac:chgData name="Jim Zhang" userId="fa6909b4-cf68-47b2-80b2-932828f90439" providerId="ADAL" clId="{FCC9E995-CCC9-508B-82F3-A146A336A0C0}" dt="2026-08-11T14:30:10.743" v="28226" actId="20577"/>
          <ac:spMkLst>
            <pc:docMk/>
            <pc:sldMk cId="1970484727" sldId="405"/>
            <ac:spMk id="7" creationId="{D4FAB874-8271-34DC-225F-7DEDCC4BAA61}"/>
          </ac:spMkLst>
        </pc:spChg>
        <pc:picChg chg="add mod">
          <ac:chgData name="Jim Zhang" userId="fa6909b4-cf68-47b2-80b2-932828f90439" providerId="ADAL" clId="{FCC9E995-CCC9-508B-82F3-A146A336A0C0}" dt="2026-08-11T14:29:56.460" v="28224" actId="1076"/>
          <ac:picMkLst>
            <pc:docMk/>
            <pc:sldMk cId="1970484727" sldId="405"/>
            <ac:picMk id="4" creationId="{66B8DA91-1A60-35CB-270D-AB9BF00DACB5}"/>
          </ac:picMkLst>
        </pc:picChg>
        <pc:picChg chg="add mod">
          <ac:chgData name="Jim Zhang" userId="fa6909b4-cf68-47b2-80b2-932828f90439" providerId="ADAL" clId="{FCC9E995-CCC9-508B-82F3-A146A336A0C0}" dt="2026-08-11T14:29:54.478" v="28223" actId="1076"/>
          <ac:picMkLst>
            <pc:docMk/>
            <pc:sldMk cId="1970484727" sldId="405"/>
            <ac:picMk id="9" creationId="{25F74F7C-5AD1-3EDC-83D4-0D472A14778A}"/>
          </ac:picMkLst>
        </pc:picChg>
      </pc:sldChg>
      <pc:sldChg chg="addSp delSp modSp add mod">
        <pc:chgData name="Jim Zhang" userId="fa6909b4-cf68-47b2-80b2-932828f90439" providerId="ADAL" clId="{FCC9E995-CCC9-508B-82F3-A146A336A0C0}" dt="2026-08-11T14:59:45.280" v="28345" actId="1076"/>
        <pc:sldMkLst>
          <pc:docMk/>
          <pc:sldMk cId="2769544740" sldId="406"/>
        </pc:sldMkLst>
        <pc:picChg chg="add mod">
          <ac:chgData name="Jim Zhang" userId="fa6909b4-cf68-47b2-80b2-932828f90439" providerId="ADAL" clId="{FCC9E995-CCC9-508B-82F3-A146A336A0C0}" dt="2026-08-11T14:30:47.961" v="28243" actId="1076"/>
          <ac:picMkLst>
            <pc:docMk/>
            <pc:sldMk cId="2769544740" sldId="406"/>
            <ac:picMk id="3" creationId="{CB149CE0-2621-124A-62C4-4E3492D602B9}"/>
          </ac:picMkLst>
        </pc:picChg>
        <pc:picChg chg="add mod">
          <ac:chgData name="Jim Zhang" userId="fa6909b4-cf68-47b2-80b2-932828f90439" providerId="ADAL" clId="{FCC9E995-CCC9-508B-82F3-A146A336A0C0}" dt="2026-08-11T14:30:33.778" v="28239" actId="1076"/>
          <ac:picMkLst>
            <pc:docMk/>
            <pc:sldMk cId="2769544740" sldId="406"/>
            <ac:picMk id="5" creationId="{344281DC-C337-9AC1-1B39-96E97B262FC9}"/>
          </ac:picMkLst>
        </pc:picChg>
        <pc:picChg chg="add mod">
          <ac:chgData name="Jim Zhang" userId="fa6909b4-cf68-47b2-80b2-932828f90439" providerId="ADAL" clId="{FCC9E995-CCC9-508B-82F3-A146A336A0C0}" dt="2026-08-11T14:59:45.280" v="28345" actId="1076"/>
          <ac:picMkLst>
            <pc:docMk/>
            <pc:sldMk cId="2769544740" sldId="406"/>
            <ac:picMk id="12" creationId="{30EDFBF1-729A-64B6-D480-0FD60F9EE052}"/>
          </ac:picMkLst>
        </pc:picChg>
      </pc:sldChg>
      <pc:sldChg chg="modSp new mod">
        <pc:chgData name="Jim Zhang" userId="fa6909b4-cf68-47b2-80b2-932828f90439" providerId="ADAL" clId="{FCC9E995-CCC9-508B-82F3-A146A336A0C0}" dt="2026-08-11T12:51:49.878" v="27937" actId="20577"/>
        <pc:sldMkLst>
          <pc:docMk/>
          <pc:sldMk cId="2194984560" sldId="407"/>
        </pc:sldMkLst>
        <pc:spChg chg="mod">
          <ac:chgData name="Jim Zhang" userId="fa6909b4-cf68-47b2-80b2-932828f90439" providerId="ADAL" clId="{FCC9E995-CCC9-508B-82F3-A146A336A0C0}" dt="2026-08-11T12:51:42.620" v="27897" actId="20577"/>
          <ac:spMkLst>
            <pc:docMk/>
            <pc:sldMk cId="2194984560" sldId="407"/>
            <ac:spMk id="2" creationId="{20A41A48-9957-8662-7827-27030086289C}"/>
          </ac:spMkLst>
        </pc:spChg>
        <pc:spChg chg="mod">
          <ac:chgData name="Jim Zhang" userId="fa6909b4-cf68-47b2-80b2-932828f90439" providerId="ADAL" clId="{FCC9E995-CCC9-508B-82F3-A146A336A0C0}" dt="2026-08-11T12:51:49.878" v="27937" actId="20577"/>
          <ac:spMkLst>
            <pc:docMk/>
            <pc:sldMk cId="2194984560" sldId="407"/>
            <ac:spMk id="3" creationId="{DC668BE9-C32B-9D17-17F9-2F6B622C29BD}"/>
          </ac:spMkLst>
        </pc:spChg>
      </pc:sldChg>
      <pc:sldChg chg="modSp new mod">
        <pc:chgData name="Jim Zhang" userId="fa6909b4-cf68-47b2-80b2-932828f90439" providerId="ADAL" clId="{FCC9E995-CCC9-508B-82F3-A146A336A0C0}" dt="2026-08-11T15:10:03.134" v="28695" actId="20577"/>
        <pc:sldMkLst>
          <pc:docMk/>
          <pc:sldMk cId="952880035" sldId="409"/>
        </pc:sldMkLst>
        <pc:spChg chg="mod">
          <ac:chgData name="Jim Zhang" userId="fa6909b4-cf68-47b2-80b2-932828f90439" providerId="ADAL" clId="{FCC9E995-CCC9-508B-82F3-A146A336A0C0}" dt="2026-08-11T15:06:01.411" v="28424" actId="20577"/>
          <ac:spMkLst>
            <pc:docMk/>
            <pc:sldMk cId="952880035" sldId="409"/>
            <ac:spMk id="2" creationId="{DED11083-9A0B-9896-BDA1-561475163973}"/>
          </ac:spMkLst>
        </pc:spChg>
        <pc:spChg chg="mod">
          <ac:chgData name="Jim Zhang" userId="fa6909b4-cf68-47b2-80b2-932828f90439" providerId="ADAL" clId="{FCC9E995-CCC9-508B-82F3-A146A336A0C0}" dt="2026-08-11T15:10:03.134" v="28695" actId="20577"/>
          <ac:spMkLst>
            <pc:docMk/>
            <pc:sldMk cId="952880035" sldId="409"/>
            <ac:spMk id="3" creationId="{1D36C3C4-6774-A164-949E-9DEC6EAA199D}"/>
          </ac:spMkLst>
        </pc:spChg>
      </pc:sldChg>
      <pc:sldChg chg="addSp modSp add mod">
        <pc:chgData name="Jim Zhang" userId="fa6909b4-cf68-47b2-80b2-932828f90439" providerId="ADAL" clId="{FCC9E995-CCC9-508B-82F3-A146A336A0C0}" dt="2026-08-11T15:11:42.129" v="28795" actId="20577"/>
        <pc:sldMkLst>
          <pc:docMk/>
          <pc:sldMk cId="2099752547" sldId="411"/>
        </pc:sldMkLst>
        <pc:spChg chg="add mod">
          <ac:chgData name="Jim Zhang" userId="fa6909b4-cf68-47b2-80b2-932828f90439" providerId="ADAL" clId="{FCC9E995-CCC9-508B-82F3-A146A336A0C0}" dt="2026-08-11T15:11:42.129" v="28795" actId="20577"/>
          <ac:spMkLst>
            <pc:docMk/>
            <pc:sldMk cId="2099752547" sldId="411"/>
            <ac:spMk id="3" creationId="{FC4AEEF4-AC92-96B6-86D1-EB39B2AC16A4}"/>
          </ac:spMkLst>
        </pc:spChg>
      </pc:sldChg>
      <pc:sldChg chg="addSp delSp modSp new mod">
        <pc:chgData name="Jim Zhang" userId="fa6909b4-cf68-47b2-80b2-932828f90439" providerId="ADAL" clId="{FCC9E995-CCC9-508B-82F3-A146A336A0C0}" dt="2026-08-11T16:03:48.263" v="28970" actId="20577"/>
        <pc:sldMkLst>
          <pc:docMk/>
          <pc:sldMk cId="4202819" sldId="412"/>
        </pc:sldMkLst>
        <pc:spChg chg="mod">
          <ac:chgData name="Jim Zhang" userId="fa6909b4-cf68-47b2-80b2-932828f90439" providerId="ADAL" clId="{FCC9E995-CCC9-508B-82F3-A146A336A0C0}" dt="2026-08-11T15:35:20.288" v="28887" actId="20577"/>
          <ac:spMkLst>
            <pc:docMk/>
            <pc:sldMk cId="4202819" sldId="412"/>
            <ac:spMk id="2" creationId="{497DD59B-E299-DAB6-3C28-F74E7F3595FE}"/>
          </ac:spMkLst>
        </pc:spChg>
        <pc:spChg chg="add mod">
          <ac:chgData name="Jim Zhang" userId="fa6909b4-cf68-47b2-80b2-932828f90439" providerId="ADAL" clId="{FCC9E995-CCC9-508B-82F3-A146A336A0C0}" dt="2026-08-11T16:03:48.263" v="28970" actId="20577"/>
          <ac:spMkLst>
            <pc:docMk/>
            <pc:sldMk cId="4202819" sldId="412"/>
            <ac:spMk id="10" creationId="{1866C029-5E24-3FC2-8E05-D02A19F0D6A7}"/>
          </ac:spMkLst>
        </pc:spChg>
        <pc:picChg chg="add mod">
          <ac:chgData name="Jim Zhang" userId="fa6909b4-cf68-47b2-80b2-932828f90439" providerId="ADAL" clId="{FCC9E995-CCC9-508B-82F3-A146A336A0C0}" dt="2026-08-11T15:46:09.658" v="28894" actId="1076"/>
          <ac:picMkLst>
            <pc:docMk/>
            <pc:sldMk cId="4202819" sldId="412"/>
            <ac:picMk id="7" creationId="{EB265D18-18D3-B9C2-F3E8-2DDAB00FBE64}"/>
          </ac:picMkLst>
        </pc:picChg>
      </pc:sldChg>
    </pc:docChg>
  </pc:docChgLst>
</pc:chgInfo>
</file>

<file path=ppt/comments/modernComment_133_A8D69841.xml><?xml version="1.0" encoding="utf-8"?>
<p188:cmLst xmlns:a="http://schemas.openxmlformats.org/drawingml/2006/main" xmlns:r="http://schemas.openxmlformats.org/officeDocument/2006/relationships" xmlns:p188="http://schemas.microsoft.com/office/powerpoint/2018/8/main">
  <p188:cm id="{570AA8F0-B0B1-784C-B901-9A7B056FBBF5}" authorId="{70B610FD-72E4-67EA-2503-7D0189F74843}" created="2026-07-02T14:30:27.815">
    <pc:sldMkLst xmlns:pc="http://schemas.microsoft.com/office/powerpoint/2013/main/command">
      <pc:docMk/>
      <pc:sldMk cId="2832635969" sldId="307"/>
    </pc:sldMkLst>
    <p188:txBody>
      <a:bodyPr/>
      <a:lstStyle/>
      <a:p>
        <a:r>
          <a:rPr lang="en-US"/>
          <a:t>update with map plots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9F88D2-BBD9-DD43-8AE8-9FFF0BFA0C5D}" type="datetimeFigureOut">
              <a:rPr lang="en-US" smtClean="0"/>
              <a:t>9/5/26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90CC02-9A9E-8749-B188-DF0238720493}" type="slidenum">
              <a:rPr lang="en-US" smtClean="0"/>
              <a:t>‹#›</a:t>
            </a:fld>
            <a:endParaRPr lang="en-US"/>
          </a:p>
        </p:txBody>
      </p:sp>
    </p:spTree>
    <p:extLst>
      <p:ext uri="{BB962C8B-B14F-4D97-AF65-F5344CB8AC3E}">
        <p14:creationId xmlns:p14="http://schemas.microsoft.com/office/powerpoint/2010/main" val="1451702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90CC02-9A9E-8749-B188-DF0238720493}" type="slidenum">
              <a:rPr lang="en-US" smtClean="0"/>
              <a:t>1</a:t>
            </a:fld>
            <a:endParaRPr lang="en-US"/>
          </a:p>
        </p:txBody>
      </p:sp>
    </p:spTree>
    <p:extLst>
      <p:ext uri="{BB962C8B-B14F-4D97-AF65-F5344CB8AC3E}">
        <p14:creationId xmlns:p14="http://schemas.microsoft.com/office/powerpoint/2010/main" val="33470901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Pretty similar – bit more for controls in </a:t>
            </a:r>
            <a:r>
              <a:rPr lang="en-US" dirty="0" err="1"/>
              <a:t>modis</a:t>
            </a:r>
            <a:endParaRPr lang="en-US" dirty="0"/>
          </a:p>
        </p:txBody>
      </p:sp>
      <p:sp>
        <p:nvSpPr>
          <p:cNvPr id="4" name="Slide Number Placeholder 3"/>
          <p:cNvSpPr>
            <a:spLocks noGrp="1"/>
          </p:cNvSpPr>
          <p:nvPr>
            <p:ph type="sldNum" sz="quarter" idx="5"/>
          </p:nvPr>
        </p:nvSpPr>
        <p:spPr/>
        <p:txBody>
          <a:bodyPr/>
          <a:lstStyle/>
          <a:p>
            <a:fld id="{1F90CC02-9A9E-8749-B188-DF0238720493}" type="slidenum">
              <a:rPr lang="en-US" smtClean="0"/>
              <a:t>3</a:t>
            </a:fld>
            <a:endParaRPr lang="en-US"/>
          </a:p>
        </p:txBody>
      </p:sp>
    </p:spTree>
    <p:extLst>
      <p:ext uri="{BB962C8B-B14F-4D97-AF65-F5344CB8AC3E}">
        <p14:creationId xmlns:p14="http://schemas.microsoft.com/office/powerpoint/2010/main" val="21382172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BA31A-F758-0D0D-7A37-CD36CC292A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0ABBF9-3C2A-9CFE-026F-7F1C63CAA3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A813DD-37C3-1DC5-2255-E856E25ACDE6}"/>
              </a:ext>
            </a:extLst>
          </p:cNvPr>
          <p:cNvSpPr>
            <a:spLocks noGrp="1"/>
          </p:cNvSpPr>
          <p:nvPr>
            <p:ph type="body" idx="1"/>
          </p:nvPr>
        </p:nvSpPr>
        <p:spPr/>
        <p:txBody>
          <a:bodyPr/>
          <a:lstStyle/>
          <a:p>
            <a:r>
              <a:rPr lang="en-US" dirty="0"/>
              <a:t>Mean over pixels in that group, </a:t>
            </a:r>
            <a:r>
              <a:rPr lang="en-US" dirty="0" err="1"/>
              <a:t>sem</a:t>
            </a:r>
            <a:r>
              <a:rPr lang="en-US" dirty="0"/>
              <a:t> over pixels</a:t>
            </a:r>
          </a:p>
        </p:txBody>
      </p:sp>
      <p:sp>
        <p:nvSpPr>
          <p:cNvPr id="4" name="Slide Number Placeholder 3">
            <a:extLst>
              <a:ext uri="{FF2B5EF4-FFF2-40B4-BE49-F238E27FC236}">
                <a16:creationId xmlns:a16="http://schemas.microsoft.com/office/drawing/2014/main" id="{1E125E13-A45A-28C9-63FF-33E41C46C288}"/>
              </a:ext>
            </a:extLst>
          </p:cNvPr>
          <p:cNvSpPr>
            <a:spLocks noGrp="1"/>
          </p:cNvSpPr>
          <p:nvPr>
            <p:ph type="sldNum" sz="quarter" idx="5"/>
          </p:nvPr>
        </p:nvSpPr>
        <p:spPr/>
        <p:txBody>
          <a:bodyPr/>
          <a:lstStyle/>
          <a:p>
            <a:fld id="{1F90CC02-9A9E-8749-B188-DF0238720493}" type="slidenum">
              <a:rPr lang="en-US" smtClean="0"/>
              <a:t>5</a:t>
            </a:fld>
            <a:endParaRPr lang="en-US"/>
          </a:p>
        </p:txBody>
      </p:sp>
    </p:spTree>
    <p:extLst>
      <p:ext uri="{BB962C8B-B14F-4D97-AF65-F5344CB8AC3E}">
        <p14:creationId xmlns:p14="http://schemas.microsoft.com/office/powerpoint/2010/main" val="40980539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22722-038A-F018-EEC9-409BACBE00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EC4C07-0297-FCC0-63C6-306A2D95D9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4873D3-23E1-51E7-A885-2F660DE787C2}"/>
              </a:ext>
            </a:extLst>
          </p:cNvPr>
          <p:cNvSpPr>
            <a:spLocks noGrp="1"/>
          </p:cNvSpPr>
          <p:nvPr>
            <p:ph type="body" idx="1"/>
          </p:nvPr>
        </p:nvSpPr>
        <p:spPr/>
        <p:txBody>
          <a:bodyPr/>
          <a:lstStyle/>
          <a:p>
            <a:r>
              <a:rPr lang="en-US" dirty="0" err="1"/>
              <a:t>Psm</a:t>
            </a:r>
            <a:r>
              <a:rPr lang="en-US" dirty="0"/>
              <a:t> 2019 – modeled probability a pixel was treated given its covariates</a:t>
            </a:r>
          </a:p>
          <a:p>
            <a:r>
              <a:rPr lang="en-US" dirty="0"/>
              <a:t>Phat 2022 – prognostic score for 2022</a:t>
            </a:r>
          </a:p>
          <a:p>
            <a:endParaRPr lang="en-US" dirty="0"/>
          </a:p>
          <a:p>
            <a:r>
              <a:rPr lang="en-US" dirty="0"/>
              <a:t>Density – fraction of each group per unit of score</a:t>
            </a:r>
          </a:p>
        </p:txBody>
      </p:sp>
      <p:sp>
        <p:nvSpPr>
          <p:cNvPr id="4" name="Slide Number Placeholder 3">
            <a:extLst>
              <a:ext uri="{FF2B5EF4-FFF2-40B4-BE49-F238E27FC236}">
                <a16:creationId xmlns:a16="http://schemas.microsoft.com/office/drawing/2014/main" id="{70F22EAE-C4BA-7AE0-35BE-ED324B3102F1}"/>
              </a:ext>
            </a:extLst>
          </p:cNvPr>
          <p:cNvSpPr>
            <a:spLocks noGrp="1"/>
          </p:cNvSpPr>
          <p:nvPr>
            <p:ph type="sldNum" sz="quarter" idx="5"/>
          </p:nvPr>
        </p:nvSpPr>
        <p:spPr/>
        <p:txBody>
          <a:bodyPr/>
          <a:lstStyle/>
          <a:p>
            <a:fld id="{1F90CC02-9A9E-8749-B188-DF0238720493}" type="slidenum">
              <a:rPr lang="en-US" smtClean="0"/>
              <a:t>6</a:t>
            </a:fld>
            <a:endParaRPr lang="en-US"/>
          </a:p>
        </p:txBody>
      </p:sp>
    </p:spTree>
    <p:extLst>
      <p:ext uri="{BB962C8B-B14F-4D97-AF65-F5344CB8AC3E}">
        <p14:creationId xmlns:p14="http://schemas.microsoft.com/office/powerpoint/2010/main" val="29478888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before clustering standard errors by site rather than by pixel</a:t>
            </a:r>
          </a:p>
        </p:txBody>
      </p:sp>
      <p:sp>
        <p:nvSpPr>
          <p:cNvPr id="4" name="Slide Number Placeholder 3"/>
          <p:cNvSpPr>
            <a:spLocks noGrp="1"/>
          </p:cNvSpPr>
          <p:nvPr>
            <p:ph type="sldNum" sz="quarter" idx="5"/>
          </p:nvPr>
        </p:nvSpPr>
        <p:spPr/>
        <p:txBody>
          <a:bodyPr/>
          <a:lstStyle/>
          <a:p>
            <a:fld id="{1F90CC02-9A9E-8749-B188-DF0238720493}" type="slidenum">
              <a:rPr lang="en-US" smtClean="0"/>
              <a:t>9</a:t>
            </a:fld>
            <a:endParaRPr lang="en-US"/>
          </a:p>
        </p:txBody>
      </p:sp>
    </p:spTree>
    <p:extLst>
      <p:ext uri="{BB962C8B-B14F-4D97-AF65-F5344CB8AC3E}">
        <p14:creationId xmlns:p14="http://schemas.microsoft.com/office/powerpoint/2010/main" val="27828436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Drainage is low over peat</a:t>
            </a:r>
          </a:p>
        </p:txBody>
      </p:sp>
      <p:sp>
        <p:nvSpPr>
          <p:cNvPr id="4" name="Slide Number Placeholder 3"/>
          <p:cNvSpPr>
            <a:spLocks noGrp="1"/>
          </p:cNvSpPr>
          <p:nvPr>
            <p:ph type="sldNum" sz="quarter" idx="5"/>
          </p:nvPr>
        </p:nvSpPr>
        <p:spPr/>
        <p:txBody>
          <a:bodyPr/>
          <a:lstStyle/>
          <a:p>
            <a:fld id="{1F90CC02-9A9E-8749-B188-DF0238720493}" type="slidenum">
              <a:rPr lang="en-US" smtClean="0"/>
              <a:t>11</a:t>
            </a:fld>
            <a:endParaRPr lang="en-US"/>
          </a:p>
        </p:txBody>
      </p:sp>
    </p:spTree>
    <p:extLst>
      <p:ext uri="{BB962C8B-B14F-4D97-AF65-F5344CB8AC3E}">
        <p14:creationId xmlns:p14="http://schemas.microsoft.com/office/powerpoint/2010/main" val="7057048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Drainage correlates with elevation and precipitation</a:t>
            </a:r>
          </a:p>
        </p:txBody>
      </p:sp>
      <p:sp>
        <p:nvSpPr>
          <p:cNvPr id="4" name="Slide Number Placeholder 3"/>
          <p:cNvSpPr>
            <a:spLocks noGrp="1"/>
          </p:cNvSpPr>
          <p:nvPr>
            <p:ph type="sldNum" sz="quarter" idx="5"/>
          </p:nvPr>
        </p:nvSpPr>
        <p:spPr/>
        <p:txBody>
          <a:bodyPr/>
          <a:lstStyle/>
          <a:p>
            <a:fld id="{1F90CC02-9A9E-8749-B188-DF0238720493}" type="slidenum">
              <a:rPr lang="en-US" smtClean="0"/>
              <a:t>12</a:t>
            </a:fld>
            <a:endParaRPr lang="en-US"/>
          </a:p>
        </p:txBody>
      </p:sp>
    </p:spTree>
    <p:extLst>
      <p:ext uri="{BB962C8B-B14F-4D97-AF65-F5344CB8AC3E}">
        <p14:creationId xmlns:p14="http://schemas.microsoft.com/office/powerpoint/2010/main" val="13408377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in MCD64A1 results here too</a:t>
            </a:r>
          </a:p>
        </p:txBody>
      </p:sp>
      <p:sp>
        <p:nvSpPr>
          <p:cNvPr id="4" name="Slide Number Placeholder 3"/>
          <p:cNvSpPr>
            <a:spLocks noGrp="1"/>
          </p:cNvSpPr>
          <p:nvPr>
            <p:ph type="sldNum" sz="quarter" idx="5"/>
          </p:nvPr>
        </p:nvSpPr>
        <p:spPr/>
        <p:txBody>
          <a:bodyPr/>
          <a:lstStyle/>
          <a:p>
            <a:fld id="{1F90CC02-9A9E-8749-B188-DF0238720493}" type="slidenum">
              <a:rPr lang="en-US" smtClean="0"/>
              <a:t>19</a:t>
            </a:fld>
            <a:endParaRPr lang="en-US"/>
          </a:p>
        </p:txBody>
      </p:sp>
    </p:spTree>
    <p:extLst>
      <p:ext uri="{BB962C8B-B14F-4D97-AF65-F5344CB8AC3E}">
        <p14:creationId xmlns:p14="http://schemas.microsoft.com/office/powerpoint/2010/main" val="20862502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Drier years burn more</a:t>
            </a:r>
          </a:p>
        </p:txBody>
      </p:sp>
      <p:sp>
        <p:nvSpPr>
          <p:cNvPr id="4" name="Slide Number Placeholder 3"/>
          <p:cNvSpPr>
            <a:spLocks noGrp="1"/>
          </p:cNvSpPr>
          <p:nvPr>
            <p:ph type="sldNum" sz="quarter" idx="5"/>
          </p:nvPr>
        </p:nvSpPr>
        <p:spPr/>
        <p:txBody>
          <a:bodyPr/>
          <a:lstStyle/>
          <a:p>
            <a:fld id="{1F90CC02-9A9E-8749-B188-DF0238720493}" type="slidenum">
              <a:rPr lang="en-US" smtClean="0"/>
              <a:t>21</a:t>
            </a:fld>
            <a:endParaRPr lang="en-US"/>
          </a:p>
        </p:txBody>
      </p:sp>
    </p:spTree>
    <p:extLst>
      <p:ext uri="{BB962C8B-B14F-4D97-AF65-F5344CB8AC3E}">
        <p14:creationId xmlns:p14="http://schemas.microsoft.com/office/powerpoint/2010/main" val="36361508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Hotter years tend to burn more but this trend isn’t too strong</a:t>
            </a:r>
          </a:p>
        </p:txBody>
      </p:sp>
      <p:sp>
        <p:nvSpPr>
          <p:cNvPr id="4" name="Slide Number Placeholder 3"/>
          <p:cNvSpPr>
            <a:spLocks noGrp="1"/>
          </p:cNvSpPr>
          <p:nvPr>
            <p:ph type="sldNum" sz="quarter" idx="5"/>
          </p:nvPr>
        </p:nvSpPr>
        <p:spPr/>
        <p:txBody>
          <a:bodyPr/>
          <a:lstStyle/>
          <a:p>
            <a:fld id="{1F90CC02-9A9E-8749-B188-DF0238720493}" type="slidenum">
              <a:rPr lang="en-US" smtClean="0"/>
              <a:t>22</a:t>
            </a:fld>
            <a:endParaRPr lang="en-US"/>
          </a:p>
        </p:txBody>
      </p:sp>
    </p:spTree>
    <p:extLst>
      <p:ext uri="{BB962C8B-B14F-4D97-AF65-F5344CB8AC3E}">
        <p14:creationId xmlns:p14="http://schemas.microsoft.com/office/powerpoint/2010/main" val="16247490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Wetter years </a:t>
            </a:r>
            <a:r>
              <a:rPr lang="en-US"/>
              <a:t>tend to burn </a:t>
            </a:r>
            <a:r>
              <a:rPr lang="en-US" dirty="0"/>
              <a:t>less</a:t>
            </a:r>
          </a:p>
        </p:txBody>
      </p:sp>
      <p:sp>
        <p:nvSpPr>
          <p:cNvPr id="4" name="Slide Number Placeholder 3"/>
          <p:cNvSpPr>
            <a:spLocks noGrp="1"/>
          </p:cNvSpPr>
          <p:nvPr>
            <p:ph type="sldNum" sz="quarter" idx="5"/>
          </p:nvPr>
        </p:nvSpPr>
        <p:spPr/>
        <p:txBody>
          <a:bodyPr/>
          <a:lstStyle/>
          <a:p>
            <a:fld id="{1F90CC02-9A9E-8749-B188-DF0238720493}" type="slidenum">
              <a:rPr lang="en-US" smtClean="0"/>
              <a:t>24</a:t>
            </a:fld>
            <a:endParaRPr lang="en-US"/>
          </a:p>
        </p:txBody>
      </p:sp>
    </p:spTree>
    <p:extLst>
      <p:ext uri="{BB962C8B-B14F-4D97-AF65-F5344CB8AC3E}">
        <p14:creationId xmlns:p14="http://schemas.microsoft.com/office/powerpoint/2010/main" val="36011133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D0FF5-6A92-143C-61F4-BC61CE7FBC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5728BB-49D6-8F91-95A3-EF9B703EB6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2F965C-F856-291C-F253-38C9C68D5461}"/>
              </a:ext>
            </a:extLst>
          </p:cNvPr>
          <p:cNvSpPr>
            <a:spLocks noGrp="1"/>
          </p:cNvSpPr>
          <p:nvPr>
            <p:ph type="body" idx="1"/>
          </p:nvPr>
        </p:nvSpPr>
        <p:spPr/>
        <p:txBody>
          <a:bodyPr/>
          <a:lstStyle/>
          <a:p>
            <a:r>
              <a:rPr lang="en-US" dirty="0"/>
              <a:t>Drier years burn more</a:t>
            </a:r>
          </a:p>
        </p:txBody>
      </p:sp>
      <p:sp>
        <p:nvSpPr>
          <p:cNvPr id="4" name="Slide Number Placeholder 3">
            <a:extLst>
              <a:ext uri="{FF2B5EF4-FFF2-40B4-BE49-F238E27FC236}">
                <a16:creationId xmlns:a16="http://schemas.microsoft.com/office/drawing/2014/main" id="{2C74B0BE-08E5-636A-52FB-38E5C31D460D}"/>
              </a:ext>
            </a:extLst>
          </p:cNvPr>
          <p:cNvSpPr>
            <a:spLocks noGrp="1"/>
          </p:cNvSpPr>
          <p:nvPr>
            <p:ph type="sldNum" sz="quarter" idx="5"/>
          </p:nvPr>
        </p:nvSpPr>
        <p:spPr/>
        <p:txBody>
          <a:bodyPr/>
          <a:lstStyle/>
          <a:p>
            <a:fld id="{1F90CC02-9A9E-8749-B188-DF0238720493}" type="slidenum">
              <a:rPr lang="en-US" smtClean="0"/>
              <a:t>26</a:t>
            </a:fld>
            <a:endParaRPr lang="en-US"/>
          </a:p>
        </p:txBody>
      </p:sp>
    </p:spTree>
    <p:extLst>
      <p:ext uri="{BB962C8B-B14F-4D97-AF65-F5344CB8AC3E}">
        <p14:creationId xmlns:p14="http://schemas.microsoft.com/office/powerpoint/2010/main" val="30472765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47333-8F34-C4BA-F0D6-A9B0FB1ADB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C2A425-B6F7-1AB0-5C13-097E638312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D76F8E-50C9-15E5-C956-3AA614ED8778}"/>
              </a:ext>
            </a:extLst>
          </p:cNvPr>
          <p:cNvSpPr>
            <a:spLocks noGrp="1"/>
          </p:cNvSpPr>
          <p:nvPr>
            <p:ph type="body" idx="1"/>
          </p:nvPr>
        </p:nvSpPr>
        <p:spPr/>
        <p:txBody>
          <a:bodyPr/>
          <a:lstStyle/>
          <a:p>
            <a:r>
              <a:rPr lang="en-US" dirty="0"/>
              <a:t>Hotter years tend to burn more but this trend isn’t too strong</a:t>
            </a:r>
          </a:p>
        </p:txBody>
      </p:sp>
      <p:sp>
        <p:nvSpPr>
          <p:cNvPr id="4" name="Slide Number Placeholder 3">
            <a:extLst>
              <a:ext uri="{FF2B5EF4-FFF2-40B4-BE49-F238E27FC236}">
                <a16:creationId xmlns:a16="http://schemas.microsoft.com/office/drawing/2014/main" id="{6CDD8D9F-AA4E-4249-F642-AB0CAC398F70}"/>
              </a:ext>
            </a:extLst>
          </p:cNvPr>
          <p:cNvSpPr>
            <a:spLocks noGrp="1"/>
          </p:cNvSpPr>
          <p:nvPr>
            <p:ph type="sldNum" sz="quarter" idx="5"/>
          </p:nvPr>
        </p:nvSpPr>
        <p:spPr/>
        <p:txBody>
          <a:bodyPr/>
          <a:lstStyle/>
          <a:p>
            <a:fld id="{1F90CC02-9A9E-8749-B188-DF0238720493}" type="slidenum">
              <a:rPr lang="en-US" smtClean="0"/>
              <a:t>27</a:t>
            </a:fld>
            <a:endParaRPr lang="en-US"/>
          </a:p>
        </p:txBody>
      </p:sp>
    </p:spTree>
    <p:extLst>
      <p:ext uri="{BB962C8B-B14F-4D97-AF65-F5344CB8AC3E}">
        <p14:creationId xmlns:p14="http://schemas.microsoft.com/office/powerpoint/2010/main" val="30240164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4D824-6F1C-5193-4199-E96C08067B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0AA756-41D5-138F-4F81-7121C7B240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80DE95-7F67-BD71-809F-32FA96563825}"/>
              </a:ext>
            </a:extLst>
          </p:cNvPr>
          <p:cNvSpPr>
            <a:spLocks noGrp="1"/>
          </p:cNvSpPr>
          <p:nvPr>
            <p:ph type="body" idx="1"/>
          </p:nvPr>
        </p:nvSpPr>
        <p:spPr/>
        <p:txBody>
          <a:bodyPr/>
          <a:lstStyle/>
          <a:p>
            <a:r>
              <a:rPr lang="en-US" dirty="0"/>
              <a:t>Wetter years </a:t>
            </a:r>
            <a:r>
              <a:rPr lang="en-US"/>
              <a:t>tend to burn </a:t>
            </a:r>
            <a:r>
              <a:rPr lang="en-US" dirty="0"/>
              <a:t>less</a:t>
            </a:r>
          </a:p>
        </p:txBody>
      </p:sp>
      <p:sp>
        <p:nvSpPr>
          <p:cNvPr id="4" name="Slide Number Placeholder 3">
            <a:extLst>
              <a:ext uri="{FF2B5EF4-FFF2-40B4-BE49-F238E27FC236}">
                <a16:creationId xmlns:a16="http://schemas.microsoft.com/office/drawing/2014/main" id="{EA6EB826-CEAA-77F4-4F52-A65629EFDB33}"/>
              </a:ext>
            </a:extLst>
          </p:cNvPr>
          <p:cNvSpPr>
            <a:spLocks noGrp="1"/>
          </p:cNvSpPr>
          <p:nvPr>
            <p:ph type="sldNum" sz="quarter" idx="5"/>
          </p:nvPr>
        </p:nvSpPr>
        <p:spPr/>
        <p:txBody>
          <a:bodyPr/>
          <a:lstStyle/>
          <a:p>
            <a:fld id="{1F90CC02-9A9E-8749-B188-DF0238720493}" type="slidenum">
              <a:rPr lang="en-US" smtClean="0"/>
              <a:t>29</a:t>
            </a:fld>
            <a:endParaRPr lang="en-US"/>
          </a:p>
        </p:txBody>
      </p:sp>
    </p:spTree>
    <p:extLst>
      <p:ext uri="{BB962C8B-B14F-4D97-AF65-F5344CB8AC3E}">
        <p14:creationId xmlns:p14="http://schemas.microsoft.com/office/powerpoint/2010/main" val="24472797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715C9-6E21-2207-0E9D-3313E6506E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66B8C7-9F2B-43D6-D801-DF61650DE3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6AE908-5756-0B16-5276-1E5E351F1F80}"/>
              </a:ext>
            </a:extLst>
          </p:cNvPr>
          <p:cNvSpPr>
            <a:spLocks noGrp="1"/>
          </p:cNvSpPr>
          <p:nvPr>
            <p:ph type="body" idx="1"/>
          </p:nvPr>
        </p:nvSpPr>
        <p:spPr/>
        <p:txBody>
          <a:bodyPr/>
          <a:lstStyle/>
          <a:p>
            <a:r>
              <a:rPr lang="en-US" dirty="0"/>
              <a:t>Drier years burn more</a:t>
            </a:r>
          </a:p>
        </p:txBody>
      </p:sp>
      <p:sp>
        <p:nvSpPr>
          <p:cNvPr id="4" name="Slide Number Placeholder 3">
            <a:extLst>
              <a:ext uri="{FF2B5EF4-FFF2-40B4-BE49-F238E27FC236}">
                <a16:creationId xmlns:a16="http://schemas.microsoft.com/office/drawing/2014/main" id="{3513B8B5-093E-AEBE-84D8-AA48DED1B428}"/>
              </a:ext>
            </a:extLst>
          </p:cNvPr>
          <p:cNvSpPr>
            <a:spLocks noGrp="1"/>
          </p:cNvSpPr>
          <p:nvPr>
            <p:ph type="sldNum" sz="quarter" idx="5"/>
          </p:nvPr>
        </p:nvSpPr>
        <p:spPr/>
        <p:txBody>
          <a:bodyPr/>
          <a:lstStyle/>
          <a:p>
            <a:fld id="{1F90CC02-9A9E-8749-B188-DF0238720493}" type="slidenum">
              <a:rPr lang="en-US" smtClean="0"/>
              <a:t>31</a:t>
            </a:fld>
            <a:endParaRPr lang="en-US"/>
          </a:p>
        </p:txBody>
      </p:sp>
    </p:spTree>
    <p:extLst>
      <p:ext uri="{BB962C8B-B14F-4D97-AF65-F5344CB8AC3E}">
        <p14:creationId xmlns:p14="http://schemas.microsoft.com/office/powerpoint/2010/main" val="14596068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4EA8C-9C7A-9A2F-7B35-499213FB20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E3E7BD-D6B0-5159-0295-68487D26A7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CFD4BC-B941-38EA-D331-C1A4D9E05948}"/>
              </a:ext>
            </a:extLst>
          </p:cNvPr>
          <p:cNvSpPr>
            <a:spLocks noGrp="1"/>
          </p:cNvSpPr>
          <p:nvPr>
            <p:ph type="body" idx="1"/>
          </p:nvPr>
        </p:nvSpPr>
        <p:spPr/>
        <p:txBody>
          <a:bodyPr/>
          <a:lstStyle/>
          <a:p>
            <a:r>
              <a:rPr lang="en-US" dirty="0"/>
              <a:t>Hotter years tend to burn more but this trend isn’t too strong</a:t>
            </a:r>
          </a:p>
        </p:txBody>
      </p:sp>
      <p:sp>
        <p:nvSpPr>
          <p:cNvPr id="4" name="Slide Number Placeholder 3">
            <a:extLst>
              <a:ext uri="{FF2B5EF4-FFF2-40B4-BE49-F238E27FC236}">
                <a16:creationId xmlns:a16="http://schemas.microsoft.com/office/drawing/2014/main" id="{5C4DDB4E-00FD-F9D1-3DA8-3860C6F76285}"/>
              </a:ext>
            </a:extLst>
          </p:cNvPr>
          <p:cNvSpPr>
            <a:spLocks noGrp="1"/>
          </p:cNvSpPr>
          <p:nvPr>
            <p:ph type="sldNum" sz="quarter" idx="5"/>
          </p:nvPr>
        </p:nvSpPr>
        <p:spPr/>
        <p:txBody>
          <a:bodyPr/>
          <a:lstStyle/>
          <a:p>
            <a:fld id="{1F90CC02-9A9E-8749-B188-DF0238720493}" type="slidenum">
              <a:rPr lang="en-US" smtClean="0"/>
              <a:t>32</a:t>
            </a:fld>
            <a:endParaRPr lang="en-US"/>
          </a:p>
        </p:txBody>
      </p:sp>
    </p:spTree>
    <p:extLst>
      <p:ext uri="{BB962C8B-B14F-4D97-AF65-F5344CB8AC3E}">
        <p14:creationId xmlns:p14="http://schemas.microsoft.com/office/powerpoint/2010/main" val="10290709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DBA65-A0AC-3414-7D54-A311F83969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84A57D-3063-7C47-9F2B-BF238C1E1F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FCEAE8-671C-E00E-A133-70C584BB1A5B}"/>
              </a:ext>
            </a:extLst>
          </p:cNvPr>
          <p:cNvSpPr>
            <a:spLocks noGrp="1"/>
          </p:cNvSpPr>
          <p:nvPr>
            <p:ph type="body" idx="1"/>
          </p:nvPr>
        </p:nvSpPr>
        <p:spPr/>
        <p:txBody>
          <a:bodyPr/>
          <a:lstStyle/>
          <a:p>
            <a:r>
              <a:rPr lang="en-US" dirty="0"/>
              <a:t>Wetter years </a:t>
            </a:r>
            <a:r>
              <a:rPr lang="en-US"/>
              <a:t>tend to burn </a:t>
            </a:r>
            <a:r>
              <a:rPr lang="en-US" dirty="0"/>
              <a:t>less</a:t>
            </a:r>
          </a:p>
        </p:txBody>
      </p:sp>
      <p:sp>
        <p:nvSpPr>
          <p:cNvPr id="4" name="Slide Number Placeholder 3">
            <a:extLst>
              <a:ext uri="{FF2B5EF4-FFF2-40B4-BE49-F238E27FC236}">
                <a16:creationId xmlns:a16="http://schemas.microsoft.com/office/drawing/2014/main" id="{40CFF293-7B04-D84C-37F7-CADB7F6FD71D}"/>
              </a:ext>
            </a:extLst>
          </p:cNvPr>
          <p:cNvSpPr>
            <a:spLocks noGrp="1"/>
          </p:cNvSpPr>
          <p:nvPr>
            <p:ph type="sldNum" sz="quarter" idx="5"/>
          </p:nvPr>
        </p:nvSpPr>
        <p:spPr/>
        <p:txBody>
          <a:bodyPr/>
          <a:lstStyle/>
          <a:p>
            <a:fld id="{1F90CC02-9A9E-8749-B188-DF0238720493}" type="slidenum">
              <a:rPr lang="en-US" smtClean="0"/>
              <a:t>34</a:t>
            </a:fld>
            <a:endParaRPr lang="en-US"/>
          </a:p>
        </p:txBody>
      </p:sp>
    </p:spTree>
    <p:extLst>
      <p:ext uri="{BB962C8B-B14F-4D97-AF65-F5344CB8AC3E}">
        <p14:creationId xmlns:p14="http://schemas.microsoft.com/office/powerpoint/2010/main" val="42068971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ctr"/>
            <a:r>
              <a:rPr lang="en-US" sz="1200" kern="1200" dirty="0">
                <a:solidFill>
                  <a:schemeClr val="tx1"/>
                </a:solidFill>
                <a:effectLst/>
                <a:latin typeface="+mn-lt"/>
                <a:ea typeface="+mn-ea"/>
                <a:cs typeface="+mn-cs"/>
              </a:rPr>
              <a:t>Available water capacity</a:t>
            </a:r>
          </a:p>
          <a:p>
            <a:pPr lvl="1" rtl="0" fontAlgn="ctr"/>
            <a:r>
              <a:rPr lang="en-US" sz="1200" kern="1200" dirty="0">
                <a:solidFill>
                  <a:schemeClr val="tx1"/>
                </a:solidFill>
                <a:effectLst/>
                <a:latin typeface="+mn-lt"/>
                <a:ea typeface="+mn-ea"/>
                <a:cs typeface="+mn-cs"/>
              </a:rPr>
              <a:t>Amount of water the soil can hold that plants can actually pull out</a:t>
            </a:r>
          </a:p>
          <a:p>
            <a:pPr lvl="1" rtl="0" fontAlgn="ctr"/>
            <a:r>
              <a:rPr lang="en-US" sz="1200" kern="1200" dirty="0">
                <a:solidFill>
                  <a:schemeClr val="tx1"/>
                </a:solidFill>
                <a:effectLst/>
                <a:latin typeface="+mn-lt"/>
                <a:ea typeface="+mn-ea"/>
                <a:cs typeface="+mn-cs"/>
              </a:rPr>
              <a:t>cm of water per cm of soil</a:t>
            </a:r>
          </a:p>
          <a:p>
            <a:pPr lvl="1" rtl="0" fontAlgn="ctr"/>
            <a:r>
              <a:rPr lang="en-US" sz="1200" kern="1200" dirty="0">
                <a:solidFill>
                  <a:schemeClr val="tx1"/>
                </a:solidFill>
                <a:effectLst/>
                <a:latin typeface="+mn-lt"/>
                <a:ea typeface="+mn-ea"/>
                <a:cs typeface="+mn-cs"/>
              </a:rPr>
              <a:t>High </a:t>
            </a:r>
            <a:r>
              <a:rPr lang="en-US" sz="1200" kern="1200" dirty="0" err="1">
                <a:solidFill>
                  <a:schemeClr val="tx1"/>
                </a:solidFill>
                <a:effectLst/>
                <a:latin typeface="+mn-lt"/>
                <a:ea typeface="+mn-ea"/>
                <a:cs typeface="+mn-cs"/>
              </a:rPr>
              <a:t>awc</a:t>
            </a:r>
            <a:r>
              <a:rPr lang="en-US" sz="1200" kern="1200" dirty="0">
                <a:solidFill>
                  <a:schemeClr val="tx1"/>
                </a:solidFill>
                <a:effectLst/>
                <a:latin typeface="+mn-lt"/>
                <a:ea typeface="+mn-ea"/>
                <a:cs typeface="+mn-cs"/>
              </a:rPr>
              <a:t> soils stay moist longer into a drought and are less likely to ignite or sustain a smoldering peat fire</a:t>
            </a:r>
          </a:p>
          <a:p>
            <a:pPr rtl="0" fontAlgn="ctr"/>
            <a:r>
              <a:rPr lang="en-US" sz="1200" kern="1200" dirty="0">
                <a:solidFill>
                  <a:schemeClr val="tx1"/>
                </a:solidFill>
                <a:effectLst/>
                <a:latin typeface="+mn-lt"/>
                <a:ea typeface="+mn-ea"/>
                <a:cs typeface="+mn-cs"/>
              </a:rPr>
              <a:t>Organic matter</a:t>
            </a:r>
          </a:p>
          <a:p>
            <a:pPr lvl="1" rtl="0" fontAlgn="ctr"/>
            <a:r>
              <a:rPr lang="en-US" sz="1200" kern="1200" dirty="0">
                <a:solidFill>
                  <a:schemeClr val="tx1"/>
                </a:solidFill>
                <a:effectLst/>
                <a:latin typeface="+mn-lt"/>
                <a:ea typeface="+mn-ea"/>
                <a:cs typeface="+mn-cs"/>
              </a:rPr>
              <a:t>Fraction of soil's mass that is decomposed plant/animal material rather than mineral grains (peat is soil that's almost all organic matter)</a:t>
            </a:r>
          </a:p>
          <a:p>
            <a:pPr lvl="1" rtl="0" fontAlgn="ctr"/>
            <a:r>
              <a:rPr lang="en-US" sz="1200" kern="1200" dirty="0">
                <a:solidFill>
                  <a:schemeClr val="tx1"/>
                </a:solidFill>
                <a:effectLst/>
                <a:latin typeface="+mn-lt"/>
                <a:ea typeface="+mn-ea"/>
                <a:cs typeface="+mn-cs"/>
              </a:rPr>
              <a:t>% by weight</a:t>
            </a:r>
          </a:p>
          <a:p>
            <a:pPr rtl="0" fontAlgn="ctr"/>
            <a:r>
              <a:rPr lang="en-US" sz="1200" kern="1200" dirty="0">
                <a:solidFill>
                  <a:schemeClr val="tx1"/>
                </a:solidFill>
                <a:effectLst/>
                <a:latin typeface="+mn-lt"/>
                <a:ea typeface="+mn-ea"/>
                <a:cs typeface="+mn-cs"/>
              </a:rPr>
              <a:t>Drainage class</a:t>
            </a:r>
          </a:p>
          <a:p>
            <a:pPr lvl="1" rtl="0" fontAlgn="ctr"/>
            <a:r>
              <a:rPr lang="en-US" sz="1200" kern="1200" dirty="0">
                <a:solidFill>
                  <a:schemeClr val="tx1"/>
                </a:solidFill>
                <a:effectLst/>
                <a:latin typeface="+mn-lt"/>
                <a:ea typeface="+mn-ea"/>
                <a:cs typeface="+mn-cs"/>
              </a:rPr>
              <a:t>Categorical rating of how fast water leaves the soil naturally</a:t>
            </a:r>
          </a:p>
          <a:p>
            <a:pPr lvl="1" rtl="0" fontAlgn="ctr"/>
            <a:r>
              <a:rPr lang="en-US" sz="1200" kern="1200" dirty="0">
                <a:solidFill>
                  <a:schemeClr val="tx1"/>
                </a:solidFill>
                <a:effectLst/>
                <a:latin typeface="+mn-lt"/>
                <a:ea typeface="+mn-ea"/>
                <a:cs typeface="+mn-cs"/>
              </a:rPr>
              <a:t>Excessively drained, somewhat excessively, well, moderately well, somewhat poorly, poorly, very poorly drained</a:t>
            </a:r>
          </a:p>
          <a:p>
            <a:pPr lvl="1" rtl="0" fontAlgn="ctr"/>
            <a:r>
              <a:rPr lang="en-US" sz="1200" kern="1200" dirty="0">
                <a:solidFill>
                  <a:schemeClr val="tx1"/>
                </a:solidFill>
                <a:effectLst/>
                <a:latin typeface="+mn-lt"/>
                <a:ea typeface="+mn-ea"/>
                <a:cs typeface="+mn-cs"/>
              </a:rPr>
              <a:t>Peat forms in poorly/very poorly drained settings</a:t>
            </a:r>
          </a:p>
          <a:p>
            <a:pPr lvl="1" rtl="0" fontAlgn="ctr"/>
            <a:r>
              <a:rPr lang="en-US" sz="1200" kern="1200" dirty="0">
                <a:solidFill>
                  <a:schemeClr val="tx1"/>
                </a:solidFill>
                <a:effectLst/>
                <a:latin typeface="+mn-lt"/>
                <a:ea typeface="+mn-ea"/>
                <a:cs typeface="+mn-cs"/>
              </a:rPr>
              <a:t>Artificially well-drained ground is a peat-fire risk</a:t>
            </a:r>
          </a:p>
          <a:p>
            <a:pPr rtl="0" fontAlgn="ctr"/>
            <a:r>
              <a:rPr lang="en-US" sz="1200" kern="1200" dirty="0">
                <a:solidFill>
                  <a:schemeClr val="tx1"/>
                </a:solidFill>
                <a:effectLst/>
                <a:latin typeface="+mn-lt"/>
                <a:ea typeface="+mn-ea"/>
                <a:cs typeface="+mn-cs"/>
              </a:rPr>
              <a:t>Site index</a:t>
            </a:r>
          </a:p>
          <a:p>
            <a:pPr lvl="1" rtl="0" fontAlgn="ctr"/>
            <a:r>
              <a:rPr lang="en-US" sz="1200" kern="1200" dirty="0">
                <a:solidFill>
                  <a:schemeClr val="tx1"/>
                </a:solidFill>
                <a:effectLst/>
                <a:latin typeface="+mn-lt"/>
                <a:ea typeface="+mn-ea"/>
                <a:cs typeface="+mn-cs"/>
              </a:rPr>
              <a:t>Forestry productivity measure</a:t>
            </a:r>
          </a:p>
          <a:p>
            <a:pPr lvl="1" rtl="0" fontAlgn="ctr"/>
            <a:r>
              <a:rPr lang="en-US" sz="1200" kern="1200" dirty="0">
                <a:solidFill>
                  <a:schemeClr val="tx1"/>
                </a:solidFill>
                <a:effectLst/>
                <a:latin typeface="+mn-lt"/>
                <a:ea typeface="+mn-ea"/>
                <a:cs typeface="+mn-cs"/>
              </a:rPr>
              <a:t>The expected height in feet that a given tree species reaches at a reference age (~50 years) on that soil</a:t>
            </a:r>
          </a:p>
          <a:p>
            <a:pPr lvl="1" rtl="0" fontAlgn="ctr"/>
            <a:r>
              <a:rPr lang="en-US" sz="1200" kern="1200" dirty="0">
                <a:solidFill>
                  <a:schemeClr val="tx1"/>
                </a:solidFill>
                <a:effectLst/>
                <a:latin typeface="+mn-lt"/>
                <a:ea typeface="+mn-ea"/>
                <a:cs typeface="+mn-cs"/>
              </a:rPr>
              <a:t>Proxy for how productive/fertile the site is for growing trees</a:t>
            </a:r>
          </a:p>
          <a:p>
            <a:pPr rtl="0" fontAlgn="ctr"/>
            <a:r>
              <a:rPr lang="en-US" sz="1200" kern="1200" dirty="0">
                <a:solidFill>
                  <a:schemeClr val="tx1"/>
                </a:solidFill>
                <a:effectLst/>
                <a:latin typeface="+mn-lt"/>
                <a:ea typeface="+mn-ea"/>
                <a:cs typeface="+mn-cs"/>
              </a:rPr>
              <a:t>Water table depth</a:t>
            </a:r>
          </a:p>
          <a:p>
            <a:pPr lvl="1" rtl="0" fontAlgn="ctr"/>
            <a:r>
              <a:rPr lang="en-US" sz="1200" kern="1200" dirty="0">
                <a:solidFill>
                  <a:schemeClr val="tx1"/>
                </a:solidFill>
                <a:effectLst/>
                <a:latin typeface="+mn-lt"/>
                <a:ea typeface="+mn-ea"/>
                <a:cs typeface="+mn-cs"/>
              </a:rPr>
              <a:t>The furthest distance below the surface the seasonal water table sits during April-June</a:t>
            </a:r>
          </a:p>
          <a:p>
            <a:pPr lvl="1" rtl="0" fontAlgn="ctr"/>
            <a:r>
              <a:rPr lang="en-US" sz="1200" kern="1200" dirty="0">
                <a:solidFill>
                  <a:schemeClr val="tx1"/>
                </a:solidFill>
                <a:effectLst/>
                <a:latin typeface="+mn-lt"/>
                <a:ea typeface="+mn-ea"/>
                <a:cs typeface="+mn-cs"/>
              </a:rPr>
              <a:t>Shallow water table keeps peat saturated and</a:t>
            </a:r>
          </a:p>
          <a:p>
            <a:r>
              <a:rPr lang="en-US" dirty="0"/>
              <a:t>Growing degree days</a:t>
            </a:r>
          </a:p>
          <a:p>
            <a:r>
              <a:rPr lang="en-US" dirty="0"/>
              <a:t>          For each day, find its mean temp = (max – min temp) / 2, then find how many degrees above 5C this is (subtract 5). Add up these degrees across all days of a year. Then, average across years to get a normal value.</a:t>
            </a:r>
          </a:p>
        </p:txBody>
      </p:sp>
      <p:sp>
        <p:nvSpPr>
          <p:cNvPr id="4" name="Slide Number Placeholder 3"/>
          <p:cNvSpPr>
            <a:spLocks noGrp="1"/>
          </p:cNvSpPr>
          <p:nvPr>
            <p:ph type="sldNum" sz="quarter" idx="5"/>
          </p:nvPr>
        </p:nvSpPr>
        <p:spPr/>
        <p:txBody>
          <a:bodyPr/>
          <a:lstStyle/>
          <a:p>
            <a:fld id="{1F90CC02-9A9E-8749-B188-DF0238720493}" type="slidenum">
              <a:rPr lang="en-US" smtClean="0"/>
              <a:t>46</a:t>
            </a:fld>
            <a:endParaRPr lang="en-US"/>
          </a:p>
        </p:txBody>
      </p:sp>
    </p:spTree>
    <p:extLst>
      <p:ext uri="{BB962C8B-B14F-4D97-AF65-F5344CB8AC3E}">
        <p14:creationId xmlns:p14="http://schemas.microsoft.com/office/powerpoint/2010/main" val="33081419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 is normal, more negative is more drought, more positive is more wet.</a:t>
            </a:r>
          </a:p>
        </p:txBody>
      </p:sp>
      <p:sp>
        <p:nvSpPr>
          <p:cNvPr id="4" name="Slide Number Placeholder 3"/>
          <p:cNvSpPr>
            <a:spLocks noGrp="1"/>
          </p:cNvSpPr>
          <p:nvPr>
            <p:ph type="sldNum" sz="quarter" idx="5"/>
          </p:nvPr>
        </p:nvSpPr>
        <p:spPr/>
        <p:txBody>
          <a:bodyPr/>
          <a:lstStyle/>
          <a:p>
            <a:fld id="{1F90CC02-9A9E-8749-B188-DF0238720493}" type="slidenum">
              <a:rPr lang="en-US" smtClean="0"/>
              <a:t>47</a:t>
            </a:fld>
            <a:endParaRPr lang="en-US"/>
          </a:p>
        </p:txBody>
      </p:sp>
    </p:spTree>
    <p:extLst>
      <p:ext uri="{BB962C8B-B14F-4D97-AF65-F5344CB8AC3E}">
        <p14:creationId xmlns:p14="http://schemas.microsoft.com/office/powerpoint/2010/main" val="32016837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90CC02-9A9E-8749-B188-DF0238720493}" type="slidenum">
              <a:rPr lang="en-US" smtClean="0"/>
              <a:t>48</a:t>
            </a:fld>
            <a:endParaRPr lang="en-US"/>
          </a:p>
        </p:txBody>
      </p:sp>
    </p:spTree>
    <p:extLst>
      <p:ext uri="{BB962C8B-B14F-4D97-AF65-F5344CB8AC3E}">
        <p14:creationId xmlns:p14="http://schemas.microsoft.com/office/powerpoint/2010/main" val="32162043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Hmm try MODIS instead for longer temporal range.</a:t>
            </a:r>
          </a:p>
          <a:p>
            <a:endParaRPr lang="en-US" dirty="0"/>
          </a:p>
          <a:p>
            <a:r>
              <a:rPr lang="en-US" dirty="0"/>
              <a:t>Burn rate – proportion of burned pixels that year</a:t>
            </a:r>
          </a:p>
        </p:txBody>
      </p:sp>
      <p:sp>
        <p:nvSpPr>
          <p:cNvPr id="4" name="Slide Number Placeholder 3"/>
          <p:cNvSpPr>
            <a:spLocks noGrp="1"/>
          </p:cNvSpPr>
          <p:nvPr>
            <p:ph type="sldNum" sz="quarter" idx="5"/>
          </p:nvPr>
        </p:nvSpPr>
        <p:spPr/>
        <p:txBody>
          <a:bodyPr/>
          <a:lstStyle/>
          <a:p>
            <a:fld id="{1F90CC02-9A9E-8749-B188-DF0238720493}" type="slidenum">
              <a:rPr lang="en-US" smtClean="0"/>
              <a:t>49</a:t>
            </a:fld>
            <a:endParaRPr lang="en-US"/>
          </a:p>
        </p:txBody>
      </p:sp>
    </p:spTree>
    <p:extLst>
      <p:ext uri="{BB962C8B-B14F-4D97-AF65-F5344CB8AC3E}">
        <p14:creationId xmlns:p14="http://schemas.microsoft.com/office/powerpoint/2010/main" val="15547465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90CC02-9A9E-8749-B188-DF0238720493}" type="slidenum">
              <a:rPr lang="en-US" smtClean="0"/>
              <a:t>50</a:t>
            </a:fld>
            <a:endParaRPr lang="en-US"/>
          </a:p>
        </p:txBody>
      </p:sp>
    </p:spTree>
    <p:extLst>
      <p:ext uri="{BB962C8B-B14F-4D97-AF65-F5344CB8AC3E}">
        <p14:creationId xmlns:p14="http://schemas.microsoft.com/office/powerpoint/2010/main" val="20962797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90CC02-9A9E-8749-B188-DF0238720493}" type="slidenum">
              <a:rPr lang="en-US" smtClean="0"/>
              <a:t>51</a:t>
            </a:fld>
            <a:endParaRPr lang="en-US"/>
          </a:p>
        </p:txBody>
      </p:sp>
    </p:spTree>
    <p:extLst>
      <p:ext uri="{BB962C8B-B14F-4D97-AF65-F5344CB8AC3E}">
        <p14:creationId xmlns:p14="http://schemas.microsoft.com/office/powerpoint/2010/main" val="27748461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over pixels in that group, </a:t>
            </a:r>
            <a:r>
              <a:rPr lang="en-US" dirty="0" err="1"/>
              <a:t>sem</a:t>
            </a:r>
            <a:r>
              <a:rPr lang="en-US" dirty="0"/>
              <a:t> over pixels</a:t>
            </a:r>
          </a:p>
        </p:txBody>
      </p:sp>
      <p:sp>
        <p:nvSpPr>
          <p:cNvPr id="4" name="Slide Number Placeholder 3"/>
          <p:cNvSpPr>
            <a:spLocks noGrp="1"/>
          </p:cNvSpPr>
          <p:nvPr>
            <p:ph type="sldNum" sz="quarter" idx="5"/>
          </p:nvPr>
        </p:nvSpPr>
        <p:spPr/>
        <p:txBody>
          <a:bodyPr/>
          <a:lstStyle/>
          <a:p>
            <a:fld id="{1F90CC02-9A9E-8749-B188-DF0238720493}" type="slidenum">
              <a:rPr lang="en-US" smtClean="0"/>
              <a:t>52</a:t>
            </a:fld>
            <a:endParaRPr lang="en-US"/>
          </a:p>
        </p:txBody>
      </p:sp>
    </p:spTree>
    <p:extLst>
      <p:ext uri="{BB962C8B-B14F-4D97-AF65-F5344CB8AC3E}">
        <p14:creationId xmlns:p14="http://schemas.microsoft.com/office/powerpoint/2010/main" val="32394389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Psm</a:t>
            </a:r>
            <a:r>
              <a:rPr lang="en-US" dirty="0"/>
              <a:t> 2019 – modeled probability a pixel was treated given its covariates</a:t>
            </a:r>
          </a:p>
          <a:p>
            <a:r>
              <a:rPr lang="en-US" dirty="0"/>
              <a:t>Phat 2022 – prognostic score for 2022</a:t>
            </a:r>
          </a:p>
          <a:p>
            <a:endParaRPr lang="en-US" dirty="0"/>
          </a:p>
          <a:p>
            <a:r>
              <a:rPr lang="en-US" dirty="0"/>
              <a:t>Density – fraction of each group per unit of score</a:t>
            </a:r>
          </a:p>
        </p:txBody>
      </p:sp>
      <p:sp>
        <p:nvSpPr>
          <p:cNvPr id="4" name="Slide Number Placeholder 3"/>
          <p:cNvSpPr>
            <a:spLocks noGrp="1"/>
          </p:cNvSpPr>
          <p:nvPr>
            <p:ph type="sldNum" sz="quarter" idx="5"/>
          </p:nvPr>
        </p:nvSpPr>
        <p:spPr/>
        <p:txBody>
          <a:bodyPr/>
          <a:lstStyle/>
          <a:p>
            <a:fld id="{1F90CC02-9A9E-8749-B188-DF0238720493}" type="slidenum">
              <a:rPr lang="en-US" smtClean="0"/>
              <a:t>53</a:t>
            </a:fld>
            <a:endParaRPr lang="en-US"/>
          </a:p>
        </p:txBody>
      </p:sp>
    </p:spTree>
    <p:extLst>
      <p:ext uri="{BB962C8B-B14F-4D97-AF65-F5344CB8AC3E}">
        <p14:creationId xmlns:p14="http://schemas.microsoft.com/office/powerpoint/2010/main" val="23462216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90CC02-9A9E-8749-B188-DF0238720493}" type="slidenum">
              <a:rPr lang="en-US" smtClean="0"/>
              <a:t>54</a:t>
            </a:fld>
            <a:endParaRPr lang="en-US"/>
          </a:p>
        </p:txBody>
      </p:sp>
    </p:spTree>
    <p:extLst>
      <p:ext uri="{BB962C8B-B14F-4D97-AF65-F5344CB8AC3E}">
        <p14:creationId xmlns:p14="http://schemas.microsoft.com/office/powerpoint/2010/main" val="20872843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 for each treated year’s pixels and then ATT found for each calendar year. So get an ATT for each (g, t), where g is the pixels treated in a specific year.</a:t>
            </a:r>
          </a:p>
          <a:p>
            <a:endParaRPr lang="en-US" dirty="0"/>
          </a:p>
          <a:p>
            <a:r>
              <a:rPr lang="en-US" dirty="0"/>
              <a:t>Outcome regression – fit on controls only, regress change in burn probability pre and post treatment on the covariates using only the control units. For a pixel with covariate profile X, how much did burning change from the year before treatment to the current year, absent treatment. When evaluated at a treated pixel’s covariate profile, this produces its counterfactual change (if it hadn’t been treated, how much would burning have changed).</a:t>
            </a:r>
          </a:p>
          <a:p>
            <a:endParaRPr lang="en-US" dirty="0"/>
          </a:p>
          <a:p>
            <a:r>
              <a:rPr lang="en-US" dirty="0"/>
              <a:t>Propensity model – logistic of in treated cohort g (treated this year) vs control given covariates in both treated and control pixels. Produces P(treated cohort | X), upweighting controls that look like treated pixels.</a:t>
            </a:r>
          </a:p>
          <a:p>
            <a:endParaRPr lang="en-US" dirty="0"/>
          </a:p>
          <a:p>
            <a:endParaRPr lang="en-US" dirty="0"/>
          </a:p>
          <a:p>
            <a:r>
              <a:rPr lang="en-US" dirty="0"/>
              <a:t>For pixels restored in year g, in calendar year t: find the difference between their actual burn probability and what their predicted burn probability would have been with no restoration. Predicted burn probability found from the outcome regression and propensity model.</a:t>
            </a:r>
          </a:p>
          <a:p>
            <a:endParaRPr lang="en-US" dirty="0"/>
          </a:p>
          <a:p>
            <a:r>
              <a:rPr lang="en-US" dirty="0"/>
              <a:t>Change in burn probability – every unit’s observed change from its last untreated year to the treatment year. Find how much a unit’s actual change exceeds the untreated change its covariates predict. Take this residual, but on the controls, and average it, weighted by propensity odds. </a:t>
            </a:r>
          </a:p>
          <a:p>
            <a:endParaRPr lang="en-US" dirty="0"/>
          </a:p>
          <a:p>
            <a:r>
              <a:rPr lang="en-US" dirty="0"/>
              <a:t>ATT = outcome-regression ATT on treated pixels – that ATT’s propensity-weighted bias estimate on the controls</a:t>
            </a:r>
          </a:p>
          <a:p>
            <a:endParaRPr lang="en-US" dirty="0"/>
          </a:p>
          <a:p>
            <a:endParaRPr lang="en-US" dirty="0"/>
          </a:p>
        </p:txBody>
      </p:sp>
      <p:sp>
        <p:nvSpPr>
          <p:cNvPr id="4" name="Slide Number Placeholder 3"/>
          <p:cNvSpPr>
            <a:spLocks noGrp="1"/>
          </p:cNvSpPr>
          <p:nvPr>
            <p:ph type="sldNum" sz="quarter" idx="5"/>
          </p:nvPr>
        </p:nvSpPr>
        <p:spPr/>
        <p:txBody>
          <a:bodyPr/>
          <a:lstStyle/>
          <a:p>
            <a:fld id="{1F90CC02-9A9E-8749-B188-DF0238720493}" type="slidenum">
              <a:rPr lang="en-US" smtClean="0"/>
              <a:t>55</a:t>
            </a:fld>
            <a:endParaRPr lang="en-US"/>
          </a:p>
        </p:txBody>
      </p:sp>
    </p:spTree>
    <p:extLst>
      <p:ext uri="{BB962C8B-B14F-4D97-AF65-F5344CB8AC3E}">
        <p14:creationId xmlns:p14="http://schemas.microsoft.com/office/powerpoint/2010/main" val="31413964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errors clustered by pixel, not site, here. Need to use rpy2 to get site-level SE clustering. Actual SE by site will be much larger.</a:t>
            </a:r>
          </a:p>
          <a:p>
            <a:endParaRPr lang="en-US" dirty="0"/>
          </a:p>
          <a:p>
            <a:r>
              <a:rPr lang="en-US" dirty="0"/>
              <a:t>Really need MODIS I think – sites restored in 2019 have no pre-restoration period currently from FireCCIS311.</a:t>
            </a:r>
          </a:p>
          <a:p>
            <a:endParaRPr lang="en-US" dirty="0"/>
          </a:p>
          <a:p>
            <a:r>
              <a:rPr lang="en-US" dirty="0"/>
              <a:t>This result turns out to have a bug in the code that excluded Angola Bay.</a:t>
            </a:r>
          </a:p>
        </p:txBody>
      </p:sp>
      <p:sp>
        <p:nvSpPr>
          <p:cNvPr id="4" name="Slide Number Placeholder 3"/>
          <p:cNvSpPr>
            <a:spLocks noGrp="1"/>
          </p:cNvSpPr>
          <p:nvPr>
            <p:ph type="sldNum" sz="quarter" idx="5"/>
          </p:nvPr>
        </p:nvSpPr>
        <p:spPr/>
        <p:txBody>
          <a:bodyPr/>
          <a:lstStyle/>
          <a:p>
            <a:fld id="{1F90CC02-9A9E-8749-B188-DF0238720493}" type="slidenum">
              <a:rPr lang="en-US" smtClean="0"/>
              <a:t>56</a:t>
            </a:fld>
            <a:endParaRPr lang="en-US"/>
          </a:p>
        </p:txBody>
      </p:sp>
    </p:spTree>
    <p:extLst>
      <p:ext uri="{BB962C8B-B14F-4D97-AF65-F5344CB8AC3E}">
        <p14:creationId xmlns:p14="http://schemas.microsoft.com/office/powerpoint/2010/main" val="22191701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IDW – inverse distance weighting, which was used to interpolate the GHCN weather stations into a continuous climate grid. GHCN records are point measurements at individual stations, but every covariate has to be a value at each pixel. IDW fills each grid cell with the distance-weighted average of its 8 nearest stations, with weight = 1 / distance*2, so nearby stations count more than far ones.</a:t>
            </a:r>
          </a:p>
        </p:txBody>
      </p:sp>
      <p:sp>
        <p:nvSpPr>
          <p:cNvPr id="4" name="Slide Number Placeholder 3"/>
          <p:cNvSpPr>
            <a:spLocks noGrp="1"/>
          </p:cNvSpPr>
          <p:nvPr>
            <p:ph type="sldNum" sz="quarter" idx="5"/>
          </p:nvPr>
        </p:nvSpPr>
        <p:spPr/>
        <p:txBody>
          <a:bodyPr/>
          <a:lstStyle/>
          <a:p>
            <a:fld id="{1F90CC02-9A9E-8749-B188-DF0238720493}" type="slidenum">
              <a:rPr lang="en-US" smtClean="0"/>
              <a:t>59</a:t>
            </a:fld>
            <a:endParaRPr lang="en-US"/>
          </a:p>
        </p:txBody>
      </p:sp>
    </p:spTree>
    <p:extLst>
      <p:ext uri="{BB962C8B-B14F-4D97-AF65-F5344CB8AC3E}">
        <p14:creationId xmlns:p14="http://schemas.microsoft.com/office/powerpoint/2010/main" val="21299472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90CC02-9A9E-8749-B188-DF0238720493}" type="slidenum">
              <a:rPr lang="en-US" smtClean="0"/>
              <a:t>61</a:t>
            </a:fld>
            <a:endParaRPr lang="en-US"/>
          </a:p>
        </p:txBody>
      </p:sp>
    </p:spTree>
    <p:extLst>
      <p:ext uri="{BB962C8B-B14F-4D97-AF65-F5344CB8AC3E}">
        <p14:creationId xmlns:p14="http://schemas.microsoft.com/office/powerpoint/2010/main" val="26275186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Histosol % is basically constant – drop it. Also, temp min and max are collinear. Pick one.</a:t>
            </a:r>
          </a:p>
          <a:p>
            <a:endParaRPr lang="en-US" dirty="0"/>
          </a:p>
          <a:p>
            <a:r>
              <a:rPr lang="en-US" dirty="0"/>
              <a:t>Covariate odds ratios are per-standard deviation as continuous covariates are standardized to be mean of 0 and SD of 1. Treated OR is 0/1 restored-vs-not contrast.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Also currently ignoring when restoration sites were completed; just binary treated or not. This is wrong – label treated per year. Just do the Castro et al 2026 approach.</a:t>
            </a:r>
          </a:p>
          <a:p>
            <a:endParaRPr lang="en-US" dirty="0"/>
          </a:p>
          <a:p>
            <a:endParaRPr lang="en-US" dirty="0"/>
          </a:p>
        </p:txBody>
      </p:sp>
      <p:sp>
        <p:nvSpPr>
          <p:cNvPr id="4" name="Slide Number Placeholder 3"/>
          <p:cNvSpPr>
            <a:spLocks noGrp="1"/>
          </p:cNvSpPr>
          <p:nvPr>
            <p:ph type="sldNum" sz="quarter" idx="5"/>
          </p:nvPr>
        </p:nvSpPr>
        <p:spPr/>
        <p:txBody>
          <a:bodyPr/>
          <a:lstStyle/>
          <a:p>
            <a:fld id="{1F90CC02-9A9E-8749-B188-DF0238720493}" type="slidenum">
              <a:rPr lang="en-US" smtClean="0"/>
              <a:t>67</a:t>
            </a:fld>
            <a:endParaRPr lang="en-US"/>
          </a:p>
        </p:txBody>
      </p:sp>
    </p:spTree>
    <p:extLst>
      <p:ext uri="{BB962C8B-B14F-4D97-AF65-F5344CB8AC3E}">
        <p14:creationId xmlns:p14="http://schemas.microsoft.com/office/powerpoint/2010/main" val="26310184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6535F-5EFC-E475-1DDF-EFC34992C4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4A9B4B-52E7-9D32-87F1-D0DBEAF226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501EB1-C9EF-239A-13C6-FD2AEA1931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54F1AA-1AD0-AC99-0313-99725069B507}"/>
              </a:ext>
            </a:extLst>
          </p:cNvPr>
          <p:cNvSpPr>
            <a:spLocks noGrp="1"/>
          </p:cNvSpPr>
          <p:nvPr>
            <p:ph type="sldNum" sz="quarter" idx="5"/>
          </p:nvPr>
        </p:nvSpPr>
        <p:spPr/>
        <p:txBody>
          <a:bodyPr/>
          <a:lstStyle/>
          <a:p>
            <a:fld id="{1F90CC02-9A9E-8749-B188-DF0238720493}" type="slidenum">
              <a:rPr lang="en-US" smtClean="0"/>
              <a:t>74</a:t>
            </a:fld>
            <a:endParaRPr lang="en-US"/>
          </a:p>
        </p:txBody>
      </p:sp>
    </p:spTree>
    <p:extLst>
      <p:ext uri="{BB962C8B-B14F-4D97-AF65-F5344CB8AC3E}">
        <p14:creationId xmlns:p14="http://schemas.microsoft.com/office/powerpoint/2010/main" val="2615815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34FC8-C531-6DDC-2381-0C40393E68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61A72E-3ECB-798E-DDBB-CC98A289C9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5F04F0-9055-F159-DFCF-5D9129F3E1CD}"/>
              </a:ext>
            </a:extLst>
          </p:cNvPr>
          <p:cNvSpPr>
            <a:spLocks noGrp="1"/>
          </p:cNvSpPr>
          <p:nvPr>
            <p:ph type="body" idx="1"/>
          </p:nvPr>
        </p:nvSpPr>
        <p:spPr/>
        <p:txBody>
          <a:bodyPr/>
          <a:lstStyle/>
          <a:p>
            <a:r>
              <a:rPr lang="en-US" dirty="0"/>
              <a:t>Both the common grid and native resolution are after converting to EPSG:5070. 500 m common grid then additionally resamples all fire products to a common grid of 500 m pixels.</a:t>
            </a:r>
          </a:p>
        </p:txBody>
      </p:sp>
      <p:sp>
        <p:nvSpPr>
          <p:cNvPr id="4" name="Slide Number Placeholder 3">
            <a:extLst>
              <a:ext uri="{FF2B5EF4-FFF2-40B4-BE49-F238E27FC236}">
                <a16:creationId xmlns:a16="http://schemas.microsoft.com/office/drawing/2014/main" id="{D48DF2E4-79D4-9B00-F09F-855750B06F9A}"/>
              </a:ext>
            </a:extLst>
          </p:cNvPr>
          <p:cNvSpPr>
            <a:spLocks noGrp="1"/>
          </p:cNvSpPr>
          <p:nvPr>
            <p:ph type="sldNum" sz="quarter" idx="5"/>
          </p:nvPr>
        </p:nvSpPr>
        <p:spPr/>
        <p:txBody>
          <a:bodyPr/>
          <a:lstStyle/>
          <a:p>
            <a:fld id="{1F90CC02-9A9E-8749-B188-DF0238720493}" type="slidenum">
              <a:rPr lang="en-US" smtClean="0"/>
              <a:t>75</a:t>
            </a:fld>
            <a:endParaRPr lang="en-US"/>
          </a:p>
        </p:txBody>
      </p:sp>
    </p:spTree>
    <p:extLst>
      <p:ext uri="{BB962C8B-B14F-4D97-AF65-F5344CB8AC3E}">
        <p14:creationId xmlns:p14="http://schemas.microsoft.com/office/powerpoint/2010/main" val="33994092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FDD99-6EA7-8601-B0AC-90E97C6FD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077C37-109C-DC7F-1A1C-96D29F42D8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DAF8E9-6723-E745-70E3-CEE5DE4970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B882AB-89EF-115E-8E79-437BE0FE2127}"/>
              </a:ext>
            </a:extLst>
          </p:cNvPr>
          <p:cNvSpPr>
            <a:spLocks noGrp="1"/>
          </p:cNvSpPr>
          <p:nvPr>
            <p:ph type="sldNum" sz="quarter" idx="5"/>
          </p:nvPr>
        </p:nvSpPr>
        <p:spPr/>
        <p:txBody>
          <a:bodyPr/>
          <a:lstStyle/>
          <a:p>
            <a:fld id="{1F90CC02-9A9E-8749-B188-DF0238720493}" type="slidenum">
              <a:rPr lang="en-US" smtClean="0"/>
              <a:t>76</a:t>
            </a:fld>
            <a:endParaRPr lang="en-US"/>
          </a:p>
        </p:txBody>
      </p:sp>
    </p:spTree>
    <p:extLst>
      <p:ext uri="{BB962C8B-B14F-4D97-AF65-F5344CB8AC3E}">
        <p14:creationId xmlns:p14="http://schemas.microsoft.com/office/powerpoint/2010/main" val="9564130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90CC02-9A9E-8749-B188-DF0238720493}" type="slidenum">
              <a:rPr lang="en-US" smtClean="0"/>
              <a:t>78</a:t>
            </a:fld>
            <a:endParaRPr lang="en-US"/>
          </a:p>
        </p:txBody>
      </p:sp>
    </p:spTree>
    <p:extLst>
      <p:ext uri="{BB962C8B-B14F-4D97-AF65-F5344CB8AC3E}">
        <p14:creationId xmlns:p14="http://schemas.microsoft.com/office/powerpoint/2010/main" val="99054005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96571-5E07-A827-FBFB-38614FFB06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E401E8-5170-7A30-DA9D-9F5FED9BCE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C4254A-E4C7-CB22-06F9-305C0E686A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DC542C-0AF4-4780-3512-C58F29B8CFB9}"/>
              </a:ext>
            </a:extLst>
          </p:cNvPr>
          <p:cNvSpPr>
            <a:spLocks noGrp="1"/>
          </p:cNvSpPr>
          <p:nvPr>
            <p:ph type="sldNum" sz="quarter" idx="5"/>
          </p:nvPr>
        </p:nvSpPr>
        <p:spPr/>
        <p:txBody>
          <a:bodyPr/>
          <a:lstStyle/>
          <a:p>
            <a:fld id="{1F90CC02-9A9E-8749-B188-DF0238720493}" type="slidenum">
              <a:rPr lang="en-US" smtClean="0"/>
              <a:t>96</a:t>
            </a:fld>
            <a:endParaRPr lang="en-US"/>
          </a:p>
        </p:txBody>
      </p:sp>
    </p:spTree>
    <p:extLst>
      <p:ext uri="{BB962C8B-B14F-4D97-AF65-F5344CB8AC3E}">
        <p14:creationId xmlns:p14="http://schemas.microsoft.com/office/powerpoint/2010/main" val="344416616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627D2-D3C0-B140-6925-8F16386C69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D659F1-4D42-7974-1416-21458D4A69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B6896B-55FE-965A-4A52-78558CCFC44B}"/>
              </a:ext>
            </a:extLst>
          </p:cNvPr>
          <p:cNvSpPr>
            <a:spLocks noGrp="1"/>
          </p:cNvSpPr>
          <p:nvPr>
            <p:ph type="body" idx="1"/>
          </p:nvPr>
        </p:nvSpPr>
        <p:spPr/>
        <p:txBody>
          <a:bodyPr/>
          <a:lstStyle/>
          <a:p>
            <a:r>
              <a:rPr lang="en-US" dirty="0"/>
              <a:t>Both the common grid and native resolution are after converting to EPSG:5070. 500 m common grid then additionally resamples all fire products to a common grid of 500 m pixels.</a:t>
            </a:r>
          </a:p>
        </p:txBody>
      </p:sp>
      <p:sp>
        <p:nvSpPr>
          <p:cNvPr id="4" name="Slide Number Placeholder 3">
            <a:extLst>
              <a:ext uri="{FF2B5EF4-FFF2-40B4-BE49-F238E27FC236}">
                <a16:creationId xmlns:a16="http://schemas.microsoft.com/office/drawing/2014/main" id="{91963625-7F4D-F745-7569-701C6898EE18}"/>
              </a:ext>
            </a:extLst>
          </p:cNvPr>
          <p:cNvSpPr>
            <a:spLocks noGrp="1"/>
          </p:cNvSpPr>
          <p:nvPr>
            <p:ph type="sldNum" sz="quarter" idx="5"/>
          </p:nvPr>
        </p:nvSpPr>
        <p:spPr/>
        <p:txBody>
          <a:bodyPr/>
          <a:lstStyle/>
          <a:p>
            <a:fld id="{1F90CC02-9A9E-8749-B188-DF0238720493}" type="slidenum">
              <a:rPr lang="en-US" smtClean="0"/>
              <a:t>97</a:t>
            </a:fld>
            <a:endParaRPr lang="en-US"/>
          </a:p>
        </p:txBody>
      </p:sp>
    </p:spTree>
    <p:extLst>
      <p:ext uri="{BB962C8B-B14F-4D97-AF65-F5344CB8AC3E}">
        <p14:creationId xmlns:p14="http://schemas.microsoft.com/office/powerpoint/2010/main" val="290739678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DE8B2-0E17-A92C-E5BD-A12F26FE21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F87C31-10BF-D8F4-E6EC-A744D54711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C3F352-EC50-8C59-FBE0-C9D4623FA9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BFE4FF-A89A-DC5A-3E89-17D6AB64B309}"/>
              </a:ext>
            </a:extLst>
          </p:cNvPr>
          <p:cNvSpPr>
            <a:spLocks noGrp="1"/>
          </p:cNvSpPr>
          <p:nvPr>
            <p:ph type="sldNum" sz="quarter" idx="5"/>
          </p:nvPr>
        </p:nvSpPr>
        <p:spPr/>
        <p:txBody>
          <a:bodyPr/>
          <a:lstStyle/>
          <a:p>
            <a:fld id="{1F90CC02-9A9E-8749-B188-DF0238720493}" type="slidenum">
              <a:rPr lang="en-US" smtClean="0"/>
              <a:t>98</a:t>
            </a:fld>
            <a:endParaRPr lang="en-US"/>
          </a:p>
        </p:txBody>
      </p:sp>
    </p:spTree>
    <p:extLst>
      <p:ext uri="{BB962C8B-B14F-4D97-AF65-F5344CB8AC3E}">
        <p14:creationId xmlns:p14="http://schemas.microsoft.com/office/powerpoint/2010/main" val="322163115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December of 2016 had a lot of fire</a:t>
            </a:r>
          </a:p>
        </p:txBody>
      </p:sp>
      <p:sp>
        <p:nvSpPr>
          <p:cNvPr id="4" name="Slide Number Placeholder 3"/>
          <p:cNvSpPr>
            <a:spLocks noGrp="1"/>
          </p:cNvSpPr>
          <p:nvPr>
            <p:ph type="sldNum" sz="quarter" idx="5"/>
          </p:nvPr>
        </p:nvSpPr>
        <p:spPr/>
        <p:txBody>
          <a:bodyPr/>
          <a:lstStyle/>
          <a:p>
            <a:fld id="{1F90CC02-9A9E-8749-B188-DF0238720493}" type="slidenum">
              <a:rPr lang="en-US" smtClean="0"/>
              <a:t>99</a:t>
            </a:fld>
            <a:endParaRPr lang="en-US"/>
          </a:p>
        </p:txBody>
      </p:sp>
    </p:spTree>
    <p:extLst>
      <p:ext uri="{BB962C8B-B14F-4D97-AF65-F5344CB8AC3E}">
        <p14:creationId xmlns:p14="http://schemas.microsoft.com/office/powerpoint/2010/main" val="154371452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C9798-B388-2912-5165-CD750176E3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EB233F-E755-D16E-FF66-BDA3642965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499011-8C5F-CC40-683C-0EB5828AF5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0E3232-3703-D100-EAD4-73D8BEC93CF9}"/>
              </a:ext>
            </a:extLst>
          </p:cNvPr>
          <p:cNvSpPr>
            <a:spLocks noGrp="1"/>
          </p:cNvSpPr>
          <p:nvPr>
            <p:ph type="sldNum" sz="quarter" idx="5"/>
          </p:nvPr>
        </p:nvSpPr>
        <p:spPr/>
        <p:txBody>
          <a:bodyPr/>
          <a:lstStyle/>
          <a:p>
            <a:fld id="{1F90CC02-9A9E-8749-B188-DF0238720493}" type="slidenum">
              <a:rPr lang="en-US" smtClean="0"/>
              <a:t>101</a:t>
            </a:fld>
            <a:endParaRPr lang="en-US"/>
          </a:p>
        </p:txBody>
      </p:sp>
    </p:spTree>
    <p:extLst>
      <p:ext uri="{BB962C8B-B14F-4D97-AF65-F5344CB8AC3E}">
        <p14:creationId xmlns:p14="http://schemas.microsoft.com/office/powerpoint/2010/main" val="3560069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in more detail and show these data tables from vs code. Maybe show one as an example – the big 2008 fire or something. Plot it overlaid on </a:t>
            </a:r>
            <a:r>
              <a:rPr lang="en-US" dirty="0" err="1"/>
              <a:t>nc</a:t>
            </a:r>
            <a:r>
              <a:rPr lang="en-US" dirty="0"/>
              <a:t>. Should be just reading it in and plotting it with </a:t>
            </a:r>
            <a:r>
              <a:rPr lang="en-US" dirty="0" err="1"/>
              <a:t>gpd.plot</a:t>
            </a:r>
            <a:r>
              <a:rPr lang="en-US" dirty="0"/>
              <a:t>(ax=ax), where ax is the same ax as which the </a:t>
            </a:r>
            <a:r>
              <a:rPr lang="en-US" dirty="0" err="1"/>
              <a:t>nc</a:t>
            </a:r>
            <a:r>
              <a:rPr lang="en-US" dirty="0"/>
              <a:t> </a:t>
            </a:r>
            <a:r>
              <a:rPr lang="en-US" dirty="0" err="1"/>
              <a:t>aoi</a:t>
            </a:r>
            <a:r>
              <a:rPr lang="en-US" dirty="0"/>
              <a:t> is plotted on.</a:t>
            </a:r>
          </a:p>
        </p:txBody>
      </p:sp>
      <p:sp>
        <p:nvSpPr>
          <p:cNvPr id="4" name="Slide Number Placeholder 3"/>
          <p:cNvSpPr>
            <a:spLocks noGrp="1"/>
          </p:cNvSpPr>
          <p:nvPr>
            <p:ph type="sldNum" sz="quarter" idx="5"/>
          </p:nvPr>
        </p:nvSpPr>
        <p:spPr/>
        <p:txBody>
          <a:bodyPr/>
          <a:lstStyle/>
          <a:p>
            <a:fld id="{1F90CC02-9A9E-8749-B188-DF0238720493}" type="slidenum">
              <a:rPr lang="en-US" smtClean="0"/>
              <a:t>103</a:t>
            </a:fld>
            <a:endParaRPr lang="en-US"/>
          </a:p>
        </p:txBody>
      </p:sp>
    </p:spTree>
    <p:extLst>
      <p:ext uri="{BB962C8B-B14F-4D97-AF65-F5344CB8AC3E}">
        <p14:creationId xmlns:p14="http://schemas.microsoft.com/office/powerpoint/2010/main" val="4899535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Sorry these are not in the same order across products nor across </a:t>
            </a:r>
            <a:r>
              <a:rPr lang="en-US" dirty="0" err="1"/>
              <a:t>aois</a:t>
            </a:r>
            <a:r>
              <a:rPr lang="en-US" dirty="0"/>
              <a:t>…quick screenshots.</a:t>
            </a:r>
          </a:p>
        </p:txBody>
      </p:sp>
      <p:sp>
        <p:nvSpPr>
          <p:cNvPr id="4" name="Slide Number Placeholder 3"/>
          <p:cNvSpPr>
            <a:spLocks noGrp="1"/>
          </p:cNvSpPr>
          <p:nvPr>
            <p:ph type="sldNum" sz="quarter" idx="5"/>
          </p:nvPr>
        </p:nvSpPr>
        <p:spPr/>
        <p:txBody>
          <a:bodyPr/>
          <a:lstStyle/>
          <a:p>
            <a:fld id="{1F90CC02-9A9E-8749-B188-DF0238720493}" type="slidenum">
              <a:rPr lang="en-US" smtClean="0"/>
              <a:t>108</a:t>
            </a:fld>
            <a:endParaRPr lang="en-US"/>
          </a:p>
        </p:txBody>
      </p:sp>
    </p:spTree>
    <p:extLst>
      <p:ext uri="{BB962C8B-B14F-4D97-AF65-F5344CB8AC3E}">
        <p14:creationId xmlns:p14="http://schemas.microsoft.com/office/powerpoint/2010/main" val="419350323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90CC02-9A9E-8749-B188-DF0238720493}" type="slidenum">
              <a:rPr lang="en-US" smtClean="0"/>
              <a:t>111</a:t>
            </a:fld>
            <a:endParaRPr lang="en-US"/>
          </a:p>
        </p:txBody>
      </p:sp>
    </p:spTree>
    <p:extLst>
      <p:ext uri="{BB962C8B-B14F-4D97-AF65-F5344CB8AC3E}">
        <p14:creationId xmlns:p14="http://schemas.microsoft.com/office/powerpoint/2010/main" val="372888918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90CC02-9A9E-8749-B188-DF0238720493}" type="slidenum">
              <a:rPr lang="en-US" smtClean="0"/>
              <a:t>119</a:t>
            </a:fld>
            <a:endParaRPr lang="en-US"/>
          </a:p>
        </p:txBody>
      </p:sp>
    </p:spTree>
    <p:extLst>
      <p:ext uri="{BB962C8B-B14F-4D97-AF65-F5344CB8AC3E}">
        <p14:creationId xmlns:p14="http://schemas.microsoft.com/office/powerpoint/2010/main" val="104898600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90CC02-9A9E-8749-B188-DF0238720493}" type="slidenum">
              <a:rPr lang="en-US" smtClean="0"/>
              <a:t>120</a:t>
            </a:fld>
            <a:endParaRPr lang="en-US"/>
          </a:p>
        </p:txBody>
      </p:sp>
    </p:spTree>
    <p:extLst>
      <p:ext uri="{BB962C8B-B14F-4D97-AF65-F5344CB8AC3E}">
        <p14:creationId xmlns:p14="http://schemas.microsoft.com/office/powerpoint/2010/main" val="59857233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90CC02-9A9E-8749-B188-DF0238720493}" type="slidenum">
              <a:rPr lang="en-US" smtClean="0"/>
              <a:t>121</a:t>
            </a:fld>
            <a:endParaRPr lang="en-US"/>
          </a:p>
        </p:txBody>
      </p:sp>
    </p:spTree>
    <p:extLst>
      <p:ext uri="{BB962C8B-B14F-4D97-AF65-F5344CB8AC3E}">
        <p14:creationId xmlns:p14="http://schemas.microsoft.com/office/powerpoint/2010/main" val="195657982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90CC02-9A9E-8749-B188-DF0238720493}" type="slidenum">
              <a:rPr lang="en-US" smtClean="0"/>
              <a:t>123</a:t>
            </a:fld>
            <a:endParaRPr lang="en-US"/>
          </a:p>
        </p:txBody>
      </p:sp>
    </p:spTree>
    <p:extLst>
      <p:ext uri="{BB962C8B-B14F-4D97-AF65-F5344CB8AC3E}">
        <p14:creationId xmlns:p14="http://schemas.microsoft.com/office/powerpoint/2010/main" val="21706329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459EA-17AF-7C42-A4AD-2EDCA60E160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8E70103-E1FE-B40A-28CA-9AD03357AC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3BBFC0F-6E21-6297-525F-902129B2BF4C}"/>
              </a:ext>
            </a:extLst>
          </p:cNvPr>
          <p:cNvSpPr>
            <a:spLocks noGrp="1"/>
          </p:cNvSpPr>
          <p:nvPr>
            <p:ph type="dt" sz="half" idx="10"/>
          </p:nvPr>
        </p:nvSpPr>
        <p:spPr/>
        <p:txBody>
          <a:bodyPr/>
          <a:lstStyle/>
          <a:p>
            <a:fld id="{252EF3CB-4B95-DB47-A7FC-BF0F316C02FE}" type="datetimeFigureOut">
              <a:rPr lang="en-US" smtClean="0"/>
              <a:t>9/5/26</a:t>
            </a:fld>
            <a:endParaRPr lang="en-US"/>
          </a:p>
        </p:txBody>
      </p:sp>
      <p:sp>
        <p:nvSpPr>
          <p:cNvPr id="5" name="Footer Placeholder 4">
            <a:extLst>
              <a:ext uri="{FF2B5EF4-FFF2-40B4-BE49-F238E27FC236}">
                <a16:creationId xmlns:a16="http://schemas.microsoft.com/office/drawing/2014/main" id="{CFBBB196-594D-FF86-BC41-56B5ECEB45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2BC582-5E4E-0902-4918-A6371DF2A4F2}"/>
              </a:ext>
            </a:extLst>
          </p:cNvPr>
          <p:cNvSpPr>
            <a:spLocks noGrp="1"/>
          </p:cNvSpPr>
          <p:nvPr>
            <p:ph type="sldNum" sz="quarter" idx="12"/>
          </p:nvPr>
        </p:nvSpPr>
        <p:spPr/>
        <p:txBody>
          <a:bodyPr/>
          <a:lstStyle/>
          <a:p>
            <a:fld id="{B0130B1A-30D5-7648-B678-C7AD3921C3D1}" type="slidenum">
              <a:rPr lang="en-US" smtClean="0"/>
              <a:t>‹#›</a:t>
            </a:fld>
            <a:endParaRPr lang="en-US"/>
          </a:p>
        </p:txBody>
      </p:sp>
    </p:spTree>
    <p:extLst>
      <p:ext uri="{BB962C8B-B14F-4D97-AF65-F5344CB8AC3E}">
        <p14:creationId xmlns:p14="http://schemas.microsoft.com/office/powerpoint/2010/main" val="1473955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A4BE4-8794-1EF6-5E57-31BD74ABAC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1F284A-66FB-C0B8-BF2D-E58593DA63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0C8E14-E0CD-FDA6-830B-900C304ADDD6}"/>
              </a:ext>
            </a:extLst>
          </p:cNvPr>
          <p:cNvSpPr>
            <a:spLocks noGrp="1"/>
          </p:cNvSpPr>
          <p:nvPr>
            <p:ph type="dt" sz="half" idx="10"/>
          </p:nvPr>
        </p:nvSpPr>
        <p:spPr/>
        <p:txBody>
          <a:bodyPr/>
          <a:lstStyle/>
          <a:p>
            <a:fld id="{252EF3CB-4B95-DB47-A7FC-BF0F316C02FE}" type="datetimeFigureOut">
              <a:rPr lang="en-US" smtClean="0"/>
              <a:t>9/5/26</a:t>
            </a:fld>
            <a:endParaRPr lang="en-US"/>
          </a:p>
        </p:txBody>
      </p:sp>
      <p:sp>
        <p:nvSpPr>
          <p:cNvPr id="5" name="Footer Placeholder 4">
            <a:extLst>
              <a:ext uri="{FF2B5EF4-FFF2-40B4-BE49-F238E27FC236}">
                <a16:creationId xmlns:a16="http://schemas.microsoft.com/office/drawing/2014/main" id="{4BE664C0-A4CB-5DE8-F365-C44B3F38AE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12B906-7278-831B-F3AE-99BB7A7B8860}"/>
              </a:ext>
            </a:extLst>
          </p:cNvPr>
          <p:cNvSpPr>
            <a:spLocks noGrp="1"/>
          </p:cNvSpPr>
          <p:nvPr>
            <p:ph type="sldNum" sz="quarter" idx="12"/>
          </p:nvPr>
        </p:nvSpPr>
        <p:spPr/>
        <p:txBody>
          <a:bodyPr/>
          <a:lstStyle/>
          <a:p>
            <a:fld id="{B0130B1A-30D5-7648-B678-C7AD3921C3D1}" type="slidenum">
              <a:rPr lang="en-US" smtClean="0"/>
              <a:t>‹#›</a:t>
            </a:fld>
            <a:endParaRPr lang="en-US"/>
          </a:p>
        </p:txBody>
      </p:sp>
    </p:spTree>
    <p:extLst>
      <p:ext uri="{BB962C8B-B14F-4D97-AF65-F5344CB8AC3E}">
        <p14:creationId xmlns:p14="http://schemas.microsoft.com/office/powerpoint/2010/main" val="21952672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37828-87C5-3650-9641-C68342CF17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7DC9851-F51F-D33C-2482-760AA6B64D6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5C7A1A-1F7C-811B-0027-4277CB03B9CD}"/>
              </a:ext>
            </a:extLst>
          </p:cNvPr>
          <p:cNvSpPr>
            <a:spLocks noGrp="1"/>
          </p:cNvSpPr>
          <p:nvPr>
            <p:ph type="dt" sz="half" idx="10"/>
          </p:nvPr>
        </p:nvSpPr>
        <p:spPr/>
        <p:txBody>
          <a:bodyPr/>
          <a:lstStyle/>
          <a:p>
            <a:fld id="{252EF3CB-4B95-DB47-A7FC-BF0F316C02FE}" type="datetimeFigureOut">
              <a:rPr lang="en-US" smtClean="0"/>
              <a:t>9/5/26</a:t>
            </a:fld>
            <a:endParaRPr lang="en-US"/>
          </a:p>
        </p:txBody>
      </p:sp>
      <p:sp>
        <p:nvSpPr>
          <p:cNvPr id="5" name="Footer Placeholder 4">
            <a:extLst>
              <a:ext uri="{FF2B5EF4-FFF2-40B4-BE49-F238E27FC236}">
                <a16:creationId xmlns:a16="http://schemas.microsoft.com/office/drawing/2014/main" id="{8AE85D01-A9C2-C10E-7F51-DC7ACBE5AA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F1A127-2DED-41E8-C63B-6C5054F1A2B3}"/>
              </a:ext>
            </a:extLst>
          </p:cNvPr>
          <p:cNvSpPr>
            <a:spLocks noGrp="1"/>
          </p:cNvSpPr>
          <p:nvPr>
            <p:ph type="sldNum" sz="quarter" idx="12"/>
          </p:nvPr>
        </p:nvSpPr>
        <p:spPr/>
        <p:txBody>
          <a:bodyPr/>
          <a:lstStyle/>
          <a:p>
            <a:fld id="{B0130B1A-30D5-7648-B678-C7AD3921C3D1}" type="slidenum">
              <a:rPr lang="en-US" smtClean="0"/>
              <a:t>‹#›</a:t>
            </a:fld>
            <a:endParaRPr lang="en-US"/>
          </a:p>
        </p:txBody>
      </p:sp>
    </p:spTree>
    <p:extLst>
      <p:ext uri="{BB962C8B-B14F-4D97-AF65-F5344CB8AC3E}">
        <p14:creationId xmlns:p14="http://schemas.microsoft.com/office/powerpoint/2010/main" val="9680948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3BBD0-7501-60E8-C20A-19F3C14419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A673F4-323D-109A-68AE-0A0D3E5D9C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86CB24E-8E13-03A9-6E53-C7FE814745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6F90A1D-1BB2-1A50-35AC-0F98B7257C43}"/>
              </a:ext>
            </a:extLst>
          </p:cNvPr>
          <p:cNvSpPr>
            <a:spLocks noGrp="1"/>
          </p:cNvSpPr>
          <p:nvPr>
            <p:ph type="dt" sz="half" idx="10"/>
          </p:nvPr>
        </p:nvSpPr>
        <p:spPr/>
        <p:txBody>
          <a:bodyPr/>
          <a:lstStyle/>
          <a:p>
            <a:fld id="{252EF3CB-4B95-DB47-A7FC-BF0F316C02FE}" type="datetimeFigureOut">
              <a:rPr lang="en-US" smtClean="0"/>
              <a:t>9/5/26</a:t>
            </a:fld>
            <a:endParaRPr lang="en-US"/>
          </a:p>
        </p:txBody>
      </p:sp>
      <p:sp>
        <p:nvSpPr>
          <p:cNvPr id="6" name="Footer Placeholder 5">
            <a:extLst>
              <a:ext uri="{FF2B5EF4-FFF2-40B4-BE49-F238E27FC236}">
                <a16:creationId xmlns:a16="http://schemas.microsoft.com/office/drawing/2014/main" id="{3A20DABB-C1DC-63E5-D107-87C8F9E3FB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733CEF-7F9E-26E2-2226-70D6214319BC}"/>
              </a:ext>
            </a:extLst>
          </p:cNvPr>
          <p:cNvSpPr>
            <a:spLocks noGrp="1"/>
          </p:cNvSpPr>
          <p:nvPr>
            <p:ph type="sldNum" sz="quarter" idx="12"/>
          </p:nvPr>
        </p:nvSpPr>
        <p:spPr/>
        <p:txBody>
          <a:bodyPr/>
          <a:lstStyle/>
          <a:p>
            <a:fld id="{B0130B1A-30D5-7648-B678-C7AD3921C3D1}" type="slidenum">
              <a:rPr lang="en-US" smtClean="0"/>
              <a:t>‹#›</a:t>
            </a:fld>
            <a:endParaRPr lang="en-US"/>
          </a:p>
        </p:txBody>
      </p:sp>
    </p:spTree>
    <p:extLst>
      <p:ext uri="{BB962C8B-B14F-4D97-AF65-F5344CB8AC3E}">
        <p14:creationId xmlns:p14="http://schemas.microsoft.com/office/powerpoint/2010/main" val="2576185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D7738-1C2F-C2D2-B450-62425A0401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A6A260-D41A-0C73-FCD6-7A7882E0D0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362674-606B-EBF2-A24E-2B4B274599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21A0591-CEBA-115F-0DEB-BE3F3C2CB5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711866-099E-D9EB-C6DB-27A0B05B3FB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2E2F624-AECA-215F-69D1-53D01D041190}"/>
              </a:ext>
            </a:extLst>
          </p:cNvPr>
          <p:cNvSpPr>
            <a:spLocks noGrp="1"/>
          </p:cNvSpPr>
          <p:nvPr>
            <p:ph type="dt" sz="half" idx="10"/>
          </p:nvPr>
        </p:nvSpPr>
        <p:spPr/>
        <p:txBody>
          <a:bodyPr/>
          <a:lstStyle/>
          <a:p>
            <a:fld id="{252EF3CB-4B95-DB47-A7FC-BF0F316C02FE}" type="datetimeFigureOut">
              <a:rPr lang="en-US" smtClean="0"/>
              <a:t>9/5/26</a:t>
            </a:fld>
            <a:endParaRPr lang="en-US"/>
          </a:p>
        </p:txBody>
      </p:sp>
      <p:sp>
        <p:nvSpPr>
          <p:cNvPr id="8" name="Footer Placeholder 7">
            <a:extLst>
              <a:ext uri="{FF2B5EF4-FFF2-40B4-BE49-F238E27FC236}">
                <a16:creationId xmlns:a16="http://schemas.microsoft.com/office/drawing/2014/main" id="{80E56037-942D-23F6-5A69-A58003B61E0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F919442-63C0-E60A-8170-7DD135D2B29D}"/>
              </a:ext>
            </a:extLst>
          </p:cNvPr>
          <p:cNvSpPr>
            <a:spLocks noGrp="1"/>
          </p:cNvSpPr>
          <p:nvPr>
            <p:ph type="sldNum" sz="quarter" idx="12"/>
          </p:nvPr>
        </p:nvSpPr>
        <p:spPr/>
        <p:txBody>
          <a:bodyPr/>
          <a:lstStyle/>
          <a:p>
            <a:fld id="{B0130B1A-30D5-7648-B678-C7AD3921C3D1}" type="slidenum">
              <a:rPr lang="en-US" smtClean="0"/>
              <a:t>‹#›</a:t>
            </a:fld>
            <a:endParaRPr lang="en-US"/>
          </a:p>
        </p:txBody>
      </p:sp>
    </p:spTree>
    <p:extLst>
      <p:ext uri="{BB962C8B-B14F-4D97-AF65-F5344CB8AC3E}">
        <p14:creationId xmlns:p14="http://schemas.microsoft.com/office/powerpoint/2010/main" val="4086295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E5C2D-FF07-FD37-2376-B216CC75F06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D99DE8D-AF4B-8C61-9F52-C47EFD39149F}"/>
              </a:ext>
            </a:extLst>
          </p:cNvPr>
          <p:cNvSpPr>
            <a:spLocks noGrp="1"/>
          </p:cNvSpPr>
          <p:nvPr>
            <p:ph type="dt" sz="half" idx="10"/>
          </p:nvPr>
        </p:nvSpPr>
        <p:spPr/>
        <p:txBody>
          <a:bodyPr/>
          <a:lstStyle/>
          <a:p>
            <a:fld id="{252EF3CB-4B95-DB47-A7FC-BF0F316C02FE}" type="datetimeFigureOut">
              <a:rPr lang="en-US" smtClean="0"/>
              <a:t>9/5/26</a:t>
            </a:fld>
            <a:endParaRPr lang="en-US"/>
          </a:p>
        </p:txBody>
      </p:sp>
      <p:sp>
        <p:nvSpPr>
          <p:cNvPr id="4" name="Footer Placeholder 3">
            <a:extLst>
              <a:ext uri="{FF2B5EF4-FFF2-40B4-BE49-F238E27FC236}">
                <a16:creationId xmlns:a16="http://schemas.microsoft.com/office/drawing/2014/main" id="{0A41D3B5-2010-717E-3E64-6B685B30CE6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122D154-5D4E-A5EB-7146-AD3C15604933}"/>
              </a:ext>
            </a:extLst>
          </p:cNvPr>
          <p:cNvSpPr>
            <a:spLocks noGrp="1"/>
          </p:cNvSpPr>
          <p:nvPr>
            <p:ph type="sldNum" sz="quarter" idx="12"/>
          </p:nvPr>
        </p:nvSpPr>
        <p:spPr/>
        <p:txBody>
          <a:bodyPr/>
          <a:lstStyle/>
          <a:p>
            <a:fld id="{B0130B1A-30D5-7648-B678-C7AD3921C3D1}" type="slidenum">
              <a:rPr lang="en-US" smtClean="0"/>
              <a:t>‹#›</a:t>
            </a:fld>
            <a:endParaRPr lang="en-US"/>
          </a:p>
        </p:txBody>
      </p:sp>
    </p:spTree>
    <p:extLst>
      <p:ext uri="{BB962C8B-B14F-4D97-AF65-F5344CB8AC3E}">
        <p14:creationId xmlns:p14="http://schemas.microsoft.com/office/powerpoint/2010/main" val="2898225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D2D3A4-7CF4-E9E9-9784-848997DC75C9}"/>
              </a:ext>
            </a:extLst>
          </p:cNvPr>
          <p:cNvSpPr>
            <a:spLocks noGrp="1"/>
          </p:cNvSpPr>
          <p:nvPr>
            <p:ph type="dt" sz="half" idx="10"/>
          </p:nvPr>
        </p:nvSpPr>
        <p:spPr/>
        <p:txBody>
          <a:bodyPr/>
          <a:lstStyle/>
          <a:p>
            <a:fld id="{252EF3CB-4B95-DB47-A7FC-BF0F316C02FE}" type="datetimeFigureOut">
              <a:rPr lang="en-US" smtClean="0"/>
              <a:t>9/5/26</a:t>
            </a:fld>
            <a:endParaRPr lang="en-US"/>
          </a:p>
        </p:txBody>
      </p:sp>
      <p:sp>
        <p:nvSpPr>
          <p:cNvPr id="3" name="Footer Placeholder 2">
            <a:extLst>
              <a:ext uri="{FF2B5EF4-FFF2-40B4-BE49-F238E27FC236}">
                <a16:creationId xmlns:a16="http://schemas.microsoft.com/office/drawing/2014/main" id="{7F08A195-E26F-E049-506E-4D3ACD88063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948804E-C0CC-EBD2-E554-29EFE31E142F}"/>
              </a:ext>
            </a:extLst>
          </p:cNvPr>
          <p:cNvSpPr>
            <a:spLocks noGrp="1"/>
          </p:cNvSpPr>
          <p:nvPr>
            <p:ph type="sldNum" sz="quarter" idx="12"/>
          </p:nvPr>
        </p:nvSpPr>
        <p:spPr/>
        <p:txBody>
          <a:bodyPr/>
          <a:lstStyle/>
          <a:p>
            <a:fld id="{B0130B1A-30D5-7648-B678-C7AD3921C3D1}" type="slidenum">
              <a:rPr lang="en-US" smtClean="0"/>
              <a:t>‹#›</a:t>
            </a:fld>
            <a:endParaRPr lang="en-US"/>
          </a:p>
        </p:txBody>
      </p:sp>
    </p:spTree>
    <p:extLst>
      <p:ext uri="{BB962C8B-B14F-4D97-AF65-F5344CB8AC3E}">
        <p14:creationId xmlns:p14="http://schemas.microsoft.com/office/powerpoint/2010/main" val="2991705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1F95B-12A5-BAAE-8E7C-C638724119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212DE97-2881-2881-1EE2-ABE656E485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A935995-0991-216F-EDC4-F05DEFE343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767C22-19C9-CA35-733D-56F744E5CB09}"/>
              </a:ext>
            </a:extLst>
          </p:cNvPr>
          <p:cNvSpPr>
            <a:spLocks noGrp="1"/>
          </p:cNvSpPr>
          <p:nvPr>
            <p:ph type="dt" sz="half" idx="10"/>
          </p:nvPr>
        </p:nvSpPr>
        <p:spPr/>
        <p:txBody>
          <a:bodyPr/>
          <a:lstStyle/>
          <a:p>
            <a:fld id="{252EF3CB-4B95-DB47-A7FC-BF0F316C02FE}" type="datetimeFigureOut">
              <a:rPr lang="en-US" smtClean="0"/>
              <a:t>9/5/26</a:t>
            </a:fld>
            <a:endParaRPr lang="en-US"/>
          </a:p>
        </p:txBody>
      </p:sp>
      <p:sp>
        <p:nvSpPr>
          <p:cNvPr id="6" name="Footer Placeholder 5">
            <a:extLst>
              <a:ext uri="{FF2B5EF4-FFF2-40B4-BE49-F238E27FC236}">
                <a16:creationId xmlns:a16="http://schemas.microsoft.com/office/drawing/2014/main" id="{2C7B2224-8C4C-C7D7-FEFA-EE04CD418E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8AC1CF-3401-96FD-C826-6D0FA56E0FF2}"/>
              </a:ext>
            </a:extLst>
          </p:cNvPr>
          <p:cNvSpPr>
            <a:spLocks noGrp="1"/>
          </p:cNvSpPr>
          <p:nvPr>
            <p:ph type="sldNum" sz="quarter" idx="12"/>
          </p:nvPr>
        </p:nvSpPr>
        <p:spPr/>
        <p:txBody>
          <a:bodyPr/>
          <a:lstStyle/>
          <a:p>
            <a:fld id="{B0130B1A-30D5-7648-B678-C7AD3921C3D1}" type="slidenum">
              <a:rPr lang="en-US" smtClean="0"/>
              <a:t>‹#›</a:t>
            </a:fld>
            <a:endParaRPr lang="en-US"/>
          </a:p>
        </p:txBody>
      </p:sp>
    </p:spTree>
    <p:extLst>
      <p:ext uri="{BB962C8B-B14F-4D97-AF65-F5344CB8AC3E}">
        <p14:creationId xmlns:p14="http://schemas.microsoft.com/office/powerpoint/2010/main" val="7306695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85E81-AA37-2122-8999-EE2D111648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0F62300-F528-88F5-35B5-6C3AD029D8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0D2C080-763A-CDEB-3F6C-E92A02C607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0EE0F8-B9FF-9996-51FF-5F130A443759}"/>
              </a:ext>
            </a:extLst>
          </p:cNvPr>
          <p:cNvSpPr>
            <a:spLocks noGrp="1"/>
          </p:cNvSpPr>
          <p:nvPr>
            <p:ph type="dt" sz="half" idx="10"/>
          </p:nvPr>
        </p:nvSpPr>
        <p:spPr/>
        <p:txBody>
          <a:bodyPr/>
          <a:lstStyle/>
          <a:p>
            <a:fld id="{252EF3CB-4B95-DB47-A7FC-BF0F316C02FE}" type="datetimeFigureOut">
              <a:rPr lang="en-US" smtClean="0"/>
              <a:t>9/5/26</a:t>
            </a:fld>
            <a:endParaRPr lang="en-US"/>
          </a:p>
        </p:txBody>
      </p:sp>
      <p:sp>
        <p:nvSpPr>
          <p:cNvPr id="6" name="Footer Placeholder 5">
            <a:extLst>
              <a:ext uri="{FF2B5EF4-FFF2-40B4-BE49-F238E27FC236}">
                <a16:creationId xmlns:a16="http://schemas.microsoft.com/office/drawing/2014/main" id="{6F108C4E-B205-06CA-166B-5313FA491C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EC04F7-3099-A435-A9A5-6700F5AD1C45}"/>
              </a:ext>
            </a:extLst>
          </p:cNvPr>
          <p:cNvSpPr>
            <a:spLocks noGrp="1"/>
          </p:cNvSpPr>
          <p:nvPr>
            <p:ph type="sldNum" sz="quarter" idx="12"/>
          </p:nvPr>
        </p:nvSpPr>
        <p:spPr/>
        <p:txBody>
          <a:bodyPr/>
          <a:lstStyle/>
          <a:p>
            <a:fld id="{B0130B1A-30D5-7648-B678-C7AD3921C3D1}" type="slidenum">
              <a:rPr lang="en-US" smtClean="0"/>
              <a:t>‹#›</a:t>
            </a:fld>
            <a:endParaRPr lang="en-US"/>
          </a:p>
        </p:txBody>
      </p:sp>
    </p:spTree>
    <p:extLst>
      <p:ext uri="{BB962C8B-B14F-4D97-AF65-F5344CB8AC3E}">
        <p14:creationId xmlns:p14="http://schemas.microsoft.com/office/powerpoint/2010/main" val="3425690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C6A05-8DCF-5474-9340-C09DE145D11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384FA09-ADB6-3972-A122-8F1C1174A21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6EC085-3320-9F58-6C6C-4BAFBF0834C0}"/>
              </a:ext>
            </a:extLst>
          </p:cNvPr>
          <p:cNvSpPr>
            <a:spLocks noGrp="1"/>
          </p:cNvSpPr>
          <p:nvPr>
            <p:ph type="dt" sz="half" idx="10"/>
          </p:nvPr>
        </p:nvSpPr>
        <p:spPr/>
        <p:txBody>
          <a:bodyPr/>
          <a:lstStyle/>
          <a:p>
            <a:fld id="{252EF3CB-4B95-DB47-A7FC-BF0F316C02FE}" type="datetimeFigureOut">
              <a:rPr lang="en-US" smtClean="0"/>
              <a:t>9/5/26</a:t>
            </a:fld>
            <a:endParaRPr lang="en-US"/>
          </a:p>
        </p:txBody>
      </p:sp>
      <p:sp>
        <p:nvSpPr>
          <p:cNvPr id="5" name="Footer Placeholder 4">
            <a:extLst>
              <a:ext uri="{FF2B5EF4-FFF2-40B4-BE49-F238E27FC236}">
                <a16:creationId xmlns:a16="http://schemas.microsoft.com/office/drawing/2014/main" id="{B99542A8-5270-F017-83E5-AA2EDB4D65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ADA310-93B4-EC5F-AC68-F85FB12A4583}"/>
              </a:ext>
            </a:extLst>
          </p:cNvPr>
          <p:cNvSpPr>
            <a:spLocks noGrp="1"/>
          </p:cNvSpPr>
          <p:nvPr>
            <p:ph type="sldNum" sz="quarter" idx="12"/>
          </p:nvPr>
        </p:nvSpPr>
        <p:spPr/>
        <p:txBody>
          <a:bodyPr/>
          <a:lstStyle/>
          <a:p>
            <a:fld id="{B0130B1A-30D5-7648-B678-C7AD3921C3D1}" type="slidenum">
              <a:rPr lang="en-US" smtClean="0"/>
              <a:t>‹#›</a:t>
            </a:fld>
            <a:endParaRPr lang="en-US"/>
          </a:p>
        </p:txBody>
      </p:sp>
    </p:spTree>
    <p:extLst>
      <p:ext uri="{BB962C8B-B14F-4D97-AF65-F5344CB8AC3E}">
        <p14:creationId xmlns:p14="http://schemas.microsoft.com/office/powerpoint/2010/main" val="19123513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D85EA1-128F-C3C0-C29D-1DDD37D45E8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64A493-D481-912F-F171-4E42F15779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A26FE9-4F8D-1E32-2E22-2EB2D54C0BF5}"/>
              </a:ext>
            </a:extLst>
          </p:cNvPr>
          <p:cNvSpPr>
            <a:spLocks noGrp="1"/>
          </p:cNvSpPr>
          <p:nvPr>
            <p:ph type="dt" sz="half" idx="10"/>
          </p:nvPr>
        </p:nvSpPr>
        <p:spPr/>
        <p:txBody>
          <a:bodyPr/>
          <a:lstStyle/>
          <a:p>
            <a:fld id="{252EF3CB-4B95-DB47-A7FC-BF0F316C02FE}" type="datetimeFigureOut">
              <a:rPr lang="en-US" smtClean="0"/>
              <a:t>9/5/26</a:t>
            </a:fld>
            <a:endParaRPr lang="en-US"/>
          </a:p>
        </p:txBody>
      </p:sp>
      <p:sp>
        <p:nvSpPr>
          <p:cNvPr id="5" name="Footer Placeholder 4">
            <a:extLst>
              <a:ext uri="{FF2B5EF4-FFF2-40B4-BE49-F238E27FC236}">
                <a16:creationId xmlns:a16="http://schemas.microsoft.com/office/drawing/2014/main" id="{CC069E9F-9345-AF5B-4959-5126EE0711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1772C8-952B-D43D-ECA2-162E470B98C4}"/>
              </a:ext>
            </a:extLst>
          </p:cNvPr>
          <p:cNvSpPr>
            <a:spLocks noGrp="1"/>
          </p:cNvSpPr>
          <p:nvPr>
            <p:ph type="sldNum" sz="quarter" idx="12"/>
          </p:nvPr>
        </p:nvSpPr>
        <p:spPr/>
        <p:txBody>
          <a:bodyPr/>
          <a:lstStyle/>
          <a:p>
            <a:fld id="{B0130B1A-30D5-7648-B678-C7AD3921C3D1}" type="slidenum">
              <a:rPr lang="en-US" smtClean="0"/>
              <a:t>‹#›</a:t>
            </a:fld>
            <a:endParaRPr lang="en-US"/>
          </a:p>
        </p:txBody>
      </p:sp>
    </p:spTree>
    <p:extLst>
      <p:ext uri="{BB962C8B-B14F-4D97-AF65-F5344CB8AC3E}">
        <p14:creationId xmlns:p14="http://schemas.microsoft.com/office/powerpoint/2010/main" val="34638290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2577E1-8292-B312-EE30-B5513C9833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1C94D7B-E740-5755-A7F5-CBDF45A427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0937C7-11F8-B196-E9C6-41257B1ED6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52EF3CB-4B95-DB47-A7FC-BF0F316C02FE}" type="datetimeFigureOut">
              <a:rPr lang="en-US" smtClean="0"/>
              <a:t>9/5/26</a:t>
            </a:fld>
            <a:endParaRPr lang="en-US"/>
          </a:p>
        </p:txBody>
      </p:sp>
      <p:sp>
        <p:nvSpPr>
          <p:cNvPr id="5" name="Footer Placeholder 4">
            <a:extLst>
              <a:ext uri="{FF2B5EF4-FFF2-40B4-BE49-F238E27FC236}">
                <a16:creationId xmlns:a16="http://schemas.microsoft.com/office/drawing/2014/main" id="{107FA8C9-718C-5BA3-2AC3-B0F2BDF540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BBEF5E6-4DBB-9EF1-A66D-3B95CF77D1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0130B1A-30D5-7648-B678-C7AD3921C3D1}" type="slidenum">
              <a:rPr lang="en-US" smtClean="0"/>
              <a:t>‹#›</a:t>
            </a:fld>
            <a:endParaRPr lang="en-US"/>
          </a:p>
        </p:txBody>
      </p:sp>
    </p:spTree>
    <p:extLst>
      <p:ext uri="{BB962C8B-B14F-4D97-AF65-F5344CB8AC3E}">
        <p14:creationId xmlns:p14="http://schemas.microsoft.com/office/powerpoint/2010/main" val="41104194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2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_rels/slide2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3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3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3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70.png"/><Relationship Id="rId4" Type="http://schemas.openxmlformats.org/officeDocument/2006/relationships/image" Target="../media/image6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23.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99.png"/><Relationship Id="rId4" Type="http://schemas.openxmlformats.org/officeDocument/2006/relationships/image" Target="../media/image98.png"/></Relationships>
</file>

<file path=ppt/slides/_rels/slide76.xml.rels><?xml version="1.0" encoding="UTF-8" standalone="yes"?>
<Relationships xmlns="http://schemas.openxmlformats.org/package/2006/relationships"><Relationship Id="rId3" Type="http://schemas.microsoft.com/office/2018/10/relationships/comments" Target="../comments/modernComment_133_A8D69841.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image" Target="../media/image100.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105.png"/><Relationship Id="rId4" Type="http://schemas.openxmlformats.org/officeDocument/2006/relationships/image" Target="../media/image104.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8" Type="http://schemas.openxmlformats.org/officeDocument/2006/relationships/image" Target="../media/image114.png"/><Relationship Id="rId3" Type="http://schemas.openxmlformats.org/officeDocument/2006/relationships/image" Target="../media/image109.png"/><Relationship Id="rId7" Type="http://schemas.openxmlformats.org/officeDocument/2006/relationships/image" Target="../media/image113.png"/><Relationship Id="rId2" Type="http://schemas.openxmlformats.org/officeDocument/2006/relationships/image" Target="../media/image108.png"/><Relationship Id="rId1" Type="http://schemas.openxmlformats.org/officeDocument/2006/relationships/slideLayout" Target="../slideLayouts/slideLayout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image110.png"/></Relationships>
</file>

<file path=ppt/slides/_rels/slide83.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128.png"/></Relationships>
</file>

<file path=ppt/slides/_rels/slide97.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131.png"/><Relationship Id="rId4" Type="http://schemas.openxmlformats.org/officeDocument/2006/relationships/image" Target="../media/image130.png"/></Relationships>
</file>

<file path=ppt/slides/_rels/slide98.xml.rels><?xml version="1.0" encoding="UTF-8" standalone="yes"?>
<Relationships xmlns="http://schemas.openxmlformats.org/package/2006/relationships"><Relationship Id="rId3" Type="http://schemas.openxmlformats.org/officeDocument/2006/relationships/image" Target="../media/image132.png"/><Relationship Id="rId7" Type="http://schemas.openxmlformats.org/officeDocument/2006/relationships/image" Target="../media/image136.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135.png"/><Relationship Id="rId5" Type="http://schemas.openxmlformats.org/officeDocument/2006/relationships/image" Target="../media/image134.png"/><Relationship Id="rId4" Type="http://schemas.openxmlformats.org/officeDocument/2006/relationships/image" Target="../media/image133.png"/></Relationships>
</file>

<file path=ppt/slides/_rels/slide99.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138.png"/><Relationship Id="rId4" Type="http://schemas.openxmlformats.org/officeDocument/2006/relationships/image" Target="../media/image135.png"/></Relationships>
</file>

<file path=ppt/slides/_rels/slide100.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142.png"/><Relationship Id="rId4" Type="http://schemas.openxmlformats.org/officeDocument/2006/relationships/image" Target="../media/image14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slideLayout" Target="../slideLayouts/slideLayout2.xml"/><Relationship Id="rId5" Type="http://schemas.openxmlformats.org/officeDocument/2006/relationships/image" Target="../media/image146.png"/><Relationship Id="rId4" Type="http://schemas.openxmlformats.org/officeDocument/2006/relationships/image" Target="../media/image145.png"/></Relationships>
</file>

<file path=ppt/slides/_rels/slide105.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147.png"/><Relationship Id="rId1" Type="http://schemas.openxmlformats.org/officeDocument/2006/relationships/slideLayout" Target="../slideLayouts/slideLayout2.xml"/><Relationship Id="rId4" Type="http://schemas.openxmlformats.org/officeDocument/2006/relationships/image" Target="../media/image149.png"/></Relationships>
</file>

<file path=ppt/slides/_rels/slide106.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image" Target="../media/image150.png"/><Relationship Id="rId1" Type="http://schemas.openxmlformats.org/officeDocument/2006/relationships/slideLayout" Target="../slideLayouts/slideLayout2.xml"/><Relationship Id="rId4" Type="http://schemas.openxmlformats.org/officeDocument/2006/relationships/image" Target="../media/image152.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156.png"/><Relationship Id="rId5" Type="http://schemas.openxmlformats.org/officeDocument/2006/relationships/image" Target="../media/image155.png"/><Relationship Id="rId4" Type="http://schemas.openxmlformats.org/officeDocument/2006/relationships/image" Target="../media/image154.png"/></Relationships>
</file>

<file path=ppt/slides/_rels/slide109.xml.rels><?xml version="1.0" encoding="UTF-8" standalone="yes"?>
<Relationships xmlns="http://schemas.openxmlformats.org/package/2006/relationships"><Relationship Id="rId2" Type="http://schemas.openxmlformats.org/officeDocument/2006/relationships/image" Target="../media/image157.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161.png"/><Relationship Id="rId5" Type="http://schemas.openxmlformats.org/officeDocument/2006/relationships/image" Target="../media/image160.png"/><Relationship Id="rId4" Type="http://schemas.openxmlformats.org/officeDocument/2006/relationships/image" Target="../media/image159.png"/></Relationships>
</file>

<file path=ppt/slides/_rels/slide112.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image" Target="../media/image163.png"/><Relationship Id="rId1" Type="http://schemas.openxmlformats.org/officeDocument/2006/relationships/slideLayout" Target="../slideLayouts/slideLayout2.xml"/><Relationship Id="rId6" Type="http://schemas.openxmlformats.org/officeDocument/2006/relationships/image" Target="../media/image167.png"/><Relationship Id="rId5" Type="http://schemas.openxmlformats.org/officeDocument/2006/relationships/image" Target="../media/image166.png"/><Relationship Id="rId4" Type="http://schemas.openxmlformats.org/officeDocument/2006/relationships/image" Target="../media/image165.png"/></Relationships>
</file>

<file path=ppt/slides/_rels/slide114.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image" Target="../media/image168.png"/><Relationship Id="rId1" Type="http://schemas.openxmlformats.org/officeDocument/2006/relationships/slideLayout" Target="../slideLayouts/slideLayout2.xml"/><Relationship Id="rId5" Type="http://schemas.openxmlformats.org/officeDocument/2006/relationships/image" Target="../media/image171.png"/><Relationship Id="rId4" Type="http://schemas.openxmlformats.org/officeDocument/2006/relationships/image" Target="../media/image170.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173.png"/></Relationships>
</file>

<file path=ppt/slides/_rels/slide120.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175.png"/></Relationships>
</file>

<file path=ppt/slides/_rels/slide121.xml.rels><?xml version="1.0" encoding="UTF-8" standalone="yes"?>
<Relationships xmlns="http://schemas.openxmlformats.org/package/2006/relationships"><Relationship Id="rId3" Type="http://schemas.openxmlformats.org/officeDocument/2006/relationships/image" Target="../media/image176.png"/><Relationship Id="rId7" Type="http://schemas.openxmlformats.org/officeDocument/2006/relationships/image" Target="../media/image180.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179.png"/><Relationship Id="rId5" Type="http://schemas.openxmlformats.org/officeDocument/2006/relationships/image" Target="../media/image178.png"/><Relationship Id="rId4" Type="http://schemas.openxmlformats.org/officeDocument/2006/relationships/image" Target="../media/image177.png"/></Relationships>
</file>

<file path=ppt/slides/_rels/slide122.xml.rels><?xml version="1.0" encoding="UTF-8" standalone="yes"?>
<Relationships xmlns="http://schemas.openxmlformats.org/package/2006/relationships"><Relationship Id="rId2" Type="http://schemas.openxmlformats.org/officeDocument/2006/relationships/image" Target="../media/image181.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notesSlide" Target="../notesSlides/notesSlide47.xml"/><Relationship Id="rId1" Type="http://schemas.openxmlformats.org/officeDocument/2006/relationships/slideLayout" Target="../slideLayouts/slideLayout2.xml"/><Relationship Id="rId5" Type="http://schemas.openxmlformats.org/officeDocument/2006/relationships/image" Target="../media/image184.png"/><Relationship Id="rId4" Type="http://schemas.openxmlformats.org/officeDocument/2006/relationships/image" Target="../media/image183.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86.png"/><Relationship Id="rId2" Type="http://schemas.openxmlformats.org/officeDocument/2006/relationships/image" Target="../media/image185.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D3A56-068A-531A-D1CB-8E558F8A70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3277BE-23C9-96B1-D945-9C7D191514B3}"/>
              </a:ext>
            </a:extLst>
          </p:cNvPr>
          <p:cNvSpPr>
            <a:spLocks noGrp="1"/>
          </p:cNvSpPr>
          <p:nvPr>
            <p:ph type="ctrTitle"/>
          </p:nvPr>
        </p:nvSpPr>
        <p:spPr/>
        <p:txBody>
          <a:bodyPr/>
          <a:lstStyle/>
          <a:p>
            <a:r>
              <a:rPr lang="en-US" dirty="0"/>
              <a:t>8/11/26</a:t>
            </a:r>
          </a:p>
        </p:txBody>
      </p:sp>
      <p:sp>
        <p:nvSpPr>
          <p:cNvPr id="3" name="Subtitle 2">
            <a:extLst>
              <a:ext uri="{FF2B5EF4-FFF2-40B4-BE49-F238E27FC236}">
                <a16:creationId xmlns:a16="http://schemas.microsoft.com/office/drawing/2014/main" id="{844E8D23-739E-2168-EE79-2A22EB31C1EC}"/>
              </a:ext>
            </a:extLst>
          </p:cNvPr>
          <p:cNvSpPr>
            <a:spLocks noGrp="1"/>
          </p:cNvSpPr>
          <p:nvPr>
            <p:ph type="subTitle" idx="1"/>
          </p:nvPr>
        </p:nvSpPr>
        <p:spPr>
          <a:xfrm>
            <a:off x="1524000" y="3765811"/>
            <a:ext cx="9144000" cy="1655762"/>
          </a:xfrm>
        </p:spPr>
        <p:txBody>
          <a:bodyPr>
            <a:normAutofit fontScale="77500" lnSpcReduction="20000"/>
          </a:bodyPr>
          <a:lstStyle/>
          <a:p>
            <a:r>
              <a:rPr lang="en-US" dirty="0"/>
              <a:t>Run modeling pipeline on multiple burned area products (MCD64A1 and FireCCIS311)</a:t>
            </a:r>
          </a:p>
          <a:p>
            <a:r>
              <a:rPr lang="en-US" dirty="0"/>
              <a:t>Add drainage and land cover as covariates</a:t>
            </a:r>
          </a:p>
          <a:p>
            <a:r>
              <a:rPr lang="en-US" dirty="0"/>
              <a:t>Look at relationship between burned area and covariates individually</a:t>
            </a:r>
          </a:p>
          <a:p>
            <a:r>
              <a:rPr lang="en-US" dirty="0"/>
              <a:t>Cluster Average Treatment Effect on the Treated standard errors by treatment site, rather than by pixel</a:t>
            </a:r>
          </a:p>
          <a:p>
            <a:endParaRPr lang="en-US" dirty="0"/>
          </a:p>
        </p:txBody>
      </p:sp>
    </p:spTree>
    <p:extLst>
      <p:ext uri="{BB962C8B-B14F-4D97-AF65-F5344CB8AC3E}">
        <p14:creationId xmlns:p14="http://schemas.microsoft.com/office/powerpoint/2010/main" val="17600854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074C6-491B-9FFA-1E6D-FF99809234A3}"/>
              </a:ext>
            </a:extLst>
          </p:cNvPr>
          <p:cNvSpPr>
            <a:spLocks noGrp="1"/>
          </p:cNvSpPr>
          <p:nvPr>
            <p:ph type="ctrTitle"/>
          </p:nvPr>
        </p:nvSpPr>
        <p:spPr/>
        <p:txBody>
          <a:bodyPr>
            <a:normAutofit fontScale="90000"/>
          </a:bodyPr>
          <a:lstStyle/>
          <a:p>
            <a:r>
              <a:rPr lang="en-US" dirty="0"/>
              <a:t>MCD64A1 vs FireCCIS311 modeling results (before adding in drainage, land cover, site-level SE clustering…)</a:t>
            </a:r>
          </a:p>
        </p:txBody>
      </p:sp>
      <p:sp>
        <p:nvSpPr>
          <p:cNvPr id="3" name="Subtitle 2">
            <a:extLst>
              <a:ext uri="{FF2B5EF4-FFF2-40B4-BE49-F238E27FC236}">
                <a16:creationId xmlns:a16="http://schemas.microsoft.com/office/drawing/2014/main" id="{00377210-432D-97EC-FA57-C5FEE2803B92}"/>
              </a:ext>
            </a:extLst>
          </p:cNvPr>
          <p:cNvSpPr>
            <a:spLocks noGrp="1"/>
          </p:cNvSpPr>
          <p:nvPr>
            <p:ph type="subTitle" idx="1"/>
          </p:nvPr>
        </p:nvSpPr>
        <p:spPr/>
        <p:txBody>
          <a:bodyPr/>
          <a:lstStyle/>
          <a:p>
            <a:r>
              <a:rPr lang="en-US" dirty="0"/>
              <a:t>Projected onto 300m common grid</a:t>
            </a:r>
          </a:p>
        </p:txBody>
      </p:sp>
    </p:spTree>
    <p:extLst>
      <p:ext uri="{BB962C8B-B14F-4D97-AF65-F5344CB8AC3E}">
        <p14:creationId xmlns:p14="http://schemas.microsoft.com/office/powerpoint/2010/main" val="2224348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1704E-9E0B-44C7-8158-BA591094B809}"/>
              </a:ext>
            </a:extLst>
          </p:cNvPr>
          <p:cNvSpPr>
            <a:spLocks noGrp="1"/>
          </p:cNvSpPr>
          <p:nvPr>
            <p:ph type="title"/>
          </p:nvPr>
        </p:nvSpPr>
        <p:spPr>
          <a:xfrm>
            <a:off x="0" y="-225300"/>
            <a:ext cx="10515600" cy="1325563"/>
          </a:xfrm>
        </p:spPr>
        <p:txBody>
          <a:bodyPr>
            <a:normAutofit/>
          </a:bodyPr>
          <a:lstStyle/>
          <a:p>
            <a:r>
              <a:rPr lang="en-US" sz="3600" dirty="0"/>
              <a:t>Raw burn rate over NC peat (both on 300m grid)</a:t>
            </a:r>
          </a:p>
        </p:txBody>
      </p:sp>
      <p:pic>
        <p:nvPicPr>
          <p:cNvPr id="5" name="Picture 4">
            <a:extLst>
              <a:ext uri="{FF2B5EF4-FFF2-40B4-BE49-F238E27FC236}">
                <a16:creationId xmlns:a16="http://schemas.microsoft.com/office/drawing/2014/main" id="{E5D26152-3AF3-C515-6066-BFF8BE26DAFE}"/>
              </a:ext>
            </a:extLst>
          </p:cNvPr>
          <p:cNvPicPr>
            <a:picLocks noChangeAspect="1"/>
          </p:cNvPicPr>
          <p:nvPr/>
        </p:nvPicPr>
        <p:blipFill>
          <a:blip r:embed="rId3"/>
          <a:stretch>
            <a:fillRect/>
          </a:stretch>
        </p:blipFill>
        <p:spPr>
          <a:xfrm>
            <a:off x="718456" y="1192694"/>
            <a:ext cx="4436146" cy="2743200"/>
          </a:xfrm>
          <a:prstGeom prst="rect">
            <a:avLst/>
          </a:prstGeom>
        </p:spPr>
      </p:pic>
      <p:pic>
        <p:nvPicPr>
          <p:cNvPr id="7" name="Picture 6">
            <a:extLst>
              <a:ext uri="{FF2B5EF4-FFF2-40B4-BE49-F238E27FC236}">
                <a16:creationId xmlns:a16="http://schemas.microsoft.com/office/drawing/2014/main" id="{51A9467F-E816-6655-DDC2-2B471C65D54F}"/>
              </a:ext>
            </a:extLst>
          </p:cNvPr>
          <p:cNvPicPr>
            <a:picLocks noChangeAspect="1"/>
          </p:cNvPicPr>
          <p:nvPr/>
        </p:nvPicPr>
        <p:blipFill>
          <a:blip r:embed="rId4"/>
          <a:stretch>
            <a:fillRect/>
          </a:stretch>
        </p:blipFill>
        <p:spPr>
          <a:xfrm>
            <a:off x="718456" y="4028325"/>
            <a:ext cx="4436146" cy="2743200"/>
          </a:xfrm>
          <a:prstGeom prst="rect">
            <a:avLst/>
          </a:prstGeom>
        </p:spPr>
      </p:pic>
      <p:pic>
        <p:nvPicPr>
          <p:cNvPr id="9" name="Picture 8">
            <a:extLst>
              <a:ext uri="{FF2B5EF4-FFF2-40B4-BE49-F238E27FC236}">
                <a16:creationId xmlns:a16="http://schemas.microsoft.com/office/drawing/2014/main" id="{7A0E25A8-C087-1FDA-5FE1-633DECF473EA}"/>
              </a:ext>
            </a:extLst>
          </p:cNvPr>
          <p:cNvPicPr>
            <a:picLocks noChangeAspect="1"/>
          </p:cNvPicPr>
          <p:nvPr/>
        </p:nvPicPr>
        <p:blipFill>
          <a:blip r:embed="rId5"/>
          <a:stretch>
            <a:fillRect/>
          </a:stretch>
        </p:blipFill>
        <p:spPr>
          <a:xfrm>
            <a:off x="6950314" y="1192694"/>
            <a:ext cx="4436146" cy="2743200"/>
          </a:xfrm>
          <a:prstGeom prst="rect">
            <a:avLst/>
          </a:prstGeom>
        </p:spPr>
      </p:pic>
      <p:pic>
        <p:nvPicPr>
          <p:cNvPr id="11" name="Picture 10">
            <a:extLst>
              <a:ext uri="{FF2B5EF4-FFF2-40B4-BE49-F238E27FC236}">
                <a16:creationId xmlns:a16="http://schemas.microsoft.com/office/drawing/2014/main" id="{A81C6C84-E197-856E-E486-752BB242F2CF}"/>
              </a:ext>
            </a:extLst>
          </p:cNvPr>
          <p:cNvPicPr>
            <a:picLocks noChangeAspect="1"/>
          </p:cNvPicPr>
          <p:nvPr/>
        </p:nvPicPr>
        <p:blipFill>
          <a:blip r:embed="rId6"/>
          <a:stretch>
            <a:fillRect/>
          </a:stretch>
        </p:blipFill>
        <p:spPr>
          <a:xfrm>
            <a:off x="6950314" y="4017134"/>
            <a:ext cx="4436146" cy="2743200"/>
          </a:xfrm>
          <a:prstGeom prst="rect">
            <a:avLst/>
          </a:prstGeom>
        </p:spPr>
      </p:pic>
      <p:sp>
        <p:nvSpPr>
          <p:cNvPr id="12" name="TextBox 11">
            <a:extLst>
              <a:ext uri="{FF2B5EF4-FFF2-40B4-BE49-F238E27FC236}">
                <a16:creationId xmlns:a16="http://schemas.microsoft.com/office/drawing/2014/main" id="{6FCF61BC-F7E9-00A5-E19D-D28B2C998A60}"/>
              </a:ext>
            </a:extLst>
          </p:cNvPr>
          <p:cNvSpPr txBox="1"/>
          <p:nvPr/>
        </p:nvSpPr>
        <p:spPr>
          <a:xfrm>
            <a:off x="2394857" y="823362"/>
            <a:ext cx="1192955" cy="369332"/>
          </a:xfrm>
          <a:prstGeom prst="rect">
            <a:avLst/>
          </a:prstGeom>
          <a:noFill/>
        </p:spPr>
        <p:txBody>
          <a:bodyPr wrap="none" rtlCol="0">
            <a:spAutoFit/>
          </a:bodyPr>
          <a:lstStyle/>
          <a:p>
            <a:r>
              <a:rPr lang="en-US" dirty="0"/>
              <a:t>MCD64A1</a:t>
            </a:r>
          </a:p>
        </p:txBody>
      </p:sp>
      <p:sp>
        <p:nvSpPr>
          <p:cNvPr id="13" name="TextBox 12">
            <a:extLst>
              <a:ext uri="{FF2B5EF4-FFF2-40B4-BE49-F238E27FC236}">
                <a16:creationId xmlns:a16="http://schemas.microsoft.com/office/drawing/2014/main" id="{FF2470FF-DEED-ACEC-28D1-C99952469099}"/>
              </a:ext>
            </a:extLst>
          </p:cNvPr>
          <p:cNvSpPr txBox="1"/>
          <p:nvPr/>
        </p:nvSpPr>
        <p:spPr>
          <a:xfrm>
            <a:off x="8839200" y="823362"/>
            <a:ext cx="1432059" cy="369332"/>
          </a:xfrm>
          <a:prstGeom prst="rect">
            <a:avLst/>
          </a:prstGeom>
          <a:noFill/>
        </p:spPr>
        <p:txBody>
          <a:bodyPr wrap="none" rtlCol="0">
            <a:spAutoFit/>
          </a:bodyPr>
          <a:lstStyle/>
          <a:p>
            <a:r>
              <a:rPr lang="en-US" dirty="0"/>
              <a:t>FireCCIS311</a:t>
            </a:r>
          </a:p>
        </p:txBody>
      </p:sp>
    </p:spTree>
    <p:extLst>
      <p:ext uri="{BB962C8B-B14F-4D97-AF65-F5344CB8AC3E}">
        <p14:creationId xmlns:p14="http://schemas.microsoft.com/office/powerpoint/2010/main" val="6712348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A1204-1408-A3DD-8C81-1EEB3047D9FD}"/>
              </a:ext>
            </a:extLst>
          </p:cNvPr>
          <p:cNvSpPr>
            <a:spLocks noGrp="1"/>
          </p:cNvSpPr>
          <p:nvPr>
            <p:ph type="ctrTitle"/>
          </p:nvPr>
        </p:nvSpPr>
        <p:spPr/>
        <p:txBody>
          <a:bodyPr/>
          <a:lstStyle/>
          <a:p>
            <a:r>
              <a:rPr lang="en-US" dirty="0"/>
              <a:t>Prognostic and propensity score validation</a:t>
            </a:r>
          </a:p>
        </p:txBody>
      </p:sp>
      <p:sp>
        <p:nvSpPr>
          <p:cNvPr id="3" name="Subtitle 2">
            <a:extLst>
              <a:ext uri="{FF2B5EF4-FFF2-40B4-BE49-F238E27FC236}">
                <a16:creationId xmlns:a16="http://schemas.microsoft.com/office/drawing/2014/main" id="{10C5B510-2C4A-DFA2-D850-82A16BD01E1E}"/>
              </a:ext>
            </a:extLst>
          </p:cNvPr>
          <p:cNvSpPr>
            <a:spLocks noGrp="1"/>
          </p:cNvSpPr>
          <p:nvPr>
            <p:ph type="subTitle" idx="1"/>
          </p:nvPr>
        </p:nvSpPr>
        <p:spPr/>
        <p:txBody>
          <a:bodyPr/>
          <a:lstStyle/>
          <a:p>
            <a:r>
              <a:rPr lang="en-US" dirty="0"/>
              <a:t>MCD64A1 300m</a:t>
            </a:r>
          </a:p>
        </p:txBody>
      </p:sp>
    </p:spTree>
    <p:extLst>
      <p:ext uri="{BB962C8B-B14F-4D97-AF65-F5344CB8AC3E}">
        <p14:creationId xmlns:p14="http://schemas.microsoft.com/office/powerpoint/2010/main" val="130737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C908F-3088-7761-06A6-9E130995E169}"/>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014270A3-B17D-F245-E036-366E0D1FD39D}"/>
              </a:ext>
            </a:extLst>
          </p:cNvPr>
          <p:cNvSpPr/>
          <p:nvPr/>
        </p:nvSpPr>
        <p:spPr>
          <a:xfrm>
            <a:off x="4876800" y="357809"/>
            <a:ext cx="3449782" cy="3379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E47BCAA1-0DCA-8BCA-4216-CA077126A6CB}"/>
              </a:ext>
            </a:extLst>
          </p:cNvPr>
          <p:cNvPicPr>
            <a:picLocks noChangeAspect="1"/>
          </p:cNvPicPr>
          <p:nvPr/>
        </p:nvPicPr>
        <p:blipFill>
          <a:blip r:embed="rId3"/>
          <a:stretch>
            <a:fillRect/>
          </a:stretch>
        </p:blipFill>
        <p:spPr>
          <a:xfrm>
            <a:off x="541506" y="0"/>
            <a:ext cx="11108987" cy="6869515"/>
          </a:xfrm>
          <a:prstGeom prst="rect">
            <a:avLst/>
          </a:prstGeom>
        </p:spPr>
      </p:pic>
    </p:spTree>
    <p:extLst>
      <p:ext uri="{BB962C8B-B14F-4D97-AF65-F5344CB8AC3E}">
        <p14:creationId xmlns:p14="http://schemas.microsoft.com/office/powerpoint/2010/main" val="1145622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B2F9A-1224-67F1-27C7-22D6BFB7D03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D34A3BD-48BE-B42E-66A1-10551F8789D7}"/>
              </a:ext>
            </a:extLst>
          </p:cNvPr>
          <p:cNvSpPr txBox="1"/>
          <p:nvPr/>
        </p:nvSpPr>
        <p:spPr>
          <a:xfrm>
            <a:off x="2258291" y="1141229"/>
            <a:ext cx="2723310" cy="369332"/>
          </a:xfrm>
          <a:prstGeom prst="rect">
            <a:avLst/>
          </a:prstGeom>
          <a:noFill/>
        </p:spPr>
        <p:txBody>
          <a:bodyPr wrap="none" rtlCol="0">
            <a:spAutoFit/>
          </a:bodyPr>
          <a:lstStyle/>
          <a:p>
            <a:r>
              <a:rPr lang="en-US" dirty="0"/>
              <a:t>Propensity scores in 2019</a:t>
            </a:r>
          </a:p>
        </p:txBody>
      </p:sp>
      <p:sp>
        <p:nvSpPr>
          <p:cNvPr id="7" name="TextBox 6">
            <a:extLst>
              <a:ext uri="{FF2B5EF4-FFF2-40B4-BE49-F238E27FC236}">
                <a16:creationId xmlns:a16="http://schemas.microsoft.com/office/drawing/2014/main" id="{D4FAB874-8271-34DC-225F-7DEDCC4BAA61}"/>
              </a:ext>
            </a:extLst>
          </p:cNvPr>
          <p:cNvSpPr txBox="1"/>
          <p:nvPr/>
        </p:nvSpPr>
        <p:spPr>
          <a:xfrm>
            <a:off x="8257309" y="1141229"/>
            <a:ext cx="2725811" cy="369332"/>
          </a:xfrm>
          <a:prstGeom prst="rect">
            <a:avLst/>
          </a:prstGeom>
          <a:noFill/>
        </p:spPr>
        <p:txBody>
          <a:bodyPr wrap="none" rtlCol="0">
            <a:spAutoFit/>
          </a:bodyPr>
          <a:lstStyle/>
          <a:p>
            <a:r>
              <a:rPr lang="en-US" dirty="0"/>
              <a:t>prognostic scores in 2014</a:t>
            </a:r>
          </a:p>
        </p:txBody>
      </p:sp>
      <p:pic>
        <p:nvPicPr>
          <p:cNvPr id="4" name="Picture 3">
            <a:extLst>
              <a:ext uri="{FF2B5EF4-FFF2-40B4-BE49-F238E27FC236}">
                <a16:creationId xmlns:a16="http://schemas.microsoft.com/office/drawing/2014/main" id="{66B8DA91-1A60-35CB-270D-AB9BF00DACB5}"/>
              </a:ext>
            </a:extLst>
          </p:cNvPr>
          <p:cNvPicPr>
            <a:picLocks noChangeAspect="1"/>
          </p:cNvPicPr>
          <p:nvPr/>
        </p:nvPicPr>
        <p:blipFill>
          <a:blip r:embed="rId3"/>
          <a:stretch>
            <a:fillRect/>
          </a:stretch>
        </p:blipFill>
        <p:spPr>
          <a:xfrm>
            <a:off x="86664" y="1746751"/>
            <a:ext cx="5754313" cy="3657600"/>
          </a:xfrm>
          <a:prstGeom prst="rect">
            <a:avLst/>
          </a:prstGeom>
        </p:spPr>
      </p:pic>
      <p:pic>
        <p:nvPicPr>
          <p:cNvPr id="9" name="Picture 8">
            <a:extLst>
              <a:ext uri="{FF2B5EF4-FFF2-40B4-BE49-F238E27FC236}">
                <a16:creationId xmlns:a16="http://schemas.microsoft.com/office/drawing/2014/main" id="{25F74F7C-5AD1-3EDC-83D4-0D472A14778A}"/>
              </a:ext>
            </a:extLst>
          </p:cNvPr>
          <p:cNvPicPr>
            <a:picLocks noChangeAspect="1"/>
          </p:cNvPicPr>
          <p:nvPr/>
        </p:nvPicPr>
        <p:blipFill>
          <a:blip r:embed="rId4"/>
          <a:stretch>
            <a:fillRect/>
          </a:stretch>
        </p:blipFill>
        <p:spPr>
          <a:xfrm>
            <a:off x="6351024" y="1600200"/>
            <a:ext cx="5754313" cy="3657600"/>
          </a:xfrm>
          <a:prstGeom prst="rect">
            <a:avLst/>
          </a:prstGeom>
        </p:spPr>
      </p:pic>
    </p:spTree>
    <p:extLst>
      <p:ext uri="{BB962C8B-B14F-4D97-AF65-F5344CB8AC3E}">
        <p14:creationId xmlns:p14="http://schemas.microsoft.com/office/powerpoint/2010/main" val="1970484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1B15E-CE79-794E-5D77-2801A44AA1D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B149CE0-2621-124A-62C4-4E3492D602B9}"/>
              </a:ext>
            </a:extLst>
          </p:cNvPr>
          <p:cNvPicPr>
            <a:picLocks noChangeAspect="1"/>
          </p:cNvPicPr>
          <p:nvPr/>
        </p:nvPicPr>
        <p:blipFill>
          <a:blip r:embed="rId2"/>
          <a:stretch>
            <a:fillRect/>
          </a:stretch>
        </p:blipFill>
        <p:spPr>
          <a:xfrm>
            <a:off x="335437" y="92075"/>
            <a:ext cx="4655858" cy="3200400"/>
          </a:xfrm>
          <a:prstGeom prst="rect">
            <a:avLst/>
          </a:prstGeom>
        </p:spPr>
      </p:pic>
      <p:pic>
        <p:nvPicPr>
          <p:cNvPr id="5" name="Picture 4">
            <a:extLst>
              <a:ext uri="{FF2B5EF4-FFF2-40B4-BE49-F238E27FC236}">
                <a16:creationId xmlns:a16="http://schemas.microsoft.com/office/drawing/2014/main" id="{344281DC-C337-9AC1-1B39-96E97B262FC9}"/>
              </a:ext>
            </a:extLst>
          </p:cNvPr>
          <p:cNvPicPr>
            <a:picLocks noChangeAspect="1"/>
          </p:cNvPicPr>
          <p:nvPr/>
        </p:nvPicPr>
        <p:blipFill>
          <a:blip r:embed="rId3"/>
          <a:stretch>
            <a:fillRect/>
          </a:stretch>
        </p:blipFill>
        <p:spPr>
          <a:xfrm>
            <a:off x="6440282" y="92075"/>
            <a:ext cx="4812632" cy="3200400"/>
          </a:xfrm>
          <a:prstGeom prst="rect">
            <a:avLst/>
          </a:prstGeom>
        </p:spPr>
      </p:pic>
      <p:pic>
        <p:nvPicPr>
          <p:cNvPr id="12" name="Picture 11">
            <a:extLst>
              <a:ext uri="{FF2B5EF4-FFF2-40B4-BE49-F238E27FC236}">
                <a16:creationId xmlns:a16="http://schemas.microsoft.com/office/drawing/2014/main" id="{30EDFBF1-729A-64B6-D480-0FD60F9EE052}"/>
              </a:ext>
            </a:extLst>
          </p:cNvPr>
          <p:cNvPicPr>
            <a:picLocks noChangeAspect="1"/>
          </p:cNvPicPr>
          <p:nvPr/>
        </p:nvPicPr>
        <p:blipFill>
          <a:blip r:embed="rId4"/>
          <a:stretch>
            <a:fillRect/>
          </a:stretch>
        </p:blipFill>
        <p:spPr>
          <a:xfrm>
            <a:off x="3259139" y="3565525"/>
            <a:ext cx="4895747" cy="3200400"/>
          </a:xfrm>
          <a:prstGeom prst="rect">
            <a:avLst/>
          </a:prstGeom>
        </p:spPr>
      </p:pic>
    </p:spTree>
    <p:extLst>
      <p:ext uri="{BB962C8B-B14F-4D97-AF65-F5344CB8AC3E}">
        <p14:creationId xmlns:p14="http://schemas.microsoft.com/office/powerpoint/2010/main" val="2769544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41A48-9957-8662-7827-27030086289C}"/>
              </a:ext>
            </a:extLst>
          </p:cNvPr>
          <p:cNvSpPr>
            <a:spLocks noGrp="1"/>
          </p:cNvSpPr>
          <p:nvPr>
            <p:ph type="ctrTitle"/>
          </p:nvPr>
        </p:nvSpPr>
        <p:spPr/>
        <p:txBody>
          <a:bodyPr/>
          <a:lstStyle/>
          <a:p>
            <a:r>
              <a:rPr lang="en-US" dirty="0"/>
              <a:t>ATT comparison (pixel level)</a:t>
            </a:r>
          </a:p>
        </p:txBody>
      </p:sp>
      <p:sp>
        <p:nvSpPr>
          <p:cNvPr id="3" name="Subtitle 2">
            <a:extLst>
              <a:ext uri="{FF2B5EF4-FFF2-40B4-BE49-F238E27FC236}">
                <a16:creationId xmlns:a16="http://schemas.microsoft.com/office/drawing/2014/main" id="{DC668BE9-C32B-9D17-17F9-2F6B622C29BD}"/>
              </a:ext>
            </a:extLst>
          </p:cNvPr>
          <p:cNvSpPr>
            <a:spLocks noGrp="1"/>
          </p:cNvSpPr>
          <p:nvPr>
            <p:ph type="subTitle" idx="1"/>
          </p:nvPr>
        </p:nvSpPr>
        <p:spPr/>
        <p:txBody>
          <a:bodyPr/>
          <a:lstStyle/>
          <a:p>
            <a:r>
              <a:rPr lang="en-US" dirty="0"/>
              <a:t>FireCCIS311 vs MCD64A1 at 300m</a:t>
            </a:r>
          </a:p>
        </p:txBody>
      </p:sp>
    </p:spTree>
    <p:extLst>
      <p:ext uri="{BB962C8B-B14F-4D97-AF65-F5344CB8AC3E}">
        <p14:creationId xmlns:p14="http://schemas.microsoft.com/office/powerpoint/2010/main" val="21949845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39C6F-2907-EFBB-A85F-80CD330E2AD9}"/>
              </a:ext>
            </a:extLst>
          </p:cNvPr>
          <p:cNvSpPr>
            <a:spLocks noGrp="1"/>
          </p:cNvSpPr>
          <p:nvPr>
            <p:ph type="title"/>
          </p:nvPr>
        </p:nvSpPr>
        <p:spPr>
          <a:xfrm>
            <a:off x="0" y="18255"/>
            <a:ext cx="10515600" cy="1325563"/>
          </a:xfrm>
        </p:spPr>
        <p:txBody>
          <a:bodyPr/>
          <a:lstStyle/>
          <a:p>
            <a:r>
              <a:rPr lang="en-US" dirty="0"/>
              <a:t>Average Treatment Effect on the Treated pixels (both at 300m for comparison)</a:t>
            </a:r>
          </a:p>
        </p:txBody>
      </p:sp>
      <p:pic>
        <p:nvPicPr>
          <p:cNvPr id="5" name="Picture 4">
            <a:extLst>
              <a:ext uri="{FF2B5EF4-FFF2-40B4-BE49-F238E27FC236}">
                <a16:creationId xmlns:a16="http://schemas.microsoft.com/office/drawing/2014/main" id="{9B821EA7-5F6A-3C23-4472-706F744B0BE2}"/>
              </a:ext>
            </a:extLst>
          </p:cNvPr>
          <p:cNvPicPr>
            <a:picLocks noChangeAspect="1"/>
          </p:cNvPicPr>
          <p:nvPr/>
        </p:nvPicPr>
        <p:blipFill>
          <a:blip r:embed="rId3"/>
          <a:stretch>
            <a:fillRect/>
          </a:stretch>
        </p:blipFill>
        <p:spPr>
          <a:xfrm>
            <a:off x="181138" y="2523672"/>
            <a:ext cx="5914862" cy="3657600"/>
          </a:xfrm>
          <a:prstGeom prst="rect">
            <a:avLst/>
          </a:prstGeom>
        </p:spPr>
      </p:pic>
      <p:sp>
        <p:nvSpPr>
          <p:cNvPr id="6" name="TextBox 5">
            <a:extLst>
              <a:ext uri="{FF2B5EF4-FFF2-40B4-BE49-F238E27FC236}">
                <a16:creationId xmlns:a16="http://schemas.microsoft.com/office/drawing/2014/main" id="{3B62BCAF-83D6-D274-87A0-3528A4DE608D}"/>
              </a:ext>
            </a:extLst>
          </p:cNvPr>
          <p:cNvSpPr txBox="1"/>
          <p:nvPr/>
        </p:nvSpPr>
        <p:spPr>
          <a:xfrm>
            <a:off x="2968739" y="2154340"/>
            <a:ext cx="1192955" cy="369332"/>
          </a:xfrm>
          <a:prstGeom prst="rect">
            <a:avLst/>
          </a:prstGeom>
          <a:noFill/>
        </p:spPr>
        <p:txBody>
          <a:bodyPr wrap="none" rtlCol="0">
            <a:spAutoFit/>
          </a:bodyPr>
          <a:lstStyle/>
          <a:p>
            <a:r>
              <a:rPr lang="en-US" dirty="0"/>
              <a:t>MCD64A1</a:t>
            </a:r>
          </a:p>
        </p:txBody>
      </p:sp>
      <p:sp>
        <p:nvSpPr>
          <p:cNvPr id="9" name="TextBox 8">
            <a:extLst>
              <a:ext uri="{FF2B5EF4-FFF2-40B4-BE49-F238E27FC236}">
                <a16:creationId xmlns:a16="http://schemas.microsoft.com/office/drawing/2014/main" id="{970922BD-A9A4-F9BC-32B8-70DD774D4DF9}"/>
              </a:ext>
            </a:extLst>
          </p:cNvPr>
          <p:cNvSpPr txBox="1"/>
          <p:nvPr/>
        </p:nvSpPr>
        <p:spPr>
          <a:xfrm>
            <a:off x="9083541" y="2154340"/>
            <a:ext cx="1432059" cy="369332"/>
          </a:xfrm>
          <a:prstGeom prst="rect">
            <a:avLst/>
          </a:prstGeom>
          <a:noFill/>
        </p:spPr>
        <p:txBody>
          <a:bodyPr wrap="none" rtlCol="0">
            <a:spAutoFit/>
          </a:bodyPr>
          <a:lstStyle/>
          <a:p>
            <a:r>
              <a:rPr lang="en-US" dirty="0"/>
              <a:t>FireCCIS311</a:t>
            </a:r>
          </a:p>
        </p:txBody>
      </p:sp>
      <p:pic>
        <p:nvPicPr>
          <p:cNvPr id="7" name="Content Placeholder 4">
            <a:extLst>
              <a:ext uri="{FF2B5EF4-FFF2-40B4-BE49-F238E27FC236}">
                <a16:creationId xmlns:a16="http://schemas.microsoft.com/office/drawing/2014/main" id="{F8562EFA-D65F-7364-851D-52FFBC49D12F}"/>
              </a:ext>
            </a:extLst>
          </p:cNvPr>
          <p:cNvPicPr>
            <a:picLocks noGrp="1" noChangeAspect="1"/>
          </p:cNvPicPr>
          <p:nvPr>
            <p:ph idx="1"/>
          </p:nvPr>
        </p:nvPicPr>
        <p:blipFill>
          <a:blip r:embed="rId4"/>
          <a:stretch>
            <a:fillRect/>
          </a:stretch>
        </p:blipFill>
        <p:spPr>
          <a:xfrm>
            <a:off x="6265831" y="2523672"/>
            <a:ext cx="5914860" cy="3657600"/>
          </a:xfrm>
          <a:prstGeom prst="rect">
            <a:avLst/>
          </a:prstGeom>
        </p:spPr>
      </p:pic>
    </p:spTree>
    <p:extLst>
      <p:ext uri="{BB962C8B-B14F-4D97-AF65-F5344CB8AC3E}">
        <p14:creationId xmlns:p14="http://schemas.microsoft.com/office/powerpoint/2010/main" val="4214099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8A362-8329-D842-1A25-A2B6CF4B7F8B}"/>
              </a:ext>
            </a:extLst>
          </p:cNvPr>
          <p:cNvSpPr>
            <a:spLocks noGrp="1"/>
          </p:cNvSpPr>
          <p:nvPr>
            <p:ph type="ctrTitle"/>
          </p:nvPr>
        </p:nvSpPr>
        <p:spPr/>
        <p:txBody>
          <a:bodyPr/>
          <a:lstStyle/>
          <a:p>
            <a:r>
              <a:rPr lang="en-US" dirty="0"/>
              <a:t>Drainage</a:t>
            </a:r>
          </a:p>
        </p:txBody>
      </p:sp>
      <p:sp>
        <p:nvSpPr>
          <p:cNvPr id="3" name="Subtitle 2">
            <a:extLst>
              <a:ext uri="{FF2B5EF4-FFF2-40B4-BE49-F238E27FC236}">
                <a16:creationId xmlns:a16="http://schemas.microsoft.com/office/drawing/2014/main" id="{45D390F1-1330-64AC-CE32-F505B5F17FB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6376080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D1E23-4630-C910-53C2-DB25AD3DBC58}"/>
              </a:ext>
            </a:extLst>
          </p:cNvPr>
          <p:cNvSpPr>
            <a:spLocks noGrp="1"/>
          </p:cNvSpPr>
          <p:nvPr>
            <p:ph type="title"/>
          </p:nvPr>
        </p:nvSpPr>
        <p:spPr/>
        <p:txBody>
          <a:bodyPr/>
          <a:lstStyle/>
          <a:p>
            <a:r>
              <a:rPr lang="en-US" dirty="0"/>
              <a:t>HAND drainage over NC and NC peat </a:t>
            </a:r>
          </a:p>
        </p:txBody>
      </p:sp>
      <p:grpSp>
        <p:nvGrpSpPr>
          <p:cNvPr id="7" name="Group 6">
            <a:extLst>
              <a:ext uri="{FF2B5EF4-FFF2-40B4-BE49-F238E27FC236}">
                <a16:creationId xmlns:a16="http://schemas.microsoft.com/office/drawing/2014/main" id="{EA6F875A-F5DB-4E47-1035-A117FDB2613D}"/>
              </a:ext>
            </a:extLst>
          </p:cNvPr>
          <p:cNvGrpSpPr/>
          <p:nvPr/>
        </p:nvGrpSpPr>
        <p:grpSpPr>
          <a:xfrm>
            <a:off x="89379" y="1690688"/>
            <a:ext cx="7206342" cy="4985657"/>
            <a:chOff x="3479800" y="1532539"/>
            <a:chExt cx="5842000" cy="4381500"/>
          </a:xfrm>
        </p:grpSpPr>
        <p:pic>
          <p:nvPicPr>
            <p:cNvPr id="5" name="Picture 4">
              <a:extLst>
                <a:ext uri="{FF2B5EF4-FFF2-40B4-BE49-F238E27FC236}">
                  <a16:creationId xmlns:a16="http://schemas.microsoft.com/office/drawing/2014/main" id="{1DC75551-EDC9-F422-98DE-8D372D622B25}"/>
                </a:ext>
              </a:extLst>
            </p:cNvPr>
            <p:cNvPicPr>
              <a:picLocks noChangeAspect="1"/>
            </p:cNvPicPr>
            <p:nvPr/>
          </p:nvPicPr>
          <p:blipFill>
            <a:blip r:embed="rId3"/>
            <a:stretch>
              <a:fillRect/>
            </a:stretch>
          </p:blipFill>
          <p:spPr>
            <a:xfrm>
              <a:off x="3479800" y="1532539"/>
              <a:ext cx="5842000" cy="4381500"/>
            </a:xfrm>
            <a:prstGeom prst="rect">
              <a:avLst/>
            </a:prstGeom>
          </p:spPr>
        </p:pic>
        <p:sp>
          <p:nvSpPr>
            <p:cNvPr id="6" name="Rectangle 5">
              <a:extLst>
                <a:ext uri="{FF2B5EF4-FFF2-40B4-BE49-F238E27FC236}">
                  <a16:creationId xmlns:a16="http://schemas.microsoft.com/office/drawing/2014/main" id="{B27BD05F-342D-0B8B-D7E3-871A57C9652E}"/>
                </a:ext>
              </a:extLst>
            </p:cNvPr>
            <p:cNvSpPr/>
            <p:nvPr/>
          </p:nvSpPr>
          <p:spPr>
            <a:xfrm>
              <a:off x="4908331" y="2367864"/>
              <a:ext cx="2249214" cy="4099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TextBox 7">
            <a:extLst>
              <a:ext uri="{FF2B5EF4-FFF2-40B4-BE49-F238E27FC236}">
                <a16:creationId xmlns:a16="http://schemas.microsoft.com/office/drawing/2014/main" id="{9AF211F0-B915-4B19-6C23-A4B414FCD7AA}"/>
              </a:ext>
            </a:extLst>
          </p:cNvPr>
          <p:cNvSpPr txBox="1"/>
          <p:nvPr/>
        </p:nvSpPr>
        <p:spPr>
          <a:xfrm rot="16200000">
            <a:off x="4959290" y="4070079"/>
            <a:ext cx="3227102" cy="369332"/>
          </a:xfrm>
          <a:prstGeom prst="rect">
            <a:avLst/>
          </a:prstGeom>
          <a:noFill/>
        </p:spPr>
        <p:txBody>
          <a:bodyPr wrap="none" rtlCol="0">
            <a:spAutoFit/>
          </a:bodyPr>
          <a:lstStyle/>
          <a:p>
            <a:r>
              <a:rPr lang="en-US" dirty="0"/>
              <a:t>Meters above nearest drainage</a:t>
            </a:r>
          </a:p>
        </p:txBody>
      </p:sp>
      <p:pic>
        <p:nvPicPr>
          <p:cNvPr id="10" name="Picture 9">
            <a:extLst>
              <a:ext uri="{FF2B5EF4-FFF2-40B4-BE49-F238E27FC236}">
                <a16:creationId xmlns:a16="http://schemas.microsoft.com/office/drawing/2014/main" id="{78C9D8F5-79E7-DA40-033A-614E6BACD9F2}"/>
              </a:ext>
            </a:extLst>
          </p:cNvPr>
          <p:cNvPicPr>
            <a:picLocks noChangeAspect="1"/>
          </p:cNvPicPr>
          <p:nvPr/>
        </p:nvPicPr>
        <p:blipFill>
          <a:blip r:embed="rId4"/>
          <a:stretch>
            <a:fillRect/>
          </a:stretch>
        </p:blipFill>
        <p:spPr>
          <a:xfrm>
            <a:off x="7295721" y="2641193"/>
            <a:ext cx="4806631" cy="3499445"/>
          </a:xfrm>
          <a:prstGeom prst="rect">
            <a:avLst/>
          </a:prstGeom>
        </p:spPr>
      </p:pic>
      <p:sp>
        <p:nvSpPr>
          <p:cNvPr id="11" name="TextBox 10">
            <a:extLst>
              <a:ext uri="{FF2B5EF4-FFF2-40B4-BE49-F238E27FC236}">
                <a16:creationId xmlns:a16="http://schemas.microsoft.com/office/drawing/2014/main" id="{7088870A-44BB-F0E8-D896-2C461E2C9DC9}"/>
              </a:ext>
            </a:extLst>
          </p:cNvPr>
          <p:cNvSpPr txBox="1"/>
          <p:nvPr/>
        </p:nvSpPr>
        <p:spPr>
          <a:xfrm>
            <a:off x="9337119" y="2631614"/>
            <a:ext cx="1003352" cy="369332"/>
          </a:xfrm>
          <a:prstGeom prst="rect">
            <a:avLst/>
          </a:prstGeom>
          <a:noFill/>
        </p:spPr>
        <p:txBody>
          <a:bodyPr wrap="none" rtlCol="0">
            <a:spAutoFit/>
          </a:bodyPr>
          <a:lstStyle/>
          <a:p>
            <a:r>
              <a:rPr lang="en-US" dirty="0"/>
              <a:t>NC peat</a:t>
            </a:r>
          </a:p>
        </p:txBody>
      </p:sp>
      <p:sp>
        <p:nvSpPr>
          <p:cNvPr id="12" name="TextBox 11">
            <a:extLst>
              <a:ext uri="{FF2B5EF4-FFF2-40B4-BE49-F238E27FC236}">
                <a16:creationId xmlns:a16="http://schemas.microsoft.com/office/drawing/2014/main" id="{73817251-D263-DE32-6688-63609CD11FE9}"/>
              </a:ext>
            </a:extLst>
          </p:cNvPr>
          <p:cNvSpPr txBox="1"/>
          <p:nvPr/>
        </p:nvSpPr>
        <p:spPr>
          <a:xfrm>
            <a:off x="2984541" y="2631614"/>
            <a:ext cx="508473" cy="369332"/>
          </a:xfrm>
          <a:prstGeom prst="rect">
            <a:avLst/>
          </a:prstGeom>
          <a:noFill/>
        </p:spPr>
        <p:txBody>
          <a:bodyPr wrap="none" rtlCol="0">
            <a:spAutoFit/>
          </a:bodyPr>
          <a:lstStyle/>
          <a:p>
            <a:r>
              <a:rPr lang="en-US" dirty="0"/>
              <a:t>NC</a:t>
            </a:r>
          </a:p>
        </p:txBody>
      </p:sp>
    </p:spTree>
    <p:extLst>
      <p:ext uri="{BB962C8B-B14F-4D97-AF65-F5344CB8AC3E}">
        <p14:creationId xmlns:p14="http://schemas.microsoft.com/office/powerpoint/2010/main" val="3938789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AB5A9-5EAD-8527-AE7E-F940A7E815E2}"/>
              </a:ext>
            </a:extLst>
          </p:cNvPr>
          <p:cNvSpPr>
            <a:spLocks noGrp="1"/>
          </p:cNvSpPr>
          <p:nvPr>
            <p:ph type="title"/>
          </p:nvPr>
        </p:nvSpPr>
        <p:spPr/>
        <p:txBody>
          <a:bodyPr/>
          <a:lstStyle/>
          <a:p>
            <a:r>
              <a:rPr lang="en-US" dirty="0"/>
              <a:t>Relationship between drainage and other covariates</a:t>
            </a:r>
          </a:p>
        </p:txBody>
      </p:sp>
      <p:pic>
        <p:nvPicPr>
          <p:cNvPr id="5" name="Content Placeholder 4">
            <a:extLst>
              <a:ext uri="{FF2B5EF4-FFF2-40B4-BE49-F238E27FC236}">
                <a16:creationId xmlns:a16="http://schemas.microsoft.com/office/drawing/2014/main" id="{1837F37A-F3B9-8AC4-DF6E-B16E22AA7A45}"/>
              </a:ext>
            </a:extLst>
          </p:cNvPr>
          <p:cNvPicPr>
            <a:picLocks noGrp="1" noChangeAspect="1"/>
          </p:cNvPicPr>
          <p:nvPr>
            <p:ph idx="1"/>
          </p:nvPr>
        </p:nvPicPr>
        <p:blipFill>
          <a:blip r:embed="rId3"/>
          <a:stretch>
            <a:fillRect/>
          </a:stretch>
        </p:blipFill>
        <p:spPr>
          <a:xfrm>
            <a:off x="0" y="3179085"/>
            <a:ext cx="12185113" cy="1166536"/>
          </a:xfrm>
          <a:prstGeom prst="rect">
            <a:avLst/>
          </a:prstGeom>
        </p:spPr>
      </p:pic>
    </p:spTree>
    <p:extLst>
      <p:ext uri="{BB962C8B-B14F-4D97-AF65-F5344CB8AC3E}">
        <p14:creationId xmlns:p14="http://schemas.microsoft.com/office/powerpoint/2010/main" val="14192215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97B91-DFBB-E61D-B03D-4DA02A04F808}"/>
              </a:ext>
            </a:extLst>
          </p:cNvPr>
          <p:cNvSpPr>
            <a:spLocks noGrp="1"/>
          </p:cNvSpPr>
          <p:nvPr>
            <p:ph type="ctrTitle"/>
          </p:nvPr>
        </p:nvSpPr>
        <p:spPr/>
        <p:txBody>
          <a:bodyPr/>
          <a:lstStyle/>
          <a:p>
            <a:r>
              <a:rPr lang="en-US" dirty="0"/>
              <a:t>Land cover</a:t>
            </a:r>
          </a:p>
        </p:txBody>
      </p:sp>
      <p:sp>
        <p:nvSpPr>
          <p:cNvPr id="3" name="Subtitle 2">
            <a:extLst>
              <a:ext uri="{FF2B5EF4-FFF2-40B4-BE49-F238E27FC236}">
                <a16:creationId xmlns:a16="http://schemas.microsoft.com/office/drawing/2014/main" id="{8AB7F8BE-9BF0-47E1-2EAA-5E2A030D265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2743373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DF90F-AA3A-CD25-68A7-793A9AE1B7DE}"/>
              </a:ext>
            </a:extLst>
          </p:cNvPr>
          <p:cNvSpPr>
            <a:spLocks noGrp="1"/>
          </p:cNvSpPr>
          <p:nvPr>
            <p:ph type="title"/>
          </p:nvPr>
        </p:nvSpPr>
        <p:spPr>
          <a:xfrm>
            <a:off x="0" y="7252"/>
            <a:ext cx="12192000" cy="1325563"/>
          </a:xfrm>
        </p:spPr>
        <p:txBody>
          <a:bodyPr>
            <a:noAutofit/>
          </a:bodyPr>
          <a:lstStyle/>
          <a:p>
            <a:r>
              <a:rPr lang="en-US" sz="3600" dirty="0"/>
              <a:t>LANDFIRE land cover over NC – treated and control pixels are matched exactly on land cover category</a:t>
            </a:r>
          </a:p>
        </p:txBody>
      </p:sp>
      <p:pic>
        <p:nvPicPr>
          <p:cNvPr id="5" name="Content Placeholder 4">
            <a:extLst>
              <a:ext uri="{FF2B5EF4-FFF2-40B4-BE49-F238E27FC236}">
                <a16:creationId xmlns:a16="http://schemas.microsoft.com/office/drawing/2014/main" id="{9F01FC6E-4834-64FC-D79C-AF3C1C8D563C}"/>
              </a:ext>
            </a:extLst>
          </p:cNvPr>
          <p:cNvPicPr>
            <a:picLocks noGrp="1" noChangeAspect="1"/>
          </p:cNvPicPr>
          <p:nvPr>
            <p:ph idx="1"/>
          </p:nvPr>
        </p:nvPicPr>
        <p:blipFill>
          <a:blip r:embed="rId2"/>
          <a:stretch>
            <a:fillRect/>
          </a:stretch>
        </p:blipFill>
        <p:spPr>
          <a:xfrm>
            <a:off x="3224463" y="1137548"/>
            <a:ext cx="5582462" cy="3907723"/>
          </a:xfrm>
          <a:prstGeom prst="rect">
            <a:avLst/>
          </a:prstGeom>
        </p:spPr>
      </p:pic>
      <p:sp>
        <p:nvSpPr>
          <p:cNvPr id="6" name="Rectangle 5">
            <a:extLst>
              <a:ext uri="{FF2B5EF4-FFF2-40B4-BE49-F238E27FC236}">
                <a16:creationId xmlns:a16="http://schemas.microsoft.com/office/drawing/2014/main" id="{AB2ADE94-53A0-59E2-FFF1-E5E7565EDDD1}"/>
              </a:ext>
            </a:extLst>
          </p:cNvPr>
          <p:cNvSpPr/>
          <p:nvPr/>
        </p:nvSpPr>
        <p:spPr>
          <a:xfrm>
            <a:off x="3846485" y="1696970"/>
            <a:ext cx="3303893" cy="5089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DBD74798-E049-7E78-782E-41735E2082BF}"/>
              </a:ext>
            </a:extLst>
          </p:cNvPr>
          <p:cNvPicPr>
            <a:picLocks noChangeAspect="1"/>
          </p:cNvPicPr>
          <p:nvPr/>
        </p:nvPicPr>
        <p:blipFill>
          <a:blip r:embed="rId3"/>
          <a:srcRect b="51485"/>
          <a:stretch>
            <a:fillRect/>
          </a:stretch>
        </p:blipFill>
        <p:spPr>
          <a:xfrm>
            <a:off x="2044664" y="5045272"/>
            <a:ext cx="7772400" cy="1800531"/>
          </a:xfrm>
          <a:prstGeom prst="rect">
            <a:avLst/>
          </a:prstGeom>
        </p:spPr>
      </p:pic>
    </p:spTree>
    <p:extLst>
      <p:ext uri="{BB962C8B-B14F-4D97-AF65-F5344CB8AC3E}">
        <p14:creationId xmlns:p14="http://schemas.microsoft.com/office/powerpoint/2010/main" val="33145267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08FD8-D91C-DB8F-1B2F-B2CDF51CA394}"/>
              </a:ext>
            </a:extLst>
          </p:cNvPr>
          <p:cNvSpPr>
            <a:spLocks noGrp="1"/>
          </p:cNvSpPr>
          <p:nvPr>
            <p:ph type="ctrTitle"/>
          </p:nvPr>
        </p:nvSpPr>
        <p:spPr/>
        <p:txBody>
          <a:bodyPr>
            <a:normAutofit fontScale="90000"/>
          </a:bodyPr>
          <a:lstStyle/>
          <a:p>
            <a:r>
              <a:rPr lang="en-US" dirty="0"/>
              <a:t>Match treated and control pixels using drainage and land cover</a:t>
            </a:r>
          </a:p>
        </p:txBody>
      </p:sp>
      <p:sp>
        <p:nvSpPr>
          <p:cNvPr id="3" name="Subtitle 2">
            <a:extLst>
              <a:ext uri="{FF2B5EF4-FFF2-40B4-BE49-F238E27FC236}">
                <a16:creationId xmlns:a16="http://schemas.microsoft.com/office/drawing/2014/main" id="{94B78BF8-300D-AF7D-9620-74D1809EF1E1}"/>
              </a:ext>
            </a:extLst>
          </p:cNvPr>
          <p:cNvSpPr>
            <a:spLocks noGrp="1"/>
          </p:cNvSpPr>
          <p:nvPr>
            <p:ph type="subTitle" idx="1"/>
          </p:nvPr>
        </p:nvSpPr>
        <p:spPr/>
        <p:txBody>
          <a:bodyPr/>
          <a:lstStyle/>
          <a:p>
            <a:r>
              <a:rPr lang="en-US" dirty="0"/>
              <a:t>Use exact category match for land cover between treated and control pixels</a:t>
            </a:r>
          </a:p>
          <a:p>
            <a:r>
              <a:rPr lang="en-US" dirty="0"/>
              <a:t>FireCCIS311</a:t>
            </a:r>
          </a:p>
          <a:p>
            <a:endParaRPr lang="en-US" dirty="0"/>
          </a:p>
        </p:txBody>
      </p:sp>
    </p:spTree>
    <p:extLst>
      <p:ext uri="{BB962C8B-B14F-4D97-AF65-F5344CB8AC3E}">
        <p14:creationId xmlns:p14="http://schemas.microsoft.com/office/powerpoint/2010/main" val="3263422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3C8F9B9-36C4-0FBE-8431-20C213FC1473}"/>
              </a:ext>
            </a:extLst>
          </p:cNvPr>
          <p:cNvPicPr>
            <a:picLocks noChangeAspect="1"/>
          </p:cNvPicPr>
          <p:nvPr/>
        </p:nvPicPr>
        <p:blipFill>
          <a:blip r:embed="rId2"/>
          <a:stretch>
            <a:fillRect/>
          </a:stretch>
        </p:blipFill>
        <p:spPr>
          <a:xfrm>
            <a:off x="3570628" y="0"/>
            <a:ext cx="5050743" cy="6858000"/>
          </a:xfrm>
          <a:prstGeom prst="rect">
            <a:avLst/>
          </a:prstGeom>
        </p:spPr>
      </p:pic>
      <p:cxnSp>
        <p:nvCxnSpPr>
          <p:cNvPr id="11" name="Straight Arrow Connector 10">
            <a:extLst>
              <a:ext uri="{FF2B5EF4-FFF2-40B4-BE49-F238E27FC236}">
                <a16:creationId xmlns:a16="http://schemas.microsoft.com/office/drawing/2014/main" id="{E3B09C94-C153-3CF4-1DA2-9717C60C2669}"/>
              </a:ext>
            </a:extLst>
          </p:cNvPr>
          <p:cNvCxnSpPr>
            <a:cxnSpLocks/>
          </p:cNvCxnSpPr>
          <p:nvPr/>
        </p:nvCxnSpPr>
        <p:spPr>
          <a:xfrm>
            <a:off x="2917372" y="598714"/>
            <a:ext cx="154577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CB19B0FA-6C3A-49D9-139E-5D8019FB16D0}"/>
              </a:ext>
            </a:extLst>
          </p:cNvPr>
          <p:cNvSpPr txBox="1"/>
          <p:nvPr/>
        </p:nvSpPr>
        <p:spPr>
          <a:xfrm>
            <a:off x="2165763" y="414048"/>
            <a:ext cx="599588" cy="369332"/>
          </a:xfrm>
          <a:prstGeom prst="rect">
            <a:avLst/>
          </a:prstGeom>
          <a:noFill/>
        </p:spPr>
        <p:txBody>
          <a:bodyPr wrap="none" rtlCol="0">
            <a:spAutoFit/>
          </a:bodyPr>
          <a:lstStyle/>
          <a:p>
            <a:r>
              <a:rPr lang="en-US" dirty="0"/>
              <a:t>new</a:t>
            </a:r>
          </a:p>
        </p:txBody>
      </p:sp>
    </p:spTree>
    <p:extLst>
      <p:ext uri="{BB962C8B-B14F-4D97-AF65-F5344CB8AC3E}">
        <p14:creationId xmlns:p14="http://schemas.microsoft.com/office/powerpoint/2010/main" val="13770668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08DB6-FF74-6A21-A3F3-7CE6CB587F3C}"/>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63EE21B4-7A53-D852-506E-01014D46B5F5}"/>
              </a:ext>
            </a:extLst>
          </p:cNvPr>
          <p:cNvPicPr>
            <a:picLocks noChangeAspect="1"/>
          </p:cNvPicPr>
          <p:nvPr/>
        </p:nvPicPr>
        <p:blipFill>
          <a:blip r:embed="rId2"/>
          <a:stretch>
            <a:fillRect/>
          </a:stretch>
        </p:blipFill>
        <p:spPr>
          <a:xfrm>
            <a:off x="249231" y="274638"/>
            <a:ext cx="4655858" cy="3200400"/>
          </a:xfrm>
          <a:prstGeom prst="rect">
            <a:avLst/>
          </a:prstGeom>
        </p:spPr>
      </p:pic>
      <p:pic>
        <p:nvPicPr>
          <p:cNvPr id="11" name="Picture 10">
            <a:extLst>
              <a:ext uri="{FF2B5EF4-FFF2-40B4-BE49-F238E27FC236}">
                <a16:creationId xmlns:a16="http://schemas.microsoft.com/office/drawing/2014/main" id="{23550249-22F4-10D5-894C-A0CFD9DD4C4F}"/>
              </a:ext>
            </a:extLst>
          </p:cNvPr>
          <p:cNvPicPr>
            <a:picLocks noChangeAspect="1"/>
          </p:cNvPicPr>
          <p:nvPr/>
        </p:nvPicPr>
        <p:blipFill>
          <a:blip r:embed="rId3"/>
          <a:stretch>
            <a:fillRect/>
          </a:stretch>
        </p:blipFill>
        <p:spPr>
          <a:xfrm>
            <a:off x="5919620" y="274638"/>
            <a:ext cx="4720188" cy="3200400"/>
          </a:xfrm>
          <a:prstGeom prst="rect">
            <a:avLst/>
          </a:prstGeom>
        </p:spPr>
      </p:pic>
      <p:pic>
        <p:nvPicPr>
          <p:cNvPr id="15" name="Picture 14">
            <a:extLst>
              <a:ext uri="{FF2B5EF4-FFF2-40B4-BE49-F238E27FC236}">
                <a16:creationId xmlns:a16="http://schemas.microsoft.com/office/drawing/2014/main" id="{25504DA9-DA44-496E-3314-262E8A389C1E}"/>
              </a:ext>
            </a:extLst>
          </p:cNvPr>
          <p:cNvPicPr>
            <a:picLocks noChangeAspect="1"/>
          </p:cNvPicPr>
          <p:nvPr/>
        </p:nvPicPr>
        <p:blipFill>
          <a:blip r:embed="rId4"/>
          <a:stretch>
            <a:fillRect/>
          </a:stretch>
        </p:blipFill>
        <p:spPr>
          <a:xfrm>
            <a:off x="3037928" y="3657600"/>
            <a:ext cx="4895747" cy="3200400"/>
          </a:xfrm>
          <a:prstGeom prst="rect">
            <a:avLst/>
          </a:prstGeom>
        </p:spPr>
      </p:pic>
      <p:sp>
        <p:nvSpPr>
          <p:cNvPr id="16" name="TextBox 15">
            <a:extLst>
              <a:ext uri="{FF2B5EF4-FFF2-40B4-BE49-F238E27FC236}">
                <a16:creationId xmlns:a16="http://schemas.microsoft.com/office/drawing/2014/main" id="{E51ABF72-3F86-52FD-5017-5E1151063CA1}"/>
              </a:ext>
            </a:extLst>
          </p:cNvPr>
          <p:cNvSpPr txBox="1"/>
          <p:nvPr/>
        </p:nvSpPr>
        <p:spPr>
          <a:xfrm>
            <a:off x="2968786" y="0"/>
            <a:ext cx="4896020" cy="369332"/>
          </a:xfrm>
          <a:prstGeom prst="rect">
            <a:avLst/>
          </a:prstGeom>
          <a:noFill/>
        </p:spPr>
        <p:txBody>
          <a:bodyPr wrap="none" rtlCol="0">
            <a:spAutoFit/>
          </a:bodyPr>
          <a:lstStyle/>
          <a:p>
            <a:r>
              <a:rPr lang="en-US" dirty="0"/>
              <a:t>Treated and control pixels are still matched well</a:t>
            </a:r>
          </a:p>
        </p:txBody>
      </p:sp>
    </p:spTree>
    <p:extLst>
      <p:ext uri="{BB962C8B-B14F-4D97-AF65-F5344CB8AC3E}">
        <p14:creationId xmlns:p14="http://schemas.microsoft.com/office/powerpoint/2010/main" val="16083831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C8BDB-BB24-FFB8-758D-94FEF19DB8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C07B5D-8D1D-8AC3-7B2C-9437BACEC681}"/>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35AAA457-2854-6DC6-643B-FD18BB1EB231}"/>
              </a:ext>
            </a:extLst>
          </p:cNvPr>
          <p:cNvPicPr>
            <a:picLocks noGrp="1" noChangeAspect="1"/>
          </p:cNvPicPr>
          <p:nvPr>
            <p:ph idx="1"/>
          </p:nvPr>
        </p:nvPicPr>
        <p:blipFill>
          <a:blip r:embed="rId2"/>
          <a:stretch>
            <a:fillRect/>
          </a:stretch>
        </p:blipFill>
        <p:spPr>
          <a:xfrm>
            <a:off x="838200" y="92075"/>
            <a:ext cx="4575386" cy="3200400"/>
          </a:xfrm>
          <a:prstGeom prst="rect">
            <a:avLst/>
          </a:prstGeom>
        </p:spPr>
      </p:pic>
      <p:pic>
        <p:nvPicPr>
          <p:cNvPr id="7" name="Picture 6">
            <a:extLst>
              <a:ext uri="{FF2B5EF4-FFF2-40B4-BE49-F238E27FC236}">
                <a16:creationId xmlns:a16="http://schemas.microsoft.com/office/drawing/2014/main" id="{06C98DBF-EC07-5BBB-55C1-C6901C45629C}"/>
              </a:ext>
            </a:extLst>
          </p:cNvPr>
          <p:cNvPicPr>
            <a:picLocks noChangeAspect="1"/>
          </p:cNvPicPr>
          <p:nvPr/>
        </p:nvPicPr>
        <p:blipFill>
          <a:blip r:embed="rId3"/>
          <a:stretch>
            <a:fillRect/>
          </a:stretch>
        </p:blipFill>
        <p:spPr>
          <a:xfrm>
            <a:off x="6183780" y="92075"/>
            <a:ext cx="4720188" cy="3200400"/>
          </a:xfrm>
          <a:prstGeom prst="rect">
            <a:avLst/>
          </a:prstGeom>
        </p:spPr>
      </p:pic>
      <p:pic>
        <p:nvPicPr>
          <p:cNvPr id="9" name="Content Placeholder 4">
            <a:extLst>
              <a:ext uri="{FF2B5EF4-FFF2-40B4-BE49-F238E27FC236}">
                <a16:creationId xmlns:a16="http://schemas.microsoft.com/office/drawing/2014/main" id="{5964C331-5025-7D73-AF63-049B7311FAA9}"/>
              </a:ext>
            </a:extLst>
          </p:cNvPr>
          <p:cNvPicPr>
            <a:picLocks noChangeAspect="1"/>
          </p:cNvPicPr>
          <p:nvPr/>
        </p:nvPicPr>
        <p:blipFill>
          <a:blip r:embed="rId4"/>
          <a:stretch>
            <a:fillRect/>
          </a:stretch>
        </p:blipFill>
        <p:spPr>
          <a:xfrm>
            <a:off x="3383966" y="3565525"/>
            <a:ext cx="4895748" cy="3200400"/>
          </a:xfrm>
          <a:prstGeom prst="rect">
            <a:avLst/>
          </a:prstGeom>
        </p:spPr>
      </p:pic>
      <p:sp>
        <p:nvSpPr>
          <p:cNvPr id="3" name="Title 1">
            <a:extLst>
              <a:ext uri="{FF2B5EF4-FFF2-40B4-BE49-F238E27FC236}">
                <a16:creationId xmlns:a16="http://schemas.microsoft.com/office/drawing/2014/main" id="{FC4AEEF4-AC92-96B6-86D1-EB39B2AC16A4}"/>
              </a:ext>
            </a:extLst>
          </p:cNvPr>
          <p:cNvSpPr txBox="1">
            <a:spLocks/>
          </p:cNvSpPr>
          <p:nvPr/>
        </p:nvSpPr>
        <p:spPr>
          <a:xfrm>
            <a:off x="0" y="4502943"/>
            <a:ext cx="3237875" cy="1325563"/>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t>For comparison, this is before adding in drainage and land cover..</a:t>
            </a:r>
          </a:p>
        </p:txBody>
      </p:sp>
    </p:spTree>
    <p:extLst>
      <p:ext uri="{BB962C8B-B14F-4D97-AF65-F5344CB8AC3E}">
        <p14:creationId xmlns:p14="http://schemas.microsoft.com/office/powerpoint/2010/main" val="20997525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99D9A-4E05-3452-7DAC-CBDF365D0756}"/>
              </a:ext>
            </a:extLst>
          </p:cNvPr>
          <p:cNvSpPr>
            <a:spLocks noGrp="1"/>
          </p:cNvSpPr>
          <p:nvPr>
            <p:ph type="ctrTitle"/>
          </p:nvPr>
        </p:nvSpPr>
        <p:spPr/>
        <p:txBody>
          <a:bodyPr>
            <a:normAutofit fontScale="90000"/>
          </a:bodyPr>
          <a:lstStyle/>
          <a:p>
            <a:r>
              <a:rPr lang="en-US" dirty="0"/>
              <a:t>Burned area vs covariates that vary per year (skipping the covariates that are a single static measurement)</a:t>
            </a:r>
          </a:p>
        </p:txBody>
      </p:sp>
      <p:sp>
        <p:nvSpPr>
          <p:cNvPr id="3" name="Subtitle 2">
            <a:extLst>
              <a:ext uri="{FF2B5EF4-FFF2-40B4-BE49-F238E27FC236}">
                <a16:creationId xmlns:a16="http://schemas.microsoft.com/office/drawing/2014/main" id="{5DB94F42-7C18-B0D8-7B17-06E29C7F31DE}"/>
              </a:ext>
            </a:extLst>
          </p:cNvPr>
          <p:cNvSpPr>
            <a:spLocks noGrp="1"/>
          </p:cNvSpPr>
          <p:nvPr>
            <p:ph type="subTitle" idx="1"/>
          </p:nvPr>
        </p:nvSpPr>
        <p:spPr/>
        <p:txBody>
          <a:bodyPr/>
          <a:lstStyle/>
          <a:p>
            <a:r>
              <a:rPr lang="en-US" dirty="0"/>
              <a:t>Pixels divided into 8 bins of equal counts based on covariate value range.</a:t>
            </a:r>
          </a:p>
          <a:p>
            <a:r>
              <a:rPr lang="en-US" dirty="0"/>
              <a:t>Fireccis311 is at 300m; MCD64A1 at both 300m and 500m</a:t>
            </a:r>
          </a:p>
        </p:txBody>
      </p:sp>
    </p:spTree>
    <p:extLst>
      <p:ext uri="{BB962C8B-B14F-4D97-AF65-F5344CB8AC3E}">
        <p14:creationId xmlns:p14="http://schemas.microsoft.com/office/powerpoint/2010/main" val="38461420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B1B57-C525-BDE1-F60D-CA6798215AC3}"/>
              </a:ext>
            </a:extLst>
          </p:cNvPr>
          <p:cNvSpPr>
            <a:spLocks noGrp="1"/>
          </p:cNvSpPr>
          <p:nvPr>
            <p:ph type="ctrTitle"/>
          </p:nvPr>
        </p:nvSpPr>
        <p:spPr/>
        <p:txBody>
          <a:bodyPr/>
          <a:lstStyle/>
          <a:p>
            <a:r>
              <a:rPr lang="en-US" dirty="0"/>
              <a:t>FireCCIS311</a:t>
            </a:r>
          </a:p>
        </p:txBody>
      </p:sp>
      <p:sp>
        <p:nvSpPr>
          <p:cNvPr id="3" name="Subtitle 2">
            <a:extLst>
              <a:ext uri="{FF2B5EF4-FFF2-40B4-BE49-F238E27FC236}">
                <a16:creationId xmlns:a16="http://schemas.microsoft.com/office/drawing/2014/main" id="{CB533F5F-5634-A1AD-6145-68ED5058C7D3}"/>
              </a:ext>
            </a:extLst>
          </p:cNvPr>
          <p:cNvSpPr>
            <a:spLocks noGrp="1"/>
          </p:cNvSpPr>
          <p:nvPr>
            <p:ph type="subTitle" idx="1"/>
          </p:nvPr>
        </p:nvSpPr>
        <p:spPr/>
        <p:txBody>
          <a:bodyPr/>
          <a:lstStyle/>
          <a:p>
            <a:r>
              <a:rPr lang="en-US" dirty="0"/>
              <a:t>300m</a:t>
            </a:r>
          </a:p>
        </p:txBody>
      </p:sp>
    </p:spTree>
    <p:extLst>
      <p:ext uri="{BB962C8B-B14F-4D97-AF65-F5344CB8AC3E}">
        <p14:creationId xmlns:p14="http://schemas.microsoft.com/office/powerpoint/2010/main" val="8575216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59D58-4513-E473-5301-BB28E5FE080A}"/>
              </a:ext>
            </a:extLst>
          </p:cNvPr>
          <p:cNvSpPr>
            <a:spLocks noGrp="1"/>
          </p:cNvSpPr>
          <p:nvPr>
            <p:ph type="title"/>
          </p:nvPr>
        </p:nvSpPr>
        <p:spPr>
          <a:xfrm>
            <a:off x="0" y="18255"/>
            <a:ext cx="12192000" cy="1325563"/>
          </a:xfrm>
        </p:spPr>
        <p:txBody>
          <a:bodyPr>
            <a:normAutofit/>
          </a:bodyPr>
          <a:lstStyle/>
          <a:p>
            <a:r>
              <a:rPr lang="en-US" sz="3600" dirty="0"/>
              <a:t>FireCCIS311 vs PDSI drought index (more negative means more dry). </a:t>
            </a:r>
          </a:p>
        </p:txBody>
      </p:sp>
      <p:pic>
        <p:nvPicPr>
          <p:cNvPr id="5" name="Content Placeholder 4">
            <a:extLst>
              <a:ext uri="{FF2B5EF4-FFF2-40B4-BE49-F238E27FC236}">
                <a16:creationId xmlns:a16="http://schemas.microsoft.com/office/drawing/2014/main" id="{66D918C6-7610-FED5-CC89-66047C68F3F6}"/>
              </a:ext>
            </a:extLst>
          </p:cNvPr>
          <p:cNvPicPr>
            <a:picLocks noGrp="1" noChangeAspect="1"/>
          </p:cNvPicPr>
          <p:nvPr>
            <p:ph idx="1"/>
          </p:nvPr>
        </p:nvPicPr>
        <p:blipFill>
          <a:blip r:embed="rId3"/>
          <a:stretch>
            <a:fillRect/>
          </a:stretch>
        </p:blipFill>
        <p:spPr>
          <a:xfrm>
            <a:off x="1209463" y="894892"/>
            <a:ext cx="4420029" cy="2743200"/>
          </a:xfrm>
          <a:prstGeom prst="rect">
            <a:avLst/>
          </a:prstGeom>
        </p:spPr>
      </p:pic>
      <p:pic>
        <p:nvPicPr>
          <p:cNvPr id="7" name="Picture 6">
            <a:extLst>
              <a:ext uri="{FF2B5EF4-FFF2-40B4-BE49-F238E27FC236}">
                <a16:creationId xmlns:a16="http://schemas.microsoft.com/office/drawing/2014/main" id="{D80C500B-56E6-A056-47DA-06EF12B83024}"/>
              </a:ext>
            </a:extLst>
          </p:cNvPr>
          <p:cNvPicPr>
            <a:picLocks noChangeAspect="1"/>
          </p:cNvPicPr>
          <p:nvPr/>
        </p:nvPicPr>
        <p:blipFill>
          <a:blip r:embed="rId4"/>
          <a:stretch>
            <a:fillRect/>
          </a:stretch>
        </p:blipFill>
        <p:spPr>
          <a:xfrm>
            <a:off x="6809476" y="4096545"/>
            <a:ext cx="4311847" cy="2743200"/>
          </a:xfrm>
          <a:prstGeom prst="rect">
            <a:avLst/>
          </a:prstGeom>
        </p:spPr>
      </p:pic>
      <p:pic>
        <p:nvPicPr>
          <p:cNvPr id="9" name="Picture 8">
            <a:extLst>
              <a:ext uri="{FF2B5EF4-FFF2-40B4-BE49-F238E27FC236}">
                <a16:creationId xmlns:a16="http://schemas.microsoft.com/office/drawing/2014/main" id="{EBF9F383-E295-87E2-A202-E3D44C3627FC}"/>
              </a:ext>
            </a:extLst>
          </p:cNvPr>
          <p:cNvPicPr>
            <a:picLocks noChangeAspect="1"/>
          </p:cNvPicPr>
          <p:nvPr/>
        </p:nvPicPr>
        <p:blipFill>
          <a:blip r:embed="rId5"/>
          <a:stretch>
            <a:fillRect/>
          </a:stretch>
        </p:blipFill>
        <p:spPr>
          <a:xfrm>
            <a:off x="282497" y="4096545"/>
            <a:ext cx="5813503" cy="2743200"/>
          </a:xfrm>
          <a:prstGeom prst="rect">
            <a:avLst/>
          </a:prstGeom>
        </p:spPr>
      </p:pic>
      <p:pic>
        <p:nvPicPr>
          <p:cNvPr id="11" name="Picture 10">
            <a:extLst>
              <a:ext uri="{FF2B5EF4-FFF2-40B4-BE49-F238E27FC236}">
                <a16:creationId xmlns:a16="http://schemas.microsoft.com/office/drawing/2014/main" id="{98321507-7162-1AE6-573A-0BADAF411EAD}"/>
              </a:ext>
            </a:extLst>
          </p:cNvPr>
          <p:cNvPicPr>
            <a:picLocks noChangeAspect="1"/>
          </p:cNvPicPr>
          <p:nvPr/>
        </p:nvPicPr>
        <p:blipFill>
          <a:blip r:embed="rId6"/>
          <a:stretch>
            <a:fillRect/>
          </a:stretch>
        </p:blipFill>
        <p:spPr>
          <a:xfrm>
            <a:off x="6838954" y="894892"/>
            <a:ext cx="3717073" cy="2743200"/>
          </a:xfrm>
          <a:prstGeom prst="rect">
            <a:avLst/>
          </a:prstGeom>
        </p:spPr>
      </p:pic>
      <p:sp>
        <p:nvSpPr>
          <p:cNvPr id="12" name="TextBox 11">
            <a:extLst>
              <a:ext uri="{FF2B5EF4-FFF2-40B4-BE49-F238E27FC236}">
                <a16:creationId xmlns:a16="http://schemas.microsoft.com/office/drawing/2014/main" id="{DB3BE810-5252-720A-C9BE-9AE207B61CA1}"/>
              </a:ext>
            </a:extLst>
          </p:cNvPr>
          <p:cNvSpPr txBox="1"/>
          <p:nvPr/>
        </p:nvSpPr>
        <p:spPr>
          <a:xfrm>
            <a:off x="10946146" y="4772526"/>
            <a:ext cx="1245854" cy="246221"/>
          </a:xfrm>
          <a:prstGeom prst="rect">
            <a:avLst/>
          </a:prstGeom>
          <a:noFill/>
        </p:spPr>
        <p:txBody>
          <a:bodyPr wrap="none" rtlCol="0">
            <a:spAutoFit/>
          </a:bodyPr>
          <a:lstStyle/>
          <a:p>
            <a:r>
              <a:rPr lang="en-US" sz="1000" dirty="0"/>
              <a:t>(sum of other lines)</a:t>
            </a:r>
          </a:p>
        </p:txBody>
      </p:sp>
    </p:spTree>
    <p:extLst>
      <p:ext uri="{BB962C8B-B14F-4D97-AF65-F5344CB8AC3E}">
        <p14:creationId xmlns:p14="http://schemas.microsoft.com/office/powerpoint/2010/main" val="7377143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2C6EF-E464-DE85-9ECB-99EE3A9D6D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1D1A9-63CE-DE3A-7B20-E3C5EEEA68BF}"/>
              </a:ext>
            </a:extLst>
          </p:cNvPr>
          <p:cNvSpPr>
            <a:spLocks noGrp="1"/>
          </p:cNvSpPr>
          <p:nvPr>
            <p:ph type="title"/>
          </p:nvPr>
        </p:nvSpPr>
        <p:spPr>
          <a:xfrm>
            <a:off x="0" y="18255"/>
            <a:ext cx="12192000" cy="1325563"/>
          </a:xfrm>
        </p:spPr>
        <p:txBody>
          <a:bodyPr>
            <a:normAutofit/>
          </a:bodyPr>
          <a:lstStyle/>
          <a:p>
            <a:r>
              <a:rPr lang="en-US" sz="3600" dirty="0"/>
              <a:t>FireCCIS311 vs min temperature </a:t>
            </a:r>
          </a:p>
        </p:txBody>
      </p:sp>
      <p:pic>
        <p:nvPicPr>
          <p:cNvPr id="4" name="Picture 3">
            <a:extLst>
              <a:ext uri="{FF2B5EF4-FFF2-40B4-BE49-F238E27FC236}">
                <a16:creationId xmlns:a16="http://schemas.microsoft.com/office/drawing/2014/main" id="{8EDA1D48-16E3-A75C-8C94-63E43C18334A}"/>
              </a:ext>
            </a:extLst>
          </p:cNvPr>
          <p:cNvPicPr>
            <a:picLocks noChangeAspect="1"/>
          </p:cNvPicPr>
          <p:nvPr/>
        </p:nvPicPr>
        <p:blipFill>
          <a:blip r:embed="rId3"/>
          <a:stretch>
            <a:fillRect/>
          </a:stretch>
        </p:blipFill>
        <p:spPr>
          <a:xfrm>
            <a:off x="6838955" y="894892"/>
            <a:ext cx="3717074" cy="2743200"/>
          </a:xfrm>
          <a:prstGeom prst="rect">
            <a:avLst/>
          </a:prstGeom>
        </p:spPr>
      </p:pic>
      <p:pic>
        <p:nvPicPr>
          <p:cNvPr id="8" name="Picture 7">
            <a:extLst>
              <a:ext uri="{FF2B5EF4-FFF2-40B4-BE49-F238E27FC236}">
                <a16:creationId xmlns:a16="http://schemas.microsoft.com/office/drawing/2014/main" id="{27B81781-D1F7-AB64-0626-6DE98D7CA7A1}"/>
              </a:ext>
            </a:extLst>
          </p:cNvPr>
          <p:cNvPicPr>
            <a:picLocks noChangeAspect="1"/>
          </p:cNvPicPr>
          <p:nvPr/>
        </p:nvPicPr>
        <p:blipFill>
          <a:blip r:embed="rId4"/>
          <a:stretch>
            <a:fillRect/>
          </a:stretch>
        </p:blipFill>
        <p:spPr>
          <a:xfrm>
            <a:off x="1209463" y="894892"/>
            <a:ext cx="4420029" cy="2743200"/>
          </a:xfrm>
          <a:prstGeom prst="rect">
            <a:avLst/>
          </a:prstGeom>
        </p:spPr>
      </p:pic>
      <p:pic>
        <p:nvPicPr>
          <p:cNvPr id="13" name="Picture 12">
            <a:extLst>
              <a:ext uri="{FF2B5EF4-FFF2-40B4-BE49-F238E27FC236}">
                <a16:creationId xmlns:a16="http://schemas.microsoft.com/office/drawing/2014/main" id="{15695BD7-302E-9C99-4016-1A1769FF9B1D}"/>
              </a:ext>
            </a:extLst>
          </p:cNvPr>
          <p:cNvPicPr>
            <a:picLocks noChangeAspect="1"/>
          </p:cNvPicPr>
          <p:nvPr/>
        </p:nvPicPr>
        <p:blipFill>
          <a:blip r:embed="rId5"/>
          <a:stretch>
            <a:fillRect/>
          </a:stretch>
        </p:blipFill>
        <p:spPr>
          <a:xfrm>
            <a:off x="6809475" y="4096545"/>
            <a:ext cx="4311848" cy="2743200"/>
          </a:xfrm>
          <a:prstGeom prst="rect">
            <a:avLst/>
          </a:prstGeom>
        </p:spPr>
      </p:pic>
      <p:pic>
        <p:nvPicPr>
          <p:cNvPr id="15" name="Picture 14">
            <a:extLst>
              <a:ext uri="{FF2B5EF4-FFF2-40B4-BE49-F238E27FC236}">
                <a16:creationId xmlns:a16="http://schemas.microsoft.com/office/drawing/2014/main" id="{A79D5C2D-9A20-0562-7A2B-A65DF53A8578}"/>
              </a:ext>
            </a:extLst>
          </p:cNvPr>
          <p:cNvPicPr>
            <a:picLocks noChangeAspect="1"/>
          </p:cNvPicPr>
          <p:nvPr/>
        </p:nvPicPr>
        <p:blipFill>
          <a:blip r:embed="rId6"/>
          <a:stretch>
            <a:fillRect/>
          </a:stretch>
        </p:blipFill>
        <p:spPr>
          <a:xfrm>
            <a:off x="513304" y="4096545"/>
            <a:ext cx="5806068" cy="2743200"/>
          </a:xfrm>
          <a:prstGeom prst="rect">
            <a:avLst/>
          </a:prstGeom>
        </p:spPr>
      </p:pic>
    </p:spTree>
    <p:extLst>
      <p:ext uri="{BB962C8B-B14F-4D97-AF65-F5344CB8AC3E}">
        <p14:creationId xmlns:p14="http://schemas.microsoft.com/office/powerpoint/2010/main" val="32856794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2ED4D-EB48-8FA5-E647-C601D7FD06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D6FDB4-4C13-3F60-3E76-5927D1A2337C}"/>
              </a:ext>
            </a:extLst>
          </p:cNvPr>
          <p:cNvSpPr>
            <a:spLocks noGrp="1"/>
          </p:cNvSpPr>
          <p:nvPr>
            <p:ph type="title"/>
          </p:nvPr>
        </p:nvSpPr>
        <p:spPr>
          <a:xfrm>
            <a:off x="0" y="18255"/>
            <a:ext cx="12192000" cy="1325563"/>
          </a:xfrm>
        </p:spPr>
        <p:txBody>
          <a:bodyPr>
            <a:normAutofit/>
          </a:bodyPr>
          <a:lstStyle/>
          <a:p>
            <a:r>
              <a:rPr lang="en-US" sz="3600" dirty="0"/>
              <a:t>FireCCIS311 vs max temperature </a:t>
            </a:r>
          </a:p>
        </p:txBody>
      </p:sp>
      <p:pic>
        <p:nvPicPr>
          <p:cNvPr id="4" name="Picture 3">
            <a:extLst>
              <a:ext uri="{FF2B5EF4-FFF2-40B4-BE49-F238E27FC236}">
                <a16:creationId xmlns:a16="http://schemas.microsoft.com/office/drawing/2014/main" id="{7AA2ADC0-E07D-B149-85B5-368B6DACAA9E}"/>
              </a:ext>
            </a:extLst>
          </p:cNvPr>
          <p:cNvPicPr>
            <a:picLocks noChangeAspect="1"/>
          </p:cNvPicPr>
          <p:nvPr/>
        </p:nvPicPr>
        <p:blipFill>
          <a:blip r:embed="rId2"/>
          <a:stretch>
            <a:fillRect/>
          </a:stretch>
        </p:blipFill>
        <p:spPr>
          <a:xfrm>
            <a:off x="6838955" y="894892"/>
            <a:ext cx="3717074" cy="2743200"/>
          </a:xfrm>
          <a:prstGeom prst="rect">
            <a:avLst/>
          </a:prstGeom>
        </p:spPr>
      </p:pic>
      <p:pic>
        <p:nvPicPr>
          <p:cNvPr id="5" name="Picture 4">
            <a:extLst>
              <a:ext uri="{FF2B5EF4-FFF2-40B4-BE49-F238E27FC236}">
                <a16:creationId xmlns:a16="http://schemas.microsoft.com/office/drawing/2014/main" id="{215500A7-8DD1-C21F-3A62-202B9863FCF6}"/>
              </a:ext>
            </a:extLst>
          </p:cNvPr>
          <p:cNvPicPr>
            <a:picLocks noChangeAspect="1"/>
          </p:cNvPicPr>
          <p:nvPr/>
        </p:nvPicPr>
        <p:blipFill>
          <a:blip r:embed="rId3"/>
          <a:stretch>
            <a:fillRect/>
          </a:stretch>
        </p:blipFill>
        <p:spPr>
          <a:xfrm>
            <a:off x="19146522" y="836208"/>
            <a:ext cx="3717073" cy="2743200"/>
          </a:xfrm>
          <a:prstGeom prst="rect">
            <a:avLst/>
          </a:prstGeom>
        </p:spPr>
      </p:pic>
      <p:pic>
        <p:nvPicPr>
          <p:cNvPr id="7" name="Picture 6">
            <a:extLst>
              <a:ext uri="{FF2B5EF4-FFF2-40B4-BE49-F238E27FC236}">
                <a16:creationId xmlns:a16="http://schemas.microsoft.com/office/drawing/2014/main" id="{975D382A-BD74-261C-DAB5-793CAC4654A1}"/>
              </a:ext>
            </a:extLst>
          </p:cNvPr>
          <p:cNvPicPr>
            <a:picLocks noChangeAspect="1"/>
          </p:cNvPicPr>
          <p:nvPr/>
        </p:nvPicPr>
        <p:blipFill>
          <a:blip r:embed="rId4"/>
          <a:stretch>
            <a:fillRect/>
          </a:stretch>
        </p:blipFill>
        <p:spPr>
          <a:xfrm>
            <a:off x="982951" y="894892"/>
            <a:ext cx="4420029" cy="2743200"/>
          </a:xfrm>
          <a:prstGeom prst="rect">
            <a:avLst/>
          </a:prstGeom>
        </p:spPr>
      </p:pic>
      <p:pic>
        <p:nvPicPr>
          <p:cNvPr id="10" name="Picture 9">
            <a:extLst>
              <a:ext uri="{FF2B5EF4-FFF2-40B4-BE49-F238E27FC236}">
                <a16:creationId xmlns:a16="http://schemas.microsoft.com/office/drawing/2014/main" id="{084A0F89-4B0B-0C45-F16A-BE84AC118705}"/>
              </a:ext>
            </a:extLst>
          </p:cNvPr>
          <p:cNvPicPr>
            <a:picLocks noChangeAspect="1"/>
          </p:cNvPicPr>
          <p:nvPr/>
        </p:nvPicPr>
        <p:blipFill>
          <a:blip r:embed="rId5"/>
          <a:stretch>
            <a:fillRect/>
          </a:stretch>
        </p:blipFill>
        <p:spPr>
          <a:xfrm>
            <a:off x="289932" y="4002537"/>
            <a:ext cx="5806068" cy="2743200"/>
          </a:xfrm>
          <a:prstGeom prst="rect">
            <a:avLst/>
          </a:prstGeom>
        </p:spPr>
      </p:pic>
      <p:pic>
        <p:nvPicPr>
          <p:cNvPr id="12" name="Picture 11">
            <a:extLst>
              <a:ext uri="{FF2B5EF4-FFF2-40B4-BE49-F238E27FC236}">
                <a16:creationId xmlns:a16="http://schemas.microsoft.com/office/drawing/2014/main" id="{B35F9F9C-F1B3-E887-904B-F862CA99C6F2}"/>
              </a:ext>
            </a:extLst>
          </p:cNvPr>
          <p:cNvPicPr>
            <a:picLocks noChangeAspect="1"/>
          </p:cNvPicPr>
          <p:nvPr/>
        </p:nvPicPr>
        <p:blipFill>
          <a:blip r:embed="rId6"/>
          <a:stretch>
            <a:fillRect/>
          </a:stretch>
        </p:blipFill>
        <p:spPr>
          <a:xfrm>
            <a:off x="6838955" y="4002537"/>
            <a:ext cx="4311847" cy="2743200"/>
          </a:xfrm>
          <a:prstGeom prst="rect">
            <a:avLst/>
          </a:prstGeom>
        </p:spPr>
      </p:pic>
    </p:spTree>
    <p:extLst>
      <p:ext uri="{BB962C8B-B14F-4D97-AF65-F5344CB8AC3E}">
        <p14:creationId xmlns:p14="http://schemas.microsoft.com/office/powerpoint/2010/main" val="30752293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C49D0-9670-C41F-4B62-14D29B39A8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F5D652-82BA-EC4D-0AF4-8BD27D7CA6CD}"/>
              </a:ext>
            </a:extLst>
          </p:cNvPr>
          <p:cNvSpPr>
            <a:spLocks noGrp="1"/>
          </p:cNvSpPr>
          <p:nvPr>
            <p:ph type="title"/>
          </p:nvPr>
        </p:nvSpPr>
        <p:spPr>
          <a:xfrm>
            <a:off x="0" y="-81415"/>
            <a:ext cx="12192000" cy="1325563"/>
          </a:xfrm>
        </p:spPr>
        <p:txBody>
          <a:bodyPr>
            <a:normAutofit/>
          </a:bodyPr>
          <a:lstStyle/>
          <a:p>
            <a:r>
              <a:rPr lang="en-US" sz="3200" dirty="0"/>
              <a:t>FireCCIS311 vs precipitation (mean annual in mm)</a:t>
            </a:r>
          </a:p>
        </p:txBody>
      </p:sp>
      <p:pic>
        <p:nvPicPr>
          <p:cNvPr id="5" name="Picture 4">
            <a:extLst>
              <a:ext uri="{FF2B5EF4-FFF2-40B4-BE49-F238E27FC236}">
                <a16:creationId xmlns:a16="http://schemas.microsoft.com/office/drawing/2014/main" id="{E5E100FF-DE5B-0BBB-004C-7E73ACB77A72}"/>
              </a:ext>
            </a:extLst>
          </p:cNvPr>
          <p:cNvPicPr>
            <a:picLocks noChangeAspect="1"/>
          </p:cNvPicPr>
          <p:nvPr/>
        </p:nvPicPr>
        <p:blipFill>
          <a:blip r:embed="rId3"/>
          <a:stretch>
            <a:fillRect/>
          </a:stretch>
        </p:blipFill>
        <p:spPr>
          <a:xfrm>
            <a:off x="6838955" y="792022"/>
            <a:ext cx="3717073" cy="2743200"/>
          </a:xfrm>
          <a:prstGeom prst="rect">
            <a:avLst/>
          </a:prstGeom>
        </p:spPr>
      </p:pic>
      <p:pic>
        <p:nvPicPr>
          <p:cNvPr id="7" name="Picture 6">
            <a:extLst>
              <a:ext uri="{FF2B5EF4-FFF2-40B4-BE49-F238E27FC236}">
                <a16:creationId xmlns:a16="http://schemas.microsoft.com/office/drawing/2014/main" id="{8575B95A-14D0-7778-8DC7-5BF9D21A6354}"/>
              </a:ext>
            </a:extLst>
          </p:cNvPr>
          <p:cNvPicPr>
            <a:picLocks noChangeAspect="1"/>
          </p:cNvPicPr>
          <p:nvPr/>
        </p:nvPicPr>
        <p:blipFill>
          <a:blip r:embed="rId4"/>
          <a:stretch>
            <a:fillRect/>
          </a:stretch>
        </p:blipFill>
        <p:spPr>
          <a:xfrm>
            <a:off x="1209463" y="894892"/>
            <a:ext cx="4420029" cy="2743200"/>
          </a:xfrm>
          <a:prstGeom prst="rect">
            <a:avLst/>
          </a:prstGeom>
        </p:spPr>
      </p:pic>
      <p:pic>
        <p:nvPicPr>
          <p:cNvPr id="10" name="Picture 9">
            <a:extLst>
              <a:ext uri="{FF2B5EF4-FFF2-40B4-BE49-F238E27FC236}">
                <a16:creationId xmlns:a16="http://schemas.microsoft.com/office/drawing/2014/main" id="{67824803-926A-B8C9-DE8B-565F8D97B88C}"/>
              </a:ext>
            </a:extLst>
          </p:cNvPr>
          <p:cNvPicPr>
            <a:picLocks noChangeAspect="1"/>
          </p:cNvPicPr>
          <p:nvPr/>
        </p:nvPicPr>
        <p:blipFill>
          <a:blip r:embed="rId5"/>
          <a:stretch>
            <a:fillRect/>
          </a:stretch>
        </p:blipFill>
        <p:spPr>
          <a:xfrm>
            <a:off x="703436" y="3848747"/>
            <a:ext cx="5828371" cy="2743200"/>
          </a:xfrm>
          <a:prstGeom prst="rect">
            <a:avLst/>
          </a:prstGeom>
        </p:spPr>
      </p:pic>
      <p:pic>
        <p:nvPicPr>
          <p:cNvPr id="14" name="Picture 13">
            <a:extLst>
              <a:ext uri="{FF2B5EF4-FFF2-40B4-BE49-F238E27FC236}">
                <a16:creationId xmlns:a16="http://schemas.microsoft.com/office/drawing/2014/main" id="{47413337-6015-20EC-BA13-D3C3F591AF86}"/>
              </a:ext>
            </a:extLst>
          </p:cNvPr>
          <p:cNvPicPr>
            <a:picLocks noChangeAspect="1"/>
          </p:cNvPicPr>
          <p:nvPr/>
        </p:nvPicPr>
        <p:blipFill>
          <a:blip r:embed="rId6"/>
          <a:stretch>
            <a:fillRect/>
          </a:stretch>
        </p:blipFill>
        <p:spPr>
          <a:xfrm>
            <a:off x="6838955" y="3848747"/>
            <a:ext cx="4311847" cy="2743200"/>
          </a:xfrm>
          <a:prstGeom prst="rect">
            <a:avLst/>
          </a:prstGeom>
        </p:spPr>
      </p:pic>
    </p:spTree>
    <p:extLst>
      <p:ext uri="{BB962C8B-B14F-4D97-AF65-F5344CB8AC3E}">
        <p14:creationId xmlns:p14="http://schemas.microsoft.com/office/powerpoint/2010/main" val="33195704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C7179-B6C4-5CE2-2F31-7C62A7FB10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D84A53-5EC8-4F42-D66E-DB6A51989296}"/>
              </a:ext>
            </a:extLst>
          </p:cNvPr>
          <p:cNvSpPr>
            <a:spLocks noGrp="1"/>
          </p:cNvSpPr>
          <p:nvPr>
            <p:ph type="ctrTitle"/>
          </p:nvPr>
        </p:nvSpPr>
        <p:spPr/>
        <p:txBody>
          <a:bodyPr/>
          <a:lstStyle/>
          <a:p>
            <a:r>
              <a:rPr lang="en-US" dirty="0"/>
              <a:t>MCD64A1</a:t>
            </a:r>
          </a:p>
        </p:txBody>
      </p:sp>
      <p:sp>
        <p:nvSpPr>
          <p:cNvPr id="3" name="Subtitle 2">
            <a:extLst>
              <a:ext uri="{FF2B5EF4-FFF2-40B4-BE49-F238E27FC236}">
                <a16:creationId xmlns:a16="http://schemas.microsoft.com/office/drawing/2014/main" id="{7DB238E5-D92A-FAA4-F607-39EE5F85CCD2}"/>
              </a:ext>
            </a:extLst>
          </p:cNvPr>
          <p:cNvSpPr>
            <a:spLocks noGrp="1"/>
          </p:cNvSpPr>
          <p:nvPr>
            <p:ph type="subTitle" idx="1"/>
          </p:nvPr>
        </p:nvSpPr>
        <p:spPr/>
        <p:txBody>
          <a:bodyPr/>
          <a:lstStyle/>
          <a:p>
            <a:r>
              <a:rPr lang="en-US" dirty="0"/>
              <a:t>300m</a:t>
            </a:r>
          </a:p>
        </p:txBody>
      </p:sp>
    </p:spTree>
    <p:extLst>
      <p:ext uri="{BB962C8B-B14F-4D97-AF65-F5344CB8AC3E}">
        <p14:creationId xmlns:p14="http://schemas.microsoft.com/office/powerpoint/2010/main" val="811451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77465-0463-444B-04C0-D62A302CBE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3F73ED-1BB2-6FE0-3804-744415B38F05}"/>
              </a:ext>
            </a:extLst>
          </p:cNvPr>
          <p:cNvSpPr>
            <a:spLocks noGrp="1"/>
          </p:cNvSpPr>
          <p:nvPr>
            <p:ph type="title"/>
          </p:nvPr>
        </p:nvSpPr>
        <p:spPr>
          <a:xfrm>
            <a:off x="0" y="18255"/>
            <a:ext cx="12192000" cy="1325563"/>
          </a:xfrm>
        </p:spPr>
        <p:txBody>
          <a:bodyPr>
            <a:normAutofit/>
          </a:bodyPr>
          <a:lstStyle/>
          <a:p>
            <a:r>
              <a:rPr lang="en-US" sz="3600" dirty="0"/>
              <a:t>MCD64A1 vs PDSI drought index (more negative means more dry). </a:t>
            </a:r>
          </a:p>
        </p:txBody>
      </p:sp>
      <p:pic>
        <p:nvPicPr>
          <p:cNvPr id="5" name="Picture 4">
            <a:extLst>
              <a:ext uri="{FF2B5EF4-FFF2-40B4-BE49-F238E27FC236}">
                <a16:creationId xmlns:a16="http://schemas.microsoft.com/office/drawing/2014/main" id="{3C234EF8-E2A3-A9CC-72DD-130CDB765568}"/>
              </a:ext>
            </a:extLst>
          </p:cNvPr>
          <p:cNvPicPr>
            <a:picLocks noChangeAspect="1"/>
          </p:cNvPicPr>
          <p:nvPr/>
        </p:nvPicPr>
        <p:blipFill>
          <a:blip r:embed="rId3"/>
          <a:stretch>
            <a:fillRect/>
          </a:stretch>
        </p:blipFill>
        <p:spPr>
          <a:xfrm>
            <a:off x="6838955" y="1015355"/>
            <a:ext cx="3717073" cy="2743200"/>
          </a:xfrm>
          <a:prstGeom prst="rect">
            <a:avLst/>
          </a:prstGeom>
        </p:spPr>
      </p:pic>
      <p:pic>
        <p:nvPicPr>
          <p:cNvPr id="7" name="Picture 6">
            <a:extLst>
              <a:ext uri="{FF2B5EF4-FFF2-40B4-BE49-F238E27FC236}">
                <a16:creationId xmlns:a16="http://schemas.microsoft.com/office/drawing/2014/main" id="{AA987EC7-F769-0AA4-9884-4E2FBB870D91}"/>
              </a:ext>
            </a:extLst>
          </p:cNvPr>
          <p:cNvPicPr>
            <a:picLocks noChangeAspect="1"/>
          </p:cNvPicPr>
          <p:nvPr/>
        </p:nvPicPr>
        <p:blipFill>
          <a:blip r:embed="rId4"/>
          <a:stretch>
            <a:fillRect/>
          </a:stretch>
        </p:blipFill>
        <p:spPr>
          <a:xfrm>
            <a:off x="933017" y="1015355"/>
            <a:ext cx="4420029" cy="2743200"/>
          </a:xfrm>
          <a:prstGeom prst="rect">
            <a:avLst/>
          </a:prstGeom>
        </p:spPr>
      </p:pic>
      <p:pic>
        <p:nvPicPr>
          <p:cNvPr id="9" name="Picture 8">
            <a:extLst>
              <a:ext uri="{FF2B5EF4-FFF2-40B4-BE49-F238E27FC236}">
                <a16:creationId xmlns:a16="http://schemas.microsoft.com/office/drawing/2014/main" id="{89171866-0BA8-074F-870E-A461A54B1103}"/>
              </a:ext>
            </a:extLst>
          </p:cNvPr>
          <p:cNvPicPr>
            <a:picLocks noChangeAspect="1"/>
          </p:cNvPicPr>
          <p:nvPr/>
        </p:nvPicPr>
        <p:blipFill>
          <a:blip r:embed="rId5"/>
          <a:stretch>
            <a:fillRect/>
          </a:stretch>
        </p:blipFill>
        <p:spPr>
          <a:xfrm>
            <a:off x="191675" y="4740881"/>
            <a:ext cx="6410712" cy="1188720"/>
          </a:xfrm>
          <a:prstGeom prst="rect">
            <a:avLst/>
          </a:prstGeom>
        </p:spPr>
      </p:pic>
      <p:pic>
        <p:nvPicPr>
          <p:cNvPr id="11" name="Picture 10">
            <a:extLst>
              <a:ext uri="{FF2B5EF4-FFF2-40B4-BE49-F238E27FC236}">
                <a16:creationId xmlns:a16="http://schemas.microsoft.com/office/drawing/2014/main" id="{4451F418-B199-3DAA-B752-84296B7E4BF0}"/>
              </a:ext>
            </a:extLst>
          </p:cNvPr>
          <p:cNvPicPr>
            <a:picLocks noChangeAspect="1"/>
          </p:cNvPicPr>
          <p:nvPr/>
        </p:nvPicPr>
        <p:blipFill>
          <a:blip r:embed="rId6"/>
          <a:stretch>
            <a:fillRect/>
          </a:stretch>
        </p:blipFill>
        <p:spPr>
          <a:xfrm>
            <a:off x="6838955" y="3874431"/>
            <a:ext cx="4311847" cy="2743200"/>
          </a:xfrm>
          <a:prstGeom prst="rect">
            <a:avLst/>
          </a:prstGeom>
        </p:spPr>
      </p:pic>
    </p:spTree>
    <p:extLst>
      <p:ext uri="{BB962C8B-B14F-4D97-AF65-F5344CB8AC3E}">
        <p14:creationId xmlns:p14="http://schemas.microsoft.com/office/powerpoint/2010/main" val="36706902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EEA96-A65D-92A6-8148-70E5CB2C42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3A30B7-BC78-BDD0-7B56-97D41FD53BF4}"/>
              </a:ext>
            </a:extLst>
          </p:cNvPr>
          <p:cNvSpPr>
            <a:spLocks noGrp="1"/>
          </p:cNvSpPr>
          <p:nvPr>
            <p:ph type="title"/>
          </p:nvPr>
        </p:nvSpPr>
        <p:spPr>
          <a:xfrm>
            <a:off x="0" y="18255"/>
            <a:ext cx="12192000" cy="1325563"/>
          </a:xfrm>
        </p:spPr>
        <p:txBody>
          <a:bodyPr>
            <a:normAutofit/>
          </a:bodyPr>
          <a:lstStyle/>
          <a:p>
            <a:r>
              <a:rPr lang="en-US" sz="3600" dirty="0"/>
              <a:t>MCD64A1 vs min temperature </a:t>
            </a:r>
          </a:p>
        </p:txBody>
      </p:sp>
      <p:pic>
        <p:nvPicPr>
          <p:cNvPr id="4" name="Picture 3">
            <a:extLst>
              <a:ext uri="{FF2B5EF4-FFF2-40B4-BE49-F238E27FC236}">
                <a16:creationId xmlns:a16="http://schemas.microsoft.com/office/drawing/2014/main" id="{8840D9C0-A1F6-212C-80C1-A1BD00EC0E33}"/>
              </a:ext>
            </a:extLst>
          </p:cNvPr>
          <p:cNvPicPr>
            <a:picLocks noChangeAspect="1"/>
          </p:cNvPicPr>
          <p:nvPr/>
        </p:nvPicPr>
        <p:blipFill>
          <a:blip r:embed="rId3"/>
          <a:stretch>
            <a:fillRect/>
          </a:stretch>
        </p:blipFill>
        <p:spPr>
          <a:xfrm>
            <a:off x="6838956" y="894892"/>
            <a:ext cx="3717073" cy="2743200"/>
          </a:xfrm>
          <a:prstGeom prst="rect">
            <a:avLst/>
          </a:prstGeom>
        </p:spPr>
      </p:pic>
      <p:pic>
        <p:nvPicPr>
          <p:cNvPr id="8" name="Picture 7">
            <a:extLst>
              <a:ext uri="{FF2B5EF4-FFF2-40B4-BE49-F238E27FC236}">
                <a16:creationId xmlns:a16="http://schemas.microsoft.com/office/drawing/2014/main" id="{EEE4C49B-BC70-38BB-176D-FCBCB59557C7}"/>
              </a:ext>
            </a:extLst>
          </p:cNvPr>
          <p:cNvPicPr>
            <a:picLocks noChangeAspect="1"/>
          </p:cNvPicPr>
          <p:nvPr/>
        </p:nvPicPr>
        <p:blipFill>
          <a:blip r:embed="rId4"/>
          <a:stretch>
            <a:fillRect/>
          </a:stretch>
        </p:blipFill>
        <p:spPr>
          <a:xfrm>
            <a:off x="933016" y="894892"/>
            <a:ext cx="4420029" cy="2743200"/>
          </a:xfrm>
          <a:prstGeom prst="rect">
            <a:avLst/>
          </a:prstGeom>
        </p:spPr>
      </p:pic>
      <p:pic>
        <p:nvPicPr>
          <p:cNvPr id="11" name="Picture 10">
            <a:extLst>
              <a:ext uri="{FF2B5EF4-FFF2-40B4-BE49-F238E27FC236}">
                <a16:creationId xmlns:a16="http://schemas.microsoft.com/office/drawing/2014/main" id="{D73F1D54-9035-9C66-1D9A-C8270664DEDB}"/>
              </a:ext>
            </a:extLst>
          </p:cNvPr>
          <p:cNvPicPr>
            <a:picLocks noChangeAspect="1"/>
          </p:cNvPicPr>
          <p:nvPr/>
        </p:nvPicPr>
        <p:blipFill>
          <a:blip r:embed="rId5"/>
          <a:stretch>
            <a:fillRect/>
          </a:stretch>
        </p:blipFill>
        <p:spPr>
          <a:xfrm>
            <a:off x="428244" y="4873785"/>
            <a:ext cx="6410712" cy="1188720"/>
          </a:xfrm>
          <a:prstGeom prst="rect">
            <a:avLst/>
          </a:prstGeom>
        </p:spPr>
      </p:pic>
      <p:pic>
        <p:nvPicPr>
          <p:cNvPr id="14" name="Picture 13">
            <a:extLst>
              <a:ext uri="{FF2B5EF4-FFF2-40B4-BE49-F238E27FC236}">
                <a16:creationId xmlns:a16="http://schemas.microsoft.com/office/drawing/2014/main" id="{FB7A6080-8BA2-A6A0-40A5-4BFF2A8B6236}"/>
              </a:ext>
            </a:extLst>
          </p:cNvPr>
          <p:cNvPicPr>
            <a:picLocks noChangeAspect="1"/>
          </p:cNvPicPr>
          <p:nvPr/>
        </p:nvPicPr>
        <p:blipFill>
          <a:blip r:embed="rId6"/>
          <a:stretch>
            <a:fillRect/>
          </a:stretch>
        </p:blipFill>
        <p:spPr>
          <a:xfrm>
            <a:off x="6838956" y="4096545"/>
            <a:ext cx="4311847" cy="2743200"/>
          </a:xfrm>
          <a:prstGeom prst="rect">
            <a:avLst/>
          </a:prstGeom>
        </p:spPr>
      </p:pic>
    </p:spTree>
    <p:extLst>
      <p:ext uri="{BB962C8B-B14F-4D97-AF65-F5344CB8AC3E}">
        <p14:creationId xmlns:p14="http://schemas.microsoft.com/office/powerpoint/2010/main" val="489497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4B1DD-A2DA-FC9A-2DD1-8B23606AB4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9660F0-2987-A1FE-C65A-3942BAF4DC84}"/>
              </a:ext>
            </a:extLst>
          </p:cNvPr>
          <p:cNvSpPr>
            <a:spLocks noGrp="1"/>
          </p:cNvSpPr>
          <p:nvPr>
            <p:ph type="title"/>
          </p:nvPr>
        </p:nvSpPr>
        <p:spPr>
          <a:xfrm>
            <a:off x="0" y="18255"/>
            <a:ext cx="12192000" cy="1325563"/>
          </a:xfrm>
        </p:spPr>
        <p:txBody>
          <a:bodyPr>
            <a:normAutofit/>
          </a:bodyPr>
          <a:lstStyle/>
          <a:p>
            <a:r>
              <a:rPr lang="en-US" sz="3600" dirty="0"/>
              <a:t>MCD64A1 vs max temperature </a:t>
            </a:r>
          </a:p>
        </p:txBody>
      </p:sp>
      <p:pic>
        <p:nvPicPr>
          <p:cNvPr id="4" name="Picture 3">
            <a:extLst>
              <a:ext uri="{FF2B5EF4-FFF2-40B4-BE49-F238E27FC236}">
                <a16:creationId xmlns:a16="http://schemas.microsoft.com/office/drawing/2014/main" id="{818C450D-F9DB-6F57-27DC-35DDD5211C65}"/>
              </a:ext>
            </a:extLst>
          </p:cNvPr>
          <p:cNvPicPr>
            <a:picLocks noChangeAspect="1"/>
          </p:cNvPicPr>
          <p:nvPr/>
        </p:nvPicPr>
        <p:blipFill>
          <a:blip r:embed="rId2"/>
          <a:stretch>
            <a:fillRect/>
          </a:stretch>
        </p:blipFill>
        <p:spPr>
          <a:xfrm>
            <a:off x="6838956" y="836208"/>
            <a:ext cx="3717073" cy="2743200"/>
          </a:xfrm>
          <a:prstGeom prst="rect">
            <a:avLst/>
          </a:prstGeom>
        </p:spPr>
      </p:pic>
      <p:pic>
        <p:nvPicPr>
          <p:cNvPr id="8" name="Picture 7">
            <a:extLst>
              <a:ext uri="{FF2B5EF4-FFF2-40B4-BE49-F238E27FC236}">
                <a16:creationId xmlns:a16="http://schemas.microsoft.com/office/drawing/2014/main" id="{387BF326-2341-8E73-9303-AA17FB03388B}"/>
              </a:ext>
            </a:extLst>
          </p:cNvPr>
          <p:cNvPicPr>
            <a:picLocks noChangeAspect="1"/>
          </p:cNvPicPr>
          <p:nvPr/>
        </p:nvPicPr>
        <p:blipFill>
          <a:blip r:embed="rId3"/>
          <a:stretch>
            <a:fillRect/>
          </a:stretch>
        </p:blipFill>
        <p:spPr>
          <a:xfrm>
            <a:off x="933017" y="836208"/>
            <a:ext cx="4420029" cy="2743200"/>
          </a:xfrm>
          <a:prstGeom prst="rect">
            <a:avLst/>
          </a:prstGeom>
        </p:spPr>
      </p:pic>
      <p:pic>
        <p:nvPicPr>
          <p:cNvPr id="11" name="Picture 10">
            <a:extLst>
              <a:ext uri="{FF2B5EF4-FFF2-40B4-BE49-F238E27FC236}">
                <a16:creationId xmlns:a16="http://schemas.microsoft.com/office/drawing/2014/main" id="{5F6F2A26-3956-8149-8A84-DB59E1605A0F}"/>
              </a:ext>
            </a:extLst>
          </p:cNvPr>
          <p:cNvPicPr>
            <a:picLocks noChangeAspect="1"/>
          </p:cNvPicPr>
          <p:nvPr/>
        </p:nvPicPr>
        <p:blipFill>
          <a:blip r:embed="rId4"/>
          <a:stretch>
            <a:fillRect/>
          </a:stretch>
        </p:blipFill>
        <p:spPr>
          <a:xfrm>
            <a:off x="125554" y="4833072"/>
            <a:ext cx="6410712" cy="1188720"/>
          </a:xfrm>
          <a:prstGeom prst="rect">
            <a:avLst/>
          </a:prstGeom>
        </p:spPr>
      </p:pic>
      <p:pic>
        <p:nvPicPr>
          <p:cNvPr id="14" name="Picture 13">
            <a:extLst>
              <a:ext uri="{FF2B5EF4-FFF2-40B4-BE49-F238E27FC236}">
                <a16:creationId xmlns:a16="http://schemas.microsoft.com/office/drawing/2014/main" id="{498D09AC-9660-5022-EFCB-74DA05408988}"/>
              </a:ext>
            </a:extLst>
          </p:cNvPr>
          <p:cNvPicPr>
            <a:picLocks noChangeAspect="1"/>
          </p:cNvPicPr>
          <p:nvPr/>
        </p:nvPicPr>
        <p:blipFill>
          <a:blip r:embed="rId5"/>
          <a:stretch>
            <a:fillRect/>
          </a:stretch>
        </p:blipFill>
        <p:spPr>
          <a:xfrm>
            <a:off x="6832298" y="4054606"/>
            <a:ext cx="4311847" cy="2743200"/>
          </a:xfrm>
          <a:prstGeom prst="rect">
            <a:avLst/>
          </a:prstGeom>
        </p:spPr>
      </p:pic>
    </p:spTree>
    <p:extLst>
      <p:ext uri="{BB962C8B-B14F-4D97-AF65-F5344CB8AC3E}">
        <p14:creationId xmlns:p14="http://schemas.microsoft.com/office/powerpoint/2010/main" val="21173492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87969-276D-40D4-1CA5-2658319111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0FD8DA-73D9-163A-C8F0-6C1FDDEBC041}"/>
              </a:ext>
            </a:extLst>
          </p:cNvPr>
          <p:cNvSpPr>
            <a:spLocks noGrp="1"/>
          </p:cNvSpPr>
          <p:nvPr>
            <p:ph type="title"/>
          </p:nvPr>
        </p:nvSpPr>
        <p:spPr>
          <a:xfrm>
            <a:off x="0" y="-81415"/>
            <a:ext cx="12192000" cy="1325563"/>
          </a:xfrm>
        </p:spPr>
        <p:txBody>
          <a:bodyPr>
            <a:normAutofit/>
          </a:bodyPr>
          <a:lstStyle/>
          <a:p>
            <a:r>
              <a:rPr lang="en-US" sz="3200" dirty="0"/>
              <a:t>MCD64A1 vs precipitation (mean annual in mm)</a:t>
            </a:r>
          </a:p>
        </p:txBody>
      </p:sp>
      <p:pic>
        <p:nvPicPr>
          <p:cNvPr id="13" name="Picture 12">
            <a:extLst>
              <a:ext uri="{FF2B5EF4-FFF2-40B4-BE49-F238E27FC236}">
                <a16:creationId xmlns:a16="http://schemas.microsoft.com/office/drawing/2014/main" id="{B82366DA-0DB4-D3FB-AC0E-8093381F768C}"/>
              </a:ext>
            </a:extLst>
          </p:cNvPr>
          <p:cNvPicPr>
            <a:picLocks noChangeAspect="1"/>
          </p:cNvPicPr>
          <p:nvPr/>
        </p:nvPicPr>
        <p:blipFill>
          <a:blip r:embed="rId3"/>
          <a:stretch>
            <a:fillRect/>
          </a:stretch>
        </p:blipFill>
        <p:spPr>
          <a:xfrm>
            <a:off x="6838955" y="3848747"/>
            <a:ext cx="4311847" cy="2743200"/>
          </a:xfrm>
          <a:prstGeom prst="rect">
            <a:avLst/>
          </a:prstGeom>
        </p:spPr>
      </p:pic>
      <p:pic>
        <p:nvPicPr>
          <p:cNvPr id="5" name="Picture 4">
            <a:extLst>
              <a:ext uri="{FF2B5EF4-FFF2-40B4-BE49-F238E27FC236}">
                <a16:creationId xmlns:a16="http://schemas.microsoft.com/office/drawing/2014/main" id="{CB70A080-9F07-AD1E-CE00-410962C39D0E}"/>
              </a:ext>
            </a:extLst>
          </p:cNvPr>
          <p:cNvPicPr>
            <a:picLocks noChangeAspect="1"/>
          </p:cNvPicPr>
          <p:nvPr/>
        </p:nvPicPr>
        <p:blipFill>
          <a:blip r:embed="rId4"/>
          <a:stretch>
            <a:fillRect/>
          </a:stretch>
        </p:blipFill>
        <p:spPr>
          <a:xfrm>
            <a:off x="6925453" y="852263"/>
            <a:ext cx="3717073" cy="2743200"/>
          </a:xfrm>
          <a:prstGeom prst="rect">
            <a:avLst/>
          </a:prstGeom>
        </p:spPr>
      </p:pic>
      <p:pic>
        <p:nvPicPr>
          <p:cNvPr id="7" name="Picture 6">
            <a:extLst>
              <a:ext uri="{FF2B5EF4-FFF2-40B4-BE49-F238E27FC236}">
                <a16:creationId xmlns:a16="http://schemas.microsoft.com/office/drawing/2014/main" id="{43D0F257-C44E-766D-D075-F4BCC9E0EE88}"/>
              </a:ext>
            </a:extLst>
          </p:cNvPr>
          <p:cNvPicPr>
            <a:picLocks noChangeAspect="1"/>
          </p:cNvPicPr>
          <p:nvPr/>
        </p:nvPicPr>
        <p:blipFill>
          <a:blip r:embed="rId5"/>
          <a:stretch>
            <a:fillRect/>
          </a:stretch>
        </p:blipFill>
        <p:spPr>
          <a:xfrm>
            <a:off x="1252712" y="730968"/>
            <a:ext cx="4420029" cy="2743200"/>
          </a:xfrm>
          <a:prstGeom prst="rect">
            <a:avLst/>
          </a:prstGeom>
        </p:spPr>
      </p:pic>
      <p:pic>
        <p:nvPicPr>
          <p:cNvPr id="10" name="Picture 9">
            <a:extLst>
              <a:ext uri="{FF2B5EF4-FFF2-40B4-BE49-F238E27FC236}">
                <a16:creationId xmlns:a16="http://schemas.microsoft.com/office/drawing/2014/main" id="{5BD4A25D-DBB2-7F5B-557C-E98F5C59CF6D}"/>
              </a:ext>
            </a:extLst>
          </p:cNvPr>
          <p:cNvPicPr>
            <a:picLocks noChangeAspect="1"/>
          </p:cNvPicPr>
          <p:nvPr/>
        </p:nvPicPr>
        <p:blipFill>
          <a:blip r:embed="rId6"/>
          <a:stretch>
            <a:fillRect/>
          </a:stretch>
        </p:blipFill>
        <p:spPr>
          <a:xfrm>
            <a:off x="254146" y="4625987"/>
            <a:ext cx="6417159" cy="1188720"/>
          </a:xfrm>
          <a:prstGeom prst="rect">
            <a:avLst/>
          </a:prstGeom>
        </p:spPr>
      </p:pic>
    </p:spTree>
    <p:extLst>
      <p:ext uri="{BB962C8B-B14F-4D97-AF65-F5344CB8AC3E}">
        <p14:creationId xmlns:p14="http://schemas.microsoft.com/office/powerpoint/2010/main" val="11545038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FFD8D-02CF-BA3B-EA5F-B696B3487017}"/>
              </a:ext>
            </a:extLst>
          </p:cNvPr>
          <p:cNvSpPr>
            <a:spLocks noGrp="1"/>
          </p:cNvSpPr>
          <p:nvPr>
            <p:ph type="ctrTitle"/>
          </p:nvPr>
        </p:nvSpPr>
        <p:spPr/>
        <p:txBody>
          <a:bodyPr/>
          <a:lstStyle/>
          <a:p>
            <a:r>
              <a:rPr lang="en-US" dirty="0"/>
              <a:t>MCD64A1</a:t>
            </a:r>
          </a:p>
        </p:txBody>
      </p:sp>
      <p:sp>
        <p:nvSpPr>
          <p:cNvPr id="3" name="Subtitle 2">
            <a:extLst>
              <a:ext uri="{FF2B5EF4-FFF2-40B4-BE49-F238E27FC236}">
                <a16:creationId xmlns:a16="http://schemas.microsoft.com/office/drawing/2014/main" id="{34C55382-5CB7-4526-1F44-882DB7050A5C}"/>
              </a:ext>
            </a:extLst>
          </p:cNvPr>
          <p:cNvSpPr>
            <a:spLocks noGrp="1"/>
          </p:cNvSpPr>
          <p:nvPr>
            <p:ph type="subTitle" idx="1"/>
          </p:nvPr>
        </p:nvSpPr>
        <p:spPr/>
        <p:txBody>
          <a:bodyPr/>
          <a:lstStyle/>
          <a:p>
            <a:r>
              <a:rPr lang="en-US" dirty="0"/>
              <a:t>500m</a:t>
            </a:r>
          </a:p>
        </p:txBody>
      </p:sp>
    </p:spTree>
    <p:extLst>
      <p:ext uri="{BB962C8B-B14F-4D97-AF65-F5344CB8AC3E}">
        <p14:creationId xmlns:p14="http://schemas.microsoft.com/office/powerpoint/2010/main" val="14161331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3F4C8-0B57-4305-5726-D64814DBE7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7B324D-5032-B2E3-E08F-DD53FB72ADC9}"/>
              </a:ext>
            </a:extLst>
          </p:cNvPr>
          <p:cNvSpPr>
            <a:spLocks noGrp="1"/>
          </p:cNvSpPr>
          <p:nvPr>
            <p:ph type="title"/>
          </p:nvPr>
        </p:nvSpPr>
        <p:spPr>
          <a:xfrm>
            <a:off x="0" y="18255"/>
            <a:ext cx="12192000" cy="1325563"/>
          </a:xfrm>
        </p:spPr>
        <p:txBody>
          <a:bodyPr>
            <a:normAutofit/>
          </a:bodyPr>
          <a:lstStyle/>
          <a:p>
            <a:r>
              <a:rPr lang="en-US" sz="3600" dirty="0"/>
              <a:t>MCD64A1 vs PDSI drought index (more negative means more dry). </a:t>
            </a:r>
          </a:p>
        </p:txBody>
      </p:sp>
      <p:pic>
        <p:nvPicPr>
          <p:cNvPr id="4" name="Picture 3">
            <a:extLst>
              <a:ext uri="{FF2B5EF4-FFF2-40B4-BE49-F238E27FC236}">
                <a16:creationId xmlns:a16="http://schemas.microsoft.com/office/drawing/2014/main" id="{0A548FAC-AE08-69E1-3B4B-0FAF6367A211}"/>
              </a:ext>
            </a:extLst>
          </p:cNvPr>
          <p:cNvPicPr>
            <a:picLocks noChangeAspect="1"/>
          </p:cNvPicPr>
          <p:nvPr/>
        </p:nvPicPr>
        <p:blipFill>
          <a:blip r:embed="rId3"/>
          <a:stretch>
            <a:fillRect/>
          </a:stretch>
        </p:blipFill>
        <p:spPr>
          <a:xfrm>
            <a:off x="1209463" y="1047937"/>
            <a:ext cx="4420029" cy="2743200"/>
          </a:xfrm>
          <a:prstGeom prst="rect">
            <a:avLst/>
          </a:prstGeom>
        </p:spPr>
      </p:pic>
      <p:pic>
        <p:nvPicPr>
          <p:cNvPr id="13" name="Picture 12">
            <a:extLst>
              <a:ext uri="{FF2B5EF4-FFF2-40B4-BE49-F238E27FC236}">
                <a16:creationId xmlns:a16="http://schemas.microsoft.com/office/drawing/2014/main" id="{D46CD072-638C-1B9F-D143-7F4BB51FDBD1}"/>
              </a:ext>
            </a:extLst>
          </p:cNvPr>
          <p:cNvPicPr>
            <a:picLocks noChangeAspect="1"/>
          </p:cNvPicPr>
          <p:nvPr/>
        </p:nvPicPr>
        <p:blipFill>
          <a:blip r:embed="rId4"/>
          <a:stretch>
            <a:fillRect/>
          </a:stretch>
        </p:blipFill>
        <p:spPr>
          <a:xfrm>
            <a:off x="203705" y="4895636"/>
            <a:ext cx="6410712" cy="1188720"/>
          </a:xfrm>
          <a:prstGeom prst="rect">
            <a:avLst/>
          </a:prstGeom>
        </p:spPr>
      </p:pic>
      <p:pic>
        <p:nvPicPr>
          <p:cNvPr id="15" name="Picture 14">
            <a:extLst>
              <a:ext uri="{FF2B5EF4-FFF2-40B4-BE49-F238E27FC236}">
                <a16:creationId xmlns:a16="http://schemas.microsoft.com/office/drawing/2014/main" id="{D2B7EF77-F1FB-4253-2DFC-DAABACD288A7}"/>
              </a:ext>
            </a:extLst>
          </p:cNvPr>
          <p:cNvPicPr>
            <a:picLocks noChangeAspect="1"/>
          </p:cNvPicPr>
          <p:nvPr/>
        </p:nvPicPr>
        <p:blipFill>
          <a:blip r:embed="rId5"/>
          <a:stretch>
            <a:fillRect/>
          </a:stretch>
        </p:blipFill>
        <p:spPr>
          <a:xfrm>
            <a:off x="6838955" y="3963641"/>
            <a:ext cx="4311847" cy="2743200"/>
          </a:xfrm>
          <a:prstGeom prst="rect">
            <a:avLst/>
          </a:prstGeom>
        </p:spPr>
      </p:pic>
      <p:pic>
        <p:nvPicPr>
          <p:cNvPr id="17" name="Picture 16">
            <a:extLst>
              <a:ext uri="{FF2B5EF4-FFF2-40B4-BE49-F238E27FC236}">
                <a16:creationId xmlns:a16="http://schemas.microsoft.com/office/drawing/2014/main" id="{FB24EE42-60D4-8A8A-9EF9-4535D02EBA48}"/>
              </a:ext>
            </a:extLst>
          </p:cNvPr>
          <p:cNvPicPr>
            <a:picLocks noChangeAspect="1"/>
          </p:cNvPicPr>
          <p:nvPr/>
        </p:nvPicPr>
        <p:blipFill>
          <a:blip r:embed="rId6"/>
          <a:stretch>
            <a:fillRect/>
          </a:stretch>
        </p:blipFill>
        <p:spPr>
          <a:xfrm>
            <a:off x="6838955" y="1015355"/>
            <a:ext cx="3717073" cy="2743200"/>
          </a:xfrm>
          <a:prstGeom prst="rect">
            <a:avLst/>
          </a:prstGeom>
        </p:spPr>
      </p:pic>
    </p:spTree>
    <p:extLst>
      <p:ext uri="{BB962C8B-B14F-4D97-AF65-F5344CB8AC3E}">
        <p14:creationId xmlns:p14="http://schemas.microsoft.com/office/powerpoint/2010/main" val="12711825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4EA00-6965-0C84-45CE-DA4B84F631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C07A55-B22C-7F06-7DAC-0AC0E29582C0}"/>
              </a:ext>
            </a:extLst>
          </p:cNvPr>
          <p:cNvSpPr>
            <a:spLocks noGrp="1"/>
          </p:cNvSpPr>
          <p:nvPr>
            <p:ph type="title"/>
          </p:nvPr>
        </p:nvSpPr>
        <p:spPr>
          <a:xfrm>
            <a:off x="0" y="18255"/>
            <a:ext cx="12192000" cy="1325563"/>
          </a:xfrm>
        </p:spPr>
        <p:txBody>
          <a:bodyPr>
            <a:normAutofit/>
          </a:bodyPr>
          <a:lstStyle/>
          <a:p>
            <a:r>
              <a:rPr lang="en-US" sz="3600" dirty="0"/>
              <a:t>MCD64A1 vs min temperature </a:t>
            </a:r>
          </a:p>
        </p:txBody>
      </p:sp>
      <p:pic>
        <p:nvPicPr>
          <p:cNvPr id="5" name="Picture 4">
            <a:extLst>
              <a:ext uri="{FF2B5EF4-FFF2-40B4-BE49-F238E27FC236}">
                <a16:creationId xmlns:a16="http://schemas.microsoft.com/office/drawing/2014/main" id="{52C2727F-347D-BFE0-F838-E5C4507524A1}"/>
              </a:ext>
            </a:extLst>
          </p:cNvPr>
          <p:cNvPicPr>
            <a:picLocks noChangeAspect="1"/>
          </p:cNvPicPr>
          <p:nvPr/>
        </p:nvPicPr>
        <p:blipFill>
          <a:blip r:embed="rId3"/>
          <a:stretch>
            <a:fillRect/>
          </a:stretch>
        </p:blipFill>
        <p:spPr>
          <a:xfrm>
            <a:off x="6838956" y="4096545"/>
            <a:ext cx="4311847" cy="2743200"/>
          </a:xfrm>
          <a:prstGeom prst="rect">
            <a:avLst/>
          </a:prstGeom>
        </p:spPr>
      </p:pic>
      <p:pic>
        <p:nvPicPr>
          <p:cNvPr id="7" name="Picture 6">
            <a:extLst>
              <a:ext uri="{FF2B5EF4-FFF2-40B4-BE49-F238E27FC236}">
                <a16:creationId xmlns:a16="http://schemas.microsoft.com/office/drawing/2014/main" id="{7BB9994D-5E07-F21B-86AD-D5A694DFFF8F}"/>
              </a:ext>
            </a:extLst>
          </p:cNvPr>
          <p:cNvPicPr>
            <a:picLocks noChangeAspect="1"/>
          </p:cNvPicPr>
          <p:nvPr/>
        </p:nvPicPr>
        <p:blipFill>
          <a:blip r:embed="rId4"/>
          <a:stretch>
            <a:fillRect/>
          </a:stretch>
        </p:blipFill>
        <p:spPr>
          <a:xfrm>
            <a:off x="6838956" y="894892"/>
            <a:ext cx="3717073" cy="2743200"/>
          </a:xfrm>
          <a:prstGeom prst="rect">
            <a:avLst/>
          </a:prstGeom>
        </p:spPr>
      </p:pic>
      <p:pic>
        <p:nvPicPr>
          <p:cNvPr id="10" name="Picture 9">
            <a:extLst>
              <a:ext uri="{FF2B5EF4-FFF2-40B4-BE49-F238E27FC236}">
                <a16:creationId xmlns:a16="http://schemas.microsoft.com/office/drawing/2014/main" id="{C185A71E-68AD-2CC9-910D-4AD6D8494A74}"/>
              </a:ext>
            </a:extLst>
          </p:cNvPr>
          <p:cNvPicPr>
            <a:picLocks noChangeAspect="1"/>
          </p:cNvPicPr>
          <p:nvPr/>
        </p:nvPicPr>
        <p:blipFill>
          <a:blip r:embed="rId5"/>
          <a:stretch>
            <a:fillRect/>
          </a:stretch>
        </p:blipFill>
        <p:spPr>
          <a:xfrm>
            <a:off x="933017" y="894892"/>
            <a:ext cx="4420029" cy="2743200"/>
          </a:xfrm>
          <a:prstGeom prst="rect">
            <a:avLst/>
          </a:prstGeom>
        </p:spPr>
      </p:pic>
      <p:pic>
        <p:nvPicPr>
          <p:cNvPr id="12" name="Picture 11">
            <a:extLst>
              <a:ext uri="{FF2B5EF4-FFF2-40B4-BE49-F238E27FC236}">
                <a16:creationId xmlns:a16="http://schemas.microsoft.com/office/drawing/2014/main" id="{E8379477-F54A-D070-A23E-B3879B8AB8F6}"/>
              </a:ext>
            </a:extLst>
          </p:cNvPr>
          <p:cNvPicPr>
            <a:picLocks noChangeAspect="1"/>
          </p:cNvPicPr>
          <p:nvPr/>
        </p:nvPicPr>
        <p:blipFill>
          <a:blip r:embed="rId6"/>
          <a:stretch>
            <a:fillRect/>
          </a:stretch>
        </p:blipFill>
        <p:spPr>
          <a:xfrm>
            <a:off x="165372" y="4873785"/>
            <a:ext cx="6410712" cy="1188720"/>
          </a:xfrm>
          <a:prstGeom prst="rect">
            <a:avLst/>
          </a:prstGeom>
        </p:spPr>
      </p:pic>
    </p:spTree>
    <p:extLst>
      <p:ext uri="{BB962C8B-B14F-4D97-AF65-F5344CB8AC3E}">
        <p14:creationId xmlns:p14="http://schemas.microsoft.com/office/powerpoint/2010/main" val="15867693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42F37-25CD-0C80-62C4-D08214C5B7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C7B417-5E13-B6E7-7ADD-8137DE2F254D}"/>
              </a:ext>
            </a:extLst>
          </p:cNvPr>
          <p:cNvSpPr>
            <a:spLocks noGrp="1"/>
          </p:cNvSpPr>
          <p:nvPr>
            <p:ph type="title"/>
          </p:nvPr>
        </p:nvSpPr>
        <p:spPr>
          <a:xfrm>
            <a:off x="0" y="18255"/>
            <a:ext cx="12192000" cy="1325563"/>
          </a:xfrm>
        </p:spPr>
        <p:txBody>
          <a:bodyPr>
            <a:normAutofit/>
          </a:bodyPr>
          <a:lstStyle/>
          <a:p>
            <a:r>
              <a:rPr lang="en-US" sz="3600" dirty="0"/>
              <a:t>MCD64A1 vs max temperature </a:t>
            </a:r>
          </a:p>
        </p:txBody>
      </p:sp>
      <p:pic>
        <p:nvPicPr>
          <p:cNvPr id="5" name="Picture 4">
            <a:extLst>
              <a:ext uri="{FF2B5EF4-FFF2-40B4-BE49-F238E27FC236}">
                <a16:creationId xmlns:a16="http://schemas.microsoft.com/office/drawing/2014/main" id="{B332C8C5-11C2-5295-97E8-CC0859818FAD}"/>
              </a:ext>
            </a:extLst>
          </p:cNvPr>
          <p:cNvPicPr>
            <a:picLocks noChangeAspect="1"/>
          </p:cNvPicPr>
          <p:nvPr/>
        </p:nvPicPr>
        <p:blipFill>
          <a:blip r:embed="rId2"/>
          <a:stretch>
            <a:fillRect/>
          </a:stretch>
        </p:blipFill>
        <p:spPr>
          <a:xfrm>
            <a:off x="19146522" y="836208"/>
            <a:ext cx="3717073" cy="2743200"/>
          </a:xfrm>
          <a:prstGeom prst="rect">
            <a:avLst/>
          </a:prstGeom>
        </p:spPr>
      </p:pic>
      <p:pic>
        <p:nvPicPr>
          <p:cNvPr id="6" name="Picture 5">
            <a:extLst>
              <a:ext uri="{FF2B5EF4-FFF2-40B4-BE49-F238E27FC236}">
                <a16:creationId xmlns:a16="http://schemas.microsoft.com/office/drawing/2014/main" id="{1AEF7984-9DC1-1695-DF27-DE7783166D39}"/>
              </a:ext>
            </a:extLst>
          </p:cNvPr>
          <p:cNvPicPr>
            <a:picLocks noChangeAspect="1"/>
          </p:cNvPicPr>
          <p:nvPr/>
        </p:nvPicPr>
        <p:blipFill>
          <a:blip r:embed="rId3"/>
          <a:stretch>
            <a:fillRect/>
          </a:stretch>
        </p:blipFill>
        <p:spPr>
          <a:xfrm>
            <a:off x="6838955" y="836208"/>
            <a:ext cx="3717073" cy="2743200"/>
          </a:xfrm>
          <a:prstGeom prst="rect">
            <a:avLst/>
          </a:prstGeom>
        </p:spPr>
      </p:pic>
      <p:pic>
        <p:nvPicPr>
          <p:cNvPr id="9" name="Picture 8">
            <a:extLst>
              <a:ext uri="{FF2B5EF4-FFF2-40B4-BE49-F238E27FC236}">
                <a16:creationId xmlns:a16="http://schemas.microsoft.com/office/drawing/2014/main" id="{8648F271-2B66-44F8-E7B4-38E80857C93C}"/>
              </a:ext>
            </a:extLst>
          </p:cNvPr>
          <p:cNvPicPr>
            <a:picLocks noChangeAspect="1"/>
          </p:cNvPicPr>
          <p:nvPr/>
        </p:nvPicPr>
        <p:blipFill>
          <a:blip r:embed="rId4"/>
          <a:stretch>
            <a:fillRect/>
          </a:stretch>
        </p:blipFill>
        <p:spPr>
          <a:xfrm>
            <a:off x="782955" y="837434"/>
            <a:ext cx="4420029" cy="2743200"/>
          </a:xfrm>
          <a:prstGeom prst="rect">
            <a:avLst/>
          </a:prstGeom>
        </p:spPr>
      </p:pic>
      <p:pic>
        <p:nvPicPr>
          <p:cNvPr id="13" name="Picture 12">
            <a:extLst>
              <a:ext uri="{FF2B5EF4-FFF2-40B4-BE49-F238E27FC236}">
                <a16:creationId xmlns:a16="http://schemas.microsoft.com/office/drawing/2014/main" id="{01FADA42-05DD-21CA-2428-B226F34A038A}"/>
              </a:ext>
            </a:extLst>
          </p:cNvPr>
          <p:cNvPicPr>
            <a:picLocks noChangeAspect="1"/>
          </p:cNvPicPr>
          <p:nvPr/>
        </p:nvPicPr>
        <p:blipFill>
          <a:blip r:embed="rId5"/>
          <a:stretch>
            <a:fillRect/>
          </a:stretch>
        </p:blipFill>
        <p:spPr>
          <a:xfrm>
            <a:off x="0" y="4831846"/>
            <a:ext cx="6410712" cy="1188720"/>
          </a:xfrm>
          <a:prstGeom prst="rect">
            <a:avLst/>
          </a:prstGeom>
        </p:spPr>
      </p:pic>
      <p:pic>
        <p:nvPicPr>
          <p:cNvPr id="15" name="Picture 14">
            <a:extLst>
              <a:ext uri="{FF2B5EF4-FFF2-40B4-BE49-F238E27FC236}">
                <a16:creationId xmlns:a16="http://schemas.microsoft.com/office/drawing/2014/main" id="{500B0624-A502-425B-9422-8B80C0BB8F50}"/>
              </a:ext>
            </a:extLst>
          </p:cNvPr>
          <p:cNvPicPr>
            <a:picLocks noChangeAspect="1"/>
          </p:cNvPicPr>
          <p:nvPr/>
        </p:nvPicPr>
        <p:blipFill>
          <a:blip r:embed="rId6"/>
          <a:stretch>
            <a:fillRect/>
          </a:stretch>
        </p:blipFill>
        <p:spPr>
          <a:xfrm>
            <a:off x="6775342" y="4002537"/>
            <a:ext cx="4311847" cy="2743200"/>
          </a:xfrm>
          <a:prstGeom prst="rect">
            <a:avLst/>
          </a:prstGeom>
        </p:spPr>
      </p:pic>
    </p:spTree>
    <p:extLst>
      <p:ext uri="{BB962C8B-B14F-4D97-AF65-F5344CB8AC3E}">
        <p14:creationId xmlns:p14="http://schemas.microsoft.com/office/powerpoint/2010/main" val="22523302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A2C5B-55A0-49EF-8E68-993C515A6D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030A2C-4187-19A7-7673-B89E81262D69}"/>
              </a:ext>
            </a:extLst>
          </p:cNvPr>
          <p:cNvSpPr>
            <a:spLocks noGrp="1"/>
          </p:cNvSpPr>
          <p:nvPr>
            <p:ph type="title"/>
          </p:nvPr>
        </p:nvSpPr>
        <p:spPr>
          <a:xfrm>
            <a:off x="0" y="-81415"/>
            <a:ext cx="12192000" cy="1325563"/>
          </a:xfrm>
        </p:spPr>
        <p:txBody>
          <a:bodyPr>
            <a:normAutofit/>
          </a:bodyPr>
          <a:lstStyle/>
          <a:p>
            <a:r>
              <a:rPr lang="en-US" sz="3200" dirty="0"/>
              <a:t>MCD64A1 vs precipitation (mean annual in mm)</a:t>
            </a:r>
          </a:p>
        </p:txBody>
      </p:sp>
      <p:pic>
        <p:nvPicPr>
          <p:cNvPr id="4" name="Picture 3">
            <a:extLst>
              <a:ext uri="{FF2B5EF4-FFF2-40B4-BE49-F238E27FC236}">
                <a16:creationId xmlns:a16="http://schemas.microsoft.com/office/drawing/2014/main" id="{844ED065-D576-22F0-280A-95F2666107D9}"/>
              </a:ext>
            </a:extLst>
          </p:cNvPr>
          <p:cNvPicPr>
            <a:picLocks noChangeAspect="1"/>
          </p:cNvPicPr>
          <p:nvPr/>
        </p:nvPicPr>
        <p:blipFill>
          <a:blip r:embed="rId3"/>
          <a:stretch>
            <a:fillRect/>
          </a:stretch>
        </p:blipFill>
        <p:spPr>
          <a:xfrm>
            <a:off x="6925452" y="685800"/>
            <a:ext cx="3717073" cy="2743200"/>
          </a:xfrm>
          <a:prstGeom prst="rect">
            <a:avLst/>
          </a:prstGeom>
        </p:spPr>
      </p:pic>
      <p:pic>
        <p:nvPicPr>
          <p:cNvPr id="8" name="Picture 7">
            <a:extLst>
              <a:ext uri="{FF2B5EF4-FFF2-40B4-BE49-F238E27FC236}">
                <a16:creationId xmlns:a16="http://schemas.microsoft.com/office/drawing/2014/main" id="{5CE32001-A0D0-3F1D-F071-A3C93437AC95}"/>
              </a:ext>
            </a:extLst>
          </p:cNvPr>
          <p:cNvPicPr>
            <a:picLocks noChangeAspect="1"/>
          </p:cNvPicPr>
          <p:nvPr/>
        </p:nvPicPr>
        <p:blipFill>
          <a:blip r:embed="rId4"/>
          <a:stretch>
            <a:fillRect/>
          </a:stretch>
        </p:blipFill>
        <p:spPr>
          <a:xfrm>
            <a:off x="1209463" y="831970"/>
            <a:ext cx="4420029" cy="2743200"/>
          </a:xfrm>
          <a:prstGeom prst="rect">
            <a:avLst/>
          </a:prstGeom>
        </p:spPr>
      </p:pic>
      <p:pic>
        <p:nvPicPr>
          <p:cNvPr id="11" name="Picture 10">
            <a:extLst>
              <a:ext uri="{FF2B5EF4-FFF2-40B4-BE49-F238E27FC236}">
                <a16:creationId xmlns:a16="http://schemas.microsoft.com/office/drawing/2014/main" id="{27ED4B93-5260-8BC5-E87C-948E3354FD6A}"/>
              </a:ext>
            </a:extLst>
          </p:cNvPr>
          <p:cNvPicPr>
            <a:picLocks noChangeAspect="1"/>
          </p:cNvPicPr>
          <p:nvPr/>
        </p:nvPicPr>
        <p:blipFill>
          <a:blip r:embed="rId5"/>
          <a:stretch>
            <a:fillRect/>
          </a:stretch>
        </p:blipFill>
        <p:spPr>
          <a:xfrm>
            <a:off x="210897" y="4625987"/>
            <a:ext cx="6417159" cy="1188720"/>
          </a:xfrm>
          <a:prstGeom prst="rect">
            <a:avLst/>
          </a:prstGeom>
        </p:spPr>
      </p:pic>
      <p:pic>
        <p:nvPicPr>
          <p:cNvPr id="13" name="Picture 12">
            <a:extLst>
              <a:ext uri="{FF2B5EF4-FFF2-40B4-BE49-F238E27FC236}">
                <a16:creationId xmlns:a16="http://schemas.microsoft.com/office/drawing/2014/main" id="{3E090539-04B0-6EAB-0EEC-0FCC625D94EA}"/>
              </a:ext>
            </a:extLst>
          </p:cNvPr>
          <p:cNvPicPr>
            <a:picLocks noChangeAspect="1"/>
          </p:cNvPicPr>
          <p:nvPr/>
        </p:nvPicPr>
        <p:blipFill>
          <a:blip r:embed="rId6"/>
          <a:stretch>
            <a:fillRect/>
          </a:stretch>
        </p:blipFill>
        <p:spPr>
          <a:xfrm>
            <a:off x="6838955" y="3848747"/>
            <a:ext cx="4311847" cy="2743200"/>
          </a:xfrm>
          <a:prstGeom prst="rect">
            <a:avLst/>
          </a:prstGeom>
        </p:spPr>
      </p:pic>
    </p:spTree>
    <p:extLst>
      <p:ext uri="{BB962C8B-B14F-4D97-AF65-F5344CB8AC3E}">
        <p14:creationId xmlns:p14="http://schemas.microsoft.com/office/powerpoint/2010/main" val="31500009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D00A1-C227-6B91-8818-EF4FA0E08D70}"/>
              </a:ext>
            </a:extLst>
          </p:cNvPr>
          <p:cNvSpPr>
            <a:spLocks noGrp="1"/>
          </p:cNvSpPr>
          <p:nvPr>
            <p:ph type="ctrTitle"/>
          </p:nvPr>
        </p:nvSpPr>
        <p:spPr/>
        <p:txBody>
          <a:bodyPr/>
          <a:lstStyle/>
          <a:p>
            <a:r>
              <a:rPr lang="en-US" dirty="0"/>
              <a:t>Burn rate per site</a:t>
            </a:r>
          </a:p>
        </p:txBody>
      </p:sp>
      <p:sp>
        <p:nvSpPr>
          <p:cNvPr id="3" name="Subtitle 2">
            <a:extLst>
              <a:ext uri="{FF2B5EF4-FFF2-40B4-BE49-F238E27FC236}">
                <a16:creationId xmlns:a16="http://schemas.microsoft.com/office/drawing/2014/main" id="{5CEBFE74-5A16-8EA5-03BB-CB71CC9D555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391326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0AA7E-301B-D7AC-F120-28FCF9509B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370959-8922-BF6B-67EF-8A2D57AAFD6E}"/>
              </a:ext>
            </a:extLst>
          </p:cNvPr>
          <p:cNvSpPr>
            <a:spLocks noGrp="1"/>
          </p:cNvSpPr>
          <p:nvPr>
            <p:ph type="ctrTitle"/>
          </p:nvPr>
        </p:nvSpPr>
        <p:spPr/>
        <p:txBody>
          <a:bodyPr/>
          <a:lstStyle/>
          <a:p>
            <a:r>
              <a:rPr lang="en-US" dirty="0"/>
              <a:t>MCD64A1</a:t>
            </a:r>
          </a:p>
        </p:txBody>
      </p:sp>
      <p:sp>
        <p:nvSpPr>
          <p:cNvPr id="3" name="Subtitle 2">
            <a:extLst>
              <a:ext uri="{FF2B5EF4-FFF2-40B4-BE49-F238E27FC236}">
                <a16:creationId xmlns:a16="http://schemas.microsoft.com/office/drawing/2014/main" id="{E57490F2-B0D3-78B4-F24C-A23EFC6EDC93}"/>
              </a:ext>
            </a:extLst>
          </p:cNvPr>
          <p:cNvSpPr>
            <a:spLocks noGrp="1"/>
          </p:cNvSpPr>
          <p:nvPr>
            <p:ph type="subTitle" idx="1"/>
          </p:nvPr>
        </p:nvSpPr>
        <p:spPr/>
        <p:txBody>
          <a:bodyPr/>
          <a:lstStyle/>
          <a:p>
            <a:r>
              <a:rPr lang="en-US" dirty="0"/>
              <a:t>500m</a:t>
            </a:r>
          </a:p>
        </p:txBody>
      </p:sp>
    </p:spTree>
    <p:extLst>
      <p:ext uri="{BB962C8B-B14F-4D97-AF65-F5344CB8AC3E}">
        <p14:creationId xmlns:p14="http://schemas.microsoft.com/office/powerpoint/2010/main" val="29540274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C2D8F-85FA-00FC-9726-837D3714E7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6FF51C-D03E-845B-4A46-3A64D93ABC5E}"/>
              </a:ext>
            </a:extLst>
          </p:cNvPr>
          <p:cNvSpPr>
            <a:spLocks noGrp="1"/>
          </p:cNvSpPr>
          <p:nvPr>
            <p:ph type="ctrTitle"/>
          </p:nvPr>
        </p:nvSpPr>
        <p:spPr/>
        <p:txBody>
          <a:bodyPr/>
          <a:lstStyle/>
          <a:p>
            <a:r>
              <a:rPr lang="en-US" dirty="0"/>
              <a:t>MCD64A1</a:t>
            </a:r>
          </a:p>
        </p:txBody>
      </p:sp>
      <p:sp>
        <p:nvSpPr>
          <p:cNvPr id="3" name="Subtitle 2">
            <a:extLst>
              <a:ext uri="{FF2B5EF4-FFF2-40B4-BE49-F238E27FC236}">
                <a16:creationId xmlns:a16="http://schemas.microsoft.com/office/drawing/2014/main" id="{E2431223-ECE3-97BE-796D-10B9F36D8937}"/>
              </a:ext>
            </a:extLst>
          </p:cNvPr>
          <p:cNvSpPr>
            <a:spLocks noGrp="1"/>
          </p:cNvSpPr>
          <p:nvPr>
            <p:ph type="subTitle" idx="1"/>
          </p:nvPr>
        </p:nvSpPr>
        <p:spPr/>
        <p:txBody>
          <a:bodyPr/>
          <a:lstStyle/>
          <a:p>
            <a:r>
              <a:rPr lang="en-US" dirty="0"/>
              <a:t>300m</a:t>
            </a:r>
          </a:p>
        </p:txBody>
      </p:sp>
    </p:spTree>
    <p:extLst>
      <p:ext uri="{BB962C8B-B14F-4D97-AF65-F5344CB8AC3E}">
        <p14:creationId xmlns:p14="http://schemas.microsoft.com/office/powerpoint/2010/main" val="18326648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395D3-AD08-8FB5-DAD4-BEBCDF78F31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5B51058-C561-A682-3811-0422F2D62C22}"/>
              </a:ext>
            </a:extLst>
          </p:cNvPr>
          <p:cNvPicPr>
            <a:picLocks noChangeAspect="1"/>
          </p:cNvPicPr>
          <p:nvPr/>
        </p:nvPicPr>
        <p:blipFill>
          <a:blip r:embed="rId2"/>
          <a:stretch>
            <a:fillRect/>
          </a:stretch>
        </p:blipFill>
        <p:spPr>
          <a:xfrm>
            <a:off x="7930004" y="0"/>
            <a:ext cx="4261996" cy="6858000"/>
          </a:xfrm>
          <a:prstGeom prst="rect">
            <a:avLst/>
          </a:prstGeom>
        </p:spPr>
      </p:pic>
      <p:pic>
        <p:nvPicPr>
          <p:cNvPr id="7" name="Picture 6">
            <a:extLst>
              <a:ext uri="{FF2B5EF4-FFF2-40B4-BE49-F238E27FC236}">
                <a16:creationId xmlns:a16="http://schemas.microsoft.com/office/drawing/2014/main" id="{E6006ADB-E8AB-1775-8ED9-FBE50A9AF262}"/>
              </a:ext>
            </a:extLst>
          </p:cNvPr>
          <p:cNvPicPr>
            <a:picLocks noChangeAspect="1"/>
          </p:cNvPicPr>
          <p:nvPr/>
        </p:nvPicPr>
        <p:blipFill>
          <a:blip r:embed="rId3"/>
          <a:stretch>
            <a:fillRect/>
          </a:stretch>
        </p:blipFill>
        <p:spPr>
          <a:xfrm>
            <a:off x="1" y="0"/>
            <a:ext cx="4261996" cy="6858000"/>
          </a:xfrm>
          <a:prstGeom prst="rect">
            <a:avLst/>
          </a:prstGeom>
        </p:spPr>
      </p:pic>
    </p:spTree>
    <p:extLst>
      <p:ext uri="{BB962C8B-B14F-4D97-AF65-F5344CB8AC3E}">
        <p14:creationId xmlns:p14="http://schemas.microsoft.com/office/powerpoint/2010/main" val="908179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74755-8C4F-E877-7584-9B9D0C4A2B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A95CB5-76D3-FBB0-F5A6-720594E7FAD1}"/>
              </a:ext>
            </a:extLst>
          </p:cNvPr>
          <p:cNvSpPr>
            <a:spLocks noGrp="1"/>
          </p:cNvSpPr>
          <p:nvPr>
            <p:ph type="ctrTitle"/>
          </p:nvPr>
        </p:nvSpPr>
        <p:spPr/>
        <p:txBody>
          <a:bodyPr/>
          <a:lstStyle/>
          <a:p>
            <a:r>
              <a:rPr lang="en-US" dirty="0"/>
              <a:t>FireCCIS311</a:t>
            </a:r>
          </a:p>
        </p:txBody>
      </p:sp>
      <p:sp>
        <p:nvSpPr>
          <p:cNvPr id="3" name="Subtitle 2">
            <a:extLst>
              <a:ext uri="{FF2B5EF4-FFF2-40B4-BE49-F238E27FC236}">
                <a16:creationId xmlns:a16="http://schemas.microsoft.com/office/drawing/2014/main" id="{A00D9BCA-CC2B-6668-9FCF-6DEFB9A9E694}"/>
              </a:ext>
            </a:extLst>
          </p:cNvPr>
          <p:cNvSpPr>
            <a:spLocks noGrp="1"/>
          </p:cNvSpPr>
          <p:nvPr>
            <p:ph type="subTitle" idx="1"/>
          </p:nvPr>
        </p:nvSpPr>
        <p:spPr/>
        <p:txBody>
          <a:bodyPr/>
          <a:lstStyle/>
          <a:p>
            <a:r>
              <a:rPr lang="en-US" dirty="0"/>
              <a:t>300m</a:t>
            </a:r>
          </a:p>
        </p:txBody>
      </p:sp>
    </p:spTree>
    <p:extLst>
      <p:ext uri="{BB962C8B-B14F-4D97-AF65-F5344CB8AC3E}">
        <p14:creationId xmlns:p14="http://schemas.microsoft.com/office/powerpoint/2010/main" val="41148524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4E0D7-8AB2-38AD-8B65-F36A89482E6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434529B-CB45-504D-C39A-BDB2AC560B07}"/>
              </a:ext>
            </a:extLst>
          </p:cNvPr>
          <p:cNvPicPr>
            <a:picLocks noChangeAspect="1"/>
          </p:cNvPicPr>
          <p:nvPr/>
        </p:nvPicPr>
        <p:blipFill>
          <a:blip r:embed="rId2"/>
          <a:stretch>
            <a:fillRect/>
          </a:stretch>
        </p:blipFill>
        <p:spPr>
          <a:xfrm>
            <a:off x="6447692" y="929496"/>
            <a:ext cx="5744309" cy="4572000"/>
          </a:xfrm>
          <a:prstGeom prst="rect">
            <a:avLst/>
          </a:prstGeom>
        </p:spPr>
      </p:pic>
      <p:pic>
        <p:nvPicPr>
          <p:cNvPr id="7" name="Picture 6">
            <a:extLst>
              <a:ext uri="{FF2B5EF4-FFF2-40B4-BE49-F238E27FC236}">
                <a16:creationId xmlns:a16="http://schemas.microsoft.com/office/drawing/2014/main" id="{C31797E3-1C22-CB8E-9D66-A199A1224954}"/>
              </a:ext>
            </a:extLst>
          </p:cNvPr>
          <p:cNvPicPr>
            <a:picLocks noChangeAspect="1"/>
          </p:cNvPicPr>
          <p:nvPr/>
        </p:nvPicPr>
        <p:blipFill>
          <a:blip r:embed="rId3"/>
          <a:stretch>
            <a:fillRect/>
          </a:stretch>
        </p:blipFill>
        <p:spPr>
          <a:xfrm>
            <a:off x="0" y="929496"/>
            <a:ext cx="5744309" cy="4572000"/>
          </a:xfrm>
          <a:prstGeom prst="rect">
            <a:avLst/>
          </a:prstGeom>
        </p:spPr>
      </p:pic>
    </p:spTree>
    <p:extLst>
      <p:ext uri="{BB962C8B-B14F-4D97-AF65-F5344CB8AC3E}">
        <p14:creationId xmlns:p14="http://schemas.microsoft.com/office/powerpoint/2010/main" val="33007715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5C440-B63B-02FE-BE92-9DDE7958083E}"/>
              </a:ext>
            </a:extLst>
          </p:cNvPr>
          <p:cNvSpPr>
            <a:spLocks noGrp="1"/>
          </p:cNvSpPr>
          <p:nvPr>
            <p:ph type="ctrTitle"/>
          </p:nvPr>
        </p:nvSpPr>
        <p:spPr/>
        <p:txBody>
          <a:bodyPr>
            <a:normAutofit fontScale="90000"/>
          </a:bodyPr>
          <a:lstStyle/>
          <a:p>
            <a:r>
              <a:rPr lang="en-US" dirty="0"/>
              <a:t>Modeling results with standard errors clustered by restoration site rather than by pixel</a:t>
            </a:r>
          </a:p>
        </p:txBody>
      </p:sp>
      <p:sp>
        <p:nvSpPr>
          <p:cNvPr id="3" name="Subtitle 2">
            <a:extLst>
              <a:ext uri="{FF2B5EF4-FFF2-40B4-BE49-F238E27FC236}">
                <a16:creationId xmlns:a16="http://schemas.microsoft.com/office/drawing/2014/main" id="{29901C3A-1F98-AD36-8AAA-E744C37B5368}"/>
              </a:ext>
            </a:extLst>
          </p:cNvPr>
          <p:cNvSpPr>
            <a:spLocks noGrp="1"/>
          </p:cNvSpPr>
          <p:nvPr>
            <p:ph type="subTitle" idx="1"/>
          </p:nvPr>
        </p:nvSpPr>
        <p:spPr/>
        <p:txBody>
          <a:bodyPr/>
          <a:lstStyle/>
          <a:p>
            <a:r>
              <a:rPr lang="en-US" dirty="0"/>
              <a:t>*still debugging </a:t>
            </a:r>
            <a:r>
              <a:rPr lang="en-US" dirty="0">
                <a:sym typeface="Wingdings" pitchFamily="2" charset="2"/>
              </a:rPr>
              <a:t></a:t>
            </a:r>
            <a:endParaRPr lang="en-US" dirty="0"/>
          </a:p>
        </p:txBody>
      </p:sp>
    </p:spTree>
    <p:extLst>
      <p:ext uri="{BB962C8B-B14F-4D97-AF65-F5344CB8AC3E}">
        <p14:creationId xmlns:p14="http://schemas.microsoft.com/office/powerpoint/2010/main" val="5057868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11083-9A0B-9896-BDA1-561475163973}"/>
              </a:ext>
            </a:extLst>
          </p:cNvPr>
          <p:cNvSpPr>
            <a:spLocks noGrp="1"/>
          </p:cNvSpPr>
          <p:nvPr>
            <p:ph type="title"/>
          </p:nvPr>
        </p:nvSpPr>
        <p:spPr/>
        <p:txBody>
          <a:bodyPr/>
          <a:lstStyle/>
          <a:p>
            <a:r>
              <a:rPr lang="en-US" dirty="0"/>
              <a:t>Issues</a:t>
            </a:r>
          </a:p>
        </p:txBody>
      </p:sp>
      <p:sp>
        <p:nvSpPr>
          <p:cNvPr id="3" name="Content Placeholder 2">
            <a:extLst>
              <a:ext uri="{FF2B5EF4-FFF2-40B4-BE49-F238E27FC236}">
                <a16:creationId xmlns:a16="http://schemas.microsoft.com/office/drawing/2014/main" id="{1D36C3C4-6774-A164-949E-9DEC6EAA199D}"/>
              </a:ext>
            </a:extLst>
          </p:cNvPr>
          <p:cNvSpPr>
            <a:spLocks noGrp="1"/>
          </p:cNvSpPr>
          <p:nvPr>
            <p:ph idx="1"/>
          </p:nvPr>
        </p:nvSpPr>
        <p:spPr/>
        <p:txBody>
          <a:bodyPr>
            <a:normAutofit fontScale="85000" lnSpcReduction="20000"/>
          </a:bodyPr>
          <a:lstStyle/>
          <a:p>
            <a:pPr lvl="0" fontAlgn="ctr"/>
            <a:r>
              <a:rPr lang="en-US" dirty="0"/>
              <a:t>Not enough sites - Fireccis311 only has 3 sites that have pre-restoration and post-restoration data</a:t>
            </a:r>
          </a:p>
          <a:p>
            <a:pPr lvl="0" fontAlgn="ctr"/>
            <a:r>
              <a:rPr lang="en-US" dirty="0"/>
              <a:t>Not enough sites - MCD64A1 only has 6 sites that have pre-restoration and post-restoration data</a:t>
            </a:r>
          </a:p>
          <a:p>
            <a:pPr lvl="0" fontAlgn="ctr"/>
            <a:r>
              <a:rPr lang="en-US" dirty="0"/>
              <a:t>Positivity error - Had to drop </a:t>
            </a:r>
            <a:r>
              <a:rPr lang="en-US" dirty="0" err="1"/>
              <a:t>soil_water_table_depth</a:t>
            </a:r>
            <a:r>
              <a:rPr lang="en-US" dirty="0"/>
              <a:t> because when including it in addition to drainage, </a:t>
            </a:r>
            <a:r>
              <a:rPr lang="en-US" dirty="0" err="1"/>
              <a:t>precip</a:t>
            </a:r>
            <a:r>
              <a:rPr lang="en-US" dirty="0"/>
              <a:t>, and other soil variables, for many of the later cohorts, the control pixels receive basically zero probability of potentially being treated pixels (</a:t>
            </a:r>
            <a:r>
              <a:rPr lang="en-US" dirty="0" err="1"/>
              <a:t>ipw</a:t>
            </a:r>
            <a:r>
              <a:rPr lang="en-US" dirty="0"/>
              <a:t>)</a:t>
            </a:r>
          </a:p>
          <a:p>
            <a:pPr lvl="0" fontAlgn="ctr"/>
            <a:r>
              <a:rPr lang="en-US" dirty="0"/>
              <a:t>Not enough fire - the standard errors at the site level are broken because of zero fire in either treated or control in some sites in some years, causing the bootstrap distribution to produce </a:t>
            </a:r>
            <a:r>
              <a:rPr lang="en-US" dirty="0" err="1"/>
              <a:t>NaN</a:t>
            </a:r>
            <a:r>
              <a:rPr lang="en-US" dirty="0"/>
              <a:t> values.</a:t>
            </a:r>
          </a:p>
          <a:p>
            <a:pPr lvl="0" fontAlgn="ctr"/>
            <a:r>
              <a:rPr lang="en-US" dirty="0"/>
              <a:t>Parallel trends assumption fails - before treatment year, ATT is not zero.</a:t>
            </a:r>
          </a:p>
          <a:p>
            <a:pPr lvl="0" fontAlgn="ctr"/>
            <a:r>
              <a:rPr lang="en-US" dirty="0"/>
              <a:t>Code changes caused results to drastically change from before adding in site-level SE – debugging why..</a:t>
            </a:r>
          </a:p>
        </p:txBody>
      </p:sp>
    </p:spTree>
    <p:extLst>
      <p:ext uri="{BB962C8B-B14F-4D97-AF65-F5344CB8AC3E}">
        <p14:creationId xmlns:p14="http://schemas.microsoft.com/office/powerpoint/2010/main" val="9528800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DD59B-E299-DAB6-3C28-F74E7F3595FE}"/>
              </a:ext>
            </a:extLst>
          </p:cNvPr>
          <p:cNvSpPr>
            <a:spLocks noGrp="1"/>
          </p:cNvSpPr>
          <p:nvPr>
            <p:ph type="title"/>
          </p:nvPr>
        </p:nvSpPr>
        <p:spPr/>
        <p:txBody>
          <a:bodyPr/>
          <a:lstStyle/>
          <a:p>
            <a:r>
              <a:rPr lang="en-US" dirty="0"/>
              <a:t>MCD64A1 300m – error bars are broken for now because some years have </a:t>
            </a:r>
            <a:r>
              <a:rPr lang="en-US" dirty="0" err="1"/>
              <a:t>NaN</a:t>
            </a:r>
            <a:r>
              <a:rPr lang="en-US" dirty="0"/>
              <a:t> values</a:t>
            </a:r>
          </a:p>
        </p:txBody>
      </p:sp>
      <p:pic>
        <p:nvPicPr>
          <p:cNvPr id="7" name="Picture 6">
            <a:extLst>
              <a:ext uri="{FF2B5EF4-FFF2-40B4-BE49-F238E27FC236}">
                <a16:creationId xmlns:a16="http://schemas.microsoft.com/office/drawing/2014/main" id="{EB265D18-18D3-B9C2-F3E8-2DDAB00FBE64}"/>
              </a:ext>
            </a:extLst>
          </p:cNvPr>
          <p:cNvPicPr>
            <a:picLocks noChangeAspect="1"/>
          </p:cNvPicPr>
          <p:nvPr/>
        </p:nvPicPr>
        <p:blipFill>
          <a:blip r:embed="rId2"/>
          <a:stretch>
            <a:fillRect/>
          </a:stretch>
        </p:blipFill>
        <p:spPr>
          <a:xfrm>
            <a:off x="2501900" y="2047875"/>
            <a:ext cx="7188200" cy="4445000"/>
          </a:xfrm>
          <a:prstGeom prst="rect">
            <a:avLst/>
          </a:prstGeom>
        </p:spPr>
      </p:pic>
      <p:sp>
        <p:nvSpPr>
          <p:cNvPr id="10" name="TextBox 9">
            <a:extLst>
              <a:ext uri="{FF2B5EF4-FFF2-40B4-BE49-F238E27FC236}">
                <a16:creationId xmlns:a16="http://schemas.microsoft.com/office/drawing/2014/main" id="{1866C029-5E24-3FC2-8E05-D02A19F0D6A7}"/>
              </a:ext>
            </a:extLst>
          </p:cNvPr>
          <p:cNvSpPr txBox="1"/>
          <p:nvPr/>
        </p:nvSpPr>
        <p:spPr>
          <a:xfrm>
            <a:off x="102704" y="2477522"/>
            <a:ext cx="1470992" cy="1200329"/>
          </a:xfrm>
          <a:prstGeom prst="rect">
            <a:avLst/>
          </a:prstGeom>
          <a:noFill/>
        </p:spPr>
        <p:txBody>
          <a:bodyPr wrap="square" rtlCol="0">
            <a:spAutoFit/>
          </a:bodyPr>
          <a:lstStyle/>
          <a:p>
            <a:r>
              <a:rPr lang="en-US" dirty="0"/>
              <a:t>*take this with a grain of salt – still debugging</a:t>
            </a:r>
          </a:p>
        </p:txBody>
      </p:sp>
    </p:spTree>
    <p:extLst>
      <p:ext uri="{BB962C8B-B14F-4D97-AF65-F5344CB8AC3E}">
        <p14:creationId xmlns:p14="http://schemas.microsoft.com/office/powerpoint/2010/main" val="42028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2CD1E-E44A-C1B2-CDD2-AB8F1138D3F8}"/>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29A7D56A-DBFA-3F35-7621-74CCED468F32}"/>
              </a:ext>
            </a:extLst>
          </p:cNvPr>
          <p:cNvSpPr>
            <a:spLocks noGrp="1"/>
          </p:cNvSpPr>
          <p:nvPr>
            <p:ph idx="1"/>
          </p:nvPr>
        </p:nvSpPr>
        <p:spPr/>
        <p:txBody>
          <a:bodyPr/>
          <a:lstStyle/>
          <a:p>
            <a:r>
              <a:rPr lang="en-US" dirty="0"/>
              <a:t>Other ways of producing a carbon reduction estimate besides using burned area?</a:t>
            </a:r>
          </a:p>
          <a:p>
            <a:r>
              <a:rPr lang="en-US" dirty="0"/>
              <a:t>How to increase number of samples beyond the 6 sites?</a:t>
            </a:r>
          </a:p>
          <a:p>
            <a:r>
              <a:rPr lang="en-US" dirty="0"/>
              <a:t>Add distance to road/light intensity/timber management extent as additional covariates?</a:t>
            </a:r>
          </a:p>
        </p:txBody>
      </p:sp>
    </p:spTree>
    <p:extLst>
      <p:ext uri="{BB962C8B-B14F-4D97-AF65-F5344CB8AC3E}">
        <p14:creationId xmlns:p14="http://schemas.microsoft.com/office/powerpoint/2010/main" val="27623916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1E06B-B47C-94E0-E24D-2724F817FA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B26B0A-826A-0C33-75F5-21F60E915F86}"/>
              </a:ext>
            </a:extLst>
          </p:cNvPr>
          <p:cNvSpPr>
            <a:spLocks noGrp="1"/>
          </p:cNvSpPr>
          <p:nvPr>
            <p:ph type="ctrTitle"/>
          </p:nvPr>
        </p:nvSpPr>
        <p:spPr/>
        <p:txBody>
          <a:bodyPr/>
          <a:lstStyle/>
          <a:p>
            <a:r>
              <a:rPr lang="en-US" dirty="0"/>
              <a:t>7/16/26</a:t>
            </a:r>
          </a:p>
        </p:txBody>
      </p:sp>
      <p:sp>
        <p:nvSpPr>
          <p:cNvPr id="3" name="Subtitle 2">
            <a:extLst>
              <a:ext uri="{FF2B5EF4-FFF2-40B4-BE49-F238E27FC236}">
                <a16:creationId xmlns:a16="http://schemas.microsoft.com/office/drawing/2014/main" id="{F21414C5-A85C-B532-E40B-716B83C21203}"/>
              </a:ext>
            </a:extLst>
          </p:cNvPr>
          <p:cNvSpPr>
            <a:spLocks noGrp="1"/>
          </p:cNvSpPr>
          <p:nvPr>
            <p:ph type="subTitle" idx="1"/>
          </p:nvPr>
        </p:nvSpPr>
        <p:spPr>
          <a:xfrm>
            <a:off x="1524000" y="3765811"/>
            <a:ext cx="9144000" cy="1655762"/>
          </a:xfrm>
        </p:spPr>
        <p:txBody>
          <a:bodyPr>
            <a:normAutofit fontScale="77500" lnSpcReduction="20000"/>
          </a:bodyPr>
          <a:lstStyle/>
          <a:p>
            <a:r>
              <a:rPr lang="en-US" dirty="0"/>
              <a:t>Add soil organic matter, soil available water capacity, drainage class,  and growing degree days as covariates</a:t>
            </a:r>
          </a:p>
          <a:p>
            <a:r>
              <a:rPr lang="en-US" dirty="0"/>
              <a:t>Dropped the 1 km exclusion zone around treated pixels for candidate controls pixel</a:t>
            </a:r>
          </a:p>
          <a:p>
            <a:r>
              <a:rPr lang="en-US" dirty="0"/>
              <a:t>Added </a:t>
            </a:r>
            <a:r>
              <a:rPr lang="en-US" dirty="0" err="1"/>
              <a:t>angola</a:t>
            </a:r>
            <a:r>
              <a:rPr lang="en-US" dirty="0"/>
              <a:t> bay as a restoration site; end year is 2026</a:t>
            </a:r>
          </a:p>
          <a:p>
            <a:r>
              <a:rPr lang="en-US" dirty="0"/>
              <a:t>Implemented Castro et al. 2026 difference-in-differences modeling approach</a:t>
            </a:r>
          </a:p>
          <a:p>
            <a:endParaRPr lang="en-US" dirty="0"/>
          </a:p>
        </p:txBody>
      </p:sp>
    </p:spTree>
    <p:extLst>
      <p:ext uri="{BB962C8B-B14F-4D97-AF65-F5344CB8AC3E}">
        <p14:creationId xmlns:p14="http://schemas.microsoft.com/office/powerpoint/2010/main" val="8428827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C553A-AFD7-86C8-BE49-B81D57E5836D}"/>
              </a:ext>
            </a:extLst>
          </p:cNvPr>
          <p:cNvSpPr>
            <a:spLocks noGrp="1"/>
          </p:cNvSpPr>
          <p:nvPr>
            <p:ph type="title"/>
          </p:nvPr>
        </p:nvSpPr>
        <p:spPr>
          <a:xfrm>
            <a:off x="0" y="610914"/>
            <a:ext cx="5472113" cy="2943225"/>
          </a:xfrm>
        </p:spPr>
        <p:txBody>
          <a:bodyPr>
            <a:normAutofit fontScale="90000"/>
          </a:bodyPr>
          <a:lstStyle/>
          <a:p>
            <a:r>
              <a:rPr lang="en-US" dirty="0"/>
              <a:t>Add soil covariates (organic matter %, available water capacity, drainage class) + growing degree days</a:t>
            </a:r>
          </a:p>
        </p:txBody>
      </p:sp>
      <p:pic>
        <p:nvPicPr>
          <p:cNvPr id="5" name="Picture 4">
            <a:extLst>
              <a:ext uri="{FF2B5EF4-FFF2-40B4-BE49-F238E27FC236}">
                <a16:creationId xmlns:a16="http://schemas.microsoft.com/office/drawing/2014/main" id="{C08A993F-46F2-68FF-E538-E5294C378794}"/>
              </a:ext>
            </a:extLst>
          </p:cNvPr>
          <p:cNvPicPr>
            <a:picLocks noChangeAspect="1"/>
          </p:cNvPicPr>
          <p:nvPr/>
        </p:nvPicPr>
        <p:blipFill>
          <a:blip r:embed="rId3"/>
          <a:stretch>
            <a:fillRect/>
          </a:stretch>
        </p:blipFill>
        <p:spPr>
          <a:xfrm>
            <a:off x="6096000" y="0"/>
            <a:ext cx="6014936" cy="6858000"/>
          </a:xfrm>
          <a:prstGeom prst="rect">
            <a:avLst/>
          </a:prstGeom>
        </p:spPr>
      </p:pic>
    </p:spTree>
    <p:extLst>
      <p:ext uri="{BB962C8B-B14F-4D97-AF65-F5344CB8AC3E}">
        <p14:creationId xmlns:p14="http://schemas.microsoft.com/office/powerpoint/2010/main" val="28614957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3C3377E-9A8C-4C93-7A09-CBA338CEFC04}"/>
              </a:ext>
            </a:extLst>
          </p:cNvPr>
          <p:cNvPicPr>
            <a:picLocks noChangeAspect="1"/>
          </p:cNvPicPr>
          <p:nvPr/>
        </p:nvPicPr>
        <p:blipFill>
          <a:blip r:embed="rId3"/>
          <a:stretch>
            <a:fillRect/>
          </a:stretch>
        </p:blipFill>
        <p:spPr>
          <a:xfrm>
            <a:off x="889348" y="1100669"/>
            <a:ext cx="10663825" cy="5757331"/>
          </a:xfrm>
          <a:prstGeom prst="rect">
            <a:avLst/>
          </a:prstGeom>
        </p:spPr>
      </p:pic>
      <p:sp>
        <p:nvSpPr>
          <p:cNvPr id="6" name="Title 1">
            <a:extLst>
              <a:ext uri="{FF2B5EF4-FFF2-40B4-BE49-F238E27FC236}">
                <a16:creationId xmlns:a16="http://schemas.microsoft.com/office/drawing/2014/main" id="{8A46F721-EC0F-2F97-4A24-858197BE655B}"/>
              </a:ext>
            </a:extLst>
          </p:cNvPr>
          <p:cNvSpPr>
            <a:spLocks noGrp="1"/>
          </p:cNvSpPr>
          <p:nvPr>
            <p:ph type="title"/>
          </p:nvPr>
        </p:nvSpPr>
        <p:spPr>
          <a:xfrm>
            <a:off x="0" y="1"/>
            <a:ext cx="12192000" cy="951978"/>
          </a:xfrm>
        </p:spPr>
        <p:txBody>
          <a:bodyPr>
            <a:normAutofit/>
          </a:bodyPr>
          <a:lstStyle/>
          <a:p>
            <a:r>
              <a:rPr lang="en-US" dirty="0"/>
              <a:t>Add </a:t>
            </a:r>
            <a:r>
              <a:rPr lang="en-US" dirty="0" err="1"/>
              <a:t>pdsi</a:t>
            </a:r>
            <a:r>
              <a:rPr lang="en-US" dirty="0"/>
              <a:t> drought index</a:t>
            </a:r>
          </a:p>
        </p:txBody>
      </p:sp>
    </p:spTree>
    <p:extLst>
      <p:ext uri="{BB962C8B-B14F-4D97-AF65-F5344CB8AC3E}">
        <p14:creationId xmlns:p14="http://schemas.microsoft.com/office/powerpoint/2010/main" val="27348973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C4A4882-727D-0431-120C-27A332C077AD}"/>
              </a:ext>
            </a:extLst>
          </p:cNvPr>
          <p:cNvPicPr>
            <a:picLocks noGrp="1" noChangeAspect="1"/>
          </p:cNvPicPr>
          <p:nvPr>
            <p:ph idx="1"/>
          </p:nvPr>
        </p:nvPicPr>
        <p:blipFill>
          <a:blip r:embed="rId3"/>
          <a:stretch>
            <a:fillRect/>
          </a:stretch>
        </p:blipFill>
        <p:spPr>
          <a:xfrm>
            <a:off x="5244939" y="0"/>
            <a:ext cx="6839702" cy="6858001"/>
          </a:xfrm>
          <a:prstGeom prst="rect">
            <a:avLst/>
          </a:prstGeom>
        </p:spPr>
      </p:pic>
      <p:sp>
        <p:nvSpPr>
          <p:cNvPr id="6" name="TextBox 5">
            <a:extLst>
              <a:ext uri="{FF2B5EF4-FFF2-40B4-BE49-F238E27FC236}">
                <a16:creationId xmlns:a16="http://schemas.microsoft.com/office/drawing/2014/main" id="{73BA6E44-1CAE-EA54-DDFB-8EC4CE4825B5}"/>
              </a:ext>
            </a:extLst>
          </p:cNvPr>
          <p:cNvSpPr txBox="1"/>
          <p:nvPr/>
        </p:nvSpPr>
        <p:spPr>
          <a:xfrm>
            <a:off x="251792" y="649357"/>
            <a:ext cx="2173356" cy="1477328"/>
          </a:xfrm>
          <a:prstGeom prst="rect">
            <a:avLst/>
          </a:prstGeom>
          <a:noFill/>
        </p:spPr>
        <p:txBody>
          <a:bodyPr wrap="square" rtlCol="0">
            <a:spAutoFit/>
          </a:bodyPr>
          <a:lstStyle/>
          <a:p>
            <a:r>
              <a:rPr lang="en-US" dirty="0"/>
              <a:t>Covariate pairwise comparison again but including soil variables + growing degree days</a:t>
            </a:r>
          </a:p>
        </p:txBody>
      </p:sp>
    </p:spTree>
    <p:extLst>
      <p:ext uri="{BB962C8B-B14F-4D97-AF65-F5344CB8AC3E}">
        <p14:creationId xmlns:p14="http://schemas.microsoft.com/office/powerpoint/2010/main" val="4363670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3BD08-BC0B-A586-6AEF-ED132D5960E4}"/>
              </a:ext>
            </a:extLst>
          </p:cNvPr>
          <p:cNvSpPr>
            <a:spLocks noGrp="1"/>
          </p:cNvSpPr>
          <p:nvPr>
            <p:ph type="title"/>
          </p:nvPr>
        </p:nvSpPr>
        <p:spPr>
          <a:xfrm>
            <a:off x="0" y="0"/>
            <a:ext cx="10515600" cy="1325563"/>
          </a:xfrm>
        </p:spPr>
        <p:txBody>
          <a:bodyPr/>
          <a:lstStyle/>
          <a:p>
            <a:r>
              <a:rPr lang="en-US" dirty="0"/>
              <a:t>Raw burn rate (this is what the model is predicting)</a:t>
            </a:r>
          </a:p>
        </p:txBody>
      </p:sp>
      <p:pic>
        <p:nvPicPr>
          <p:cNvPr id="5" name="Picture 4">
            <a:extLst>
              <a:ext uri="{FF2B5EF4-FFF2-40B4-BE49-F238E27FC236}">
                <a16:creationId xmlns:a16="http://schemas.microsoft.com/office/drawing/2014/main" id="{BD8A57F2-2470-B4D6-ED09-2CEDD95F2F2E}"/>
              </a:ext>
            </a:extLst>
          </p:cNvPr>
          <p:cNvPicPr>
            <a:picLocks noChangeAspect="1"/>
          </p:cNvPicPr>
          <p:nvPr/>
        </p:nvPicPr>
        <p:blipFill>
          <a:blip r:embed="rId3"/>
          <a:stretch>
            <a:fillRect/>
          </a:stretch>
        </p:blipFill>
        <p:spPr>
          <a:xfrm>
            <a:off x="0" y="1600200"/>
            <a:ext cx="5914862" cy="3657600"/>
          </a:xfrm>
          <a:prstGeom prst="rect">
            <a:avLst/>
          </a:prstGeom>
        </p:spPr>
      </p:pic>
      <p:pic>
        <p:nvPicPr>
          <p:cNvPr id="7" name="Picture 6">
            <a:extLst>
              <a:ext uri="{FF2B5EF4-FFF2-40B4-BE49-F238E27FC236}">
                <a16:creationId xmlns:a16="http://schemas.microsoft.com/office/drawing/2014/main" id="{42AC8EE3-2C2E-B737-F133-FEE07AD57668}"/>
              </a:ext>
            </a:extLst>
          </p:cNvPr>
          <p:cNvPicPr>
            <a:picLocks noChangeAspect="1"/>
          </p:cNvPicPr>
          <p:nvPr/>
        </p:nvPicPr>
        <p:blipFill>
          <a:blip r:embed="rId4"/>
          <a:stretch>
            <a:fillRect/>
          </a:stretch>
        </p:blipFill>
        <p:spPr>
          <a:xfrm>
            <a:off x="6052275" y="1600200"/>
            <a:ext cx="5914861" cy="3657600"/>
          </a:xfrm>
          <a:prstGeom prst="rect">
            <a:avLst/>
          </a:prstGeom>
        </p:spPr>
      </p:pic>
    </p:spTree>
    <p:extLst>
      <p:ext uri="{BB962C8B-B14F-4D97-AF65-F5344CB8AC3E}">
        <p14:creationId xmlns:p14="http://schemas.microsoft.com/office/powerpoint/2010/main" val="18002036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B76F9-313D-924D-A344-7D3F4273606C}"/>
              </a:ext>
            </a:extLst>
          </p:cNvPr>
          <p:cNvSpPr>
            <a:spLocks noGrp="1"/>
          </p:cNvSpPr>
          <p:nvPr>
            <p:ph type="title"/>
          </p:nvPr>
        </p:nvSpPr>
        <p:spPr/>
        <p:txBody>
          <a:bodyPr/>
          <a:lstStyle/>
          <a:p>
            <a:r>
              <a:rPr lang="en-US" dirty="0"/>
              <a:t>Castro et al 2026 modeling approach</a:t>
            </a:r>
          </a:p>
        </p:txBody>
      </p:sp>
      <p:sp>
        <p:nvSpPr>
          <p:cNvPr id="3" name="Content Placeholder 2">
            <a:extLst>
              <a:ext uri="{FF2B5EF4-FFF2-40B4-BE49-F238E27FC236}">
                <a16:creationId xmlns:a16="http://schemas.microsoft.com/office/drawing/2014/main" id="{01465770-F4E4-98DA-5551-A0CA90F0F408}"/>
              </a:ext>
            </a:extLst>
          </p:cNvPr>
          <p:cNvSpPr>
            <a:spLocks noGrp="1"/>
          </p:cNvSpPr>
          <p:nvPr>
            <p:ph idx="1"/>
          </p:nvPr>
        </p:nvSpPr>
        <p:spPr/>
        <p:txBody>
          <a:bodyPr>
            <a:normAutofit fontScale="62500" lnSpcReduction="20000"/>
          </a:bodyPr>
          <a:lstStyle/>
          <a:p>
            <a:pPr marL="0" indent="0">
              <a:buNone/>
            </a:pPr>
            <a:r>
              <a:rPr lang="en-US" dirty="0"/>
              <a:t>Overall goal: Find the average treatment effect on the treated pixels (ATT): For each pixel in each year, find the difference in burn probability if it were restored or not, and average these differences across pixels. Assumes parallel trends between treated and control pixels in absence of treatment.</a:t>
            </a:r>
          </a:p>
          <a:p>
            <a:pPr marL="0" indent="0">
              <a:buNone/>
            </a:pPr>
            <a:endParaRPr lang="en-US" dirty="0"/>
          </a:p>
          <a:p>
            <a:pPr marL="0" indent="0">
              <a:buNone/>
            </a:pPr>
            <a:r>
              <a:rPr lang="en-US" dirty="0"/>
              <a:t>Covariates can bias this comparison if they (1) affect which pixels get treated (propensity score) or (2) affect the burn probability (prognostic score)</a:t>
            </a:r>
          </a:p>
          <a:p>
            <a:pPr marL="0" indent="0">
              <a:buNone/>
            </a:pPr>
            <a:endParaRPr lang="en-US" dirty="0"/>
          </a:p>
          <a:p>
            <a:pPr marL="0" indent="0">
              <a:buNone/>
            </a:pPr>
            <a:r>
              <a:rPr lang="en-US" dirty="0"/>
              <a:t>Counterfactual: How often restored pixels would have burned had they not been restored</a:t>
            </a:r>
          </a:p>
          <a:p>
            <a:pPr marL="0" indent="0">
              <a:buNone/>
            </a:pPr>
            <a:endParaRPr lang="en-US" dirty="0"/>
          </a:p>
          <a:p>
            <a:pPr marL="0" indent="0">
              <a:buNone/>
            </a:pPr>
            <a:r>
              <a:rPr lang="en-US" dirty="0"/>
              <a:t>To find the counterfactual,</a:t>
            </a:r>
          </a:p>
          <a:p>
            <a:pPr marL="514350" indent="-514350">
              <a:buFont typeface="+mj-lt"/>
              <a:buAutoNum type="arabicPeriod"/>
            </a:pPr>
            <a:r>
              <a:rPr lang="en-US" dirty="0"/>
              <a:t>Match control and treated pixels, so that the burning in these control pixels stands in for the counterfactual</a:t>
            </a:r>
          </a:p>
          <a:p>
            <a:pPr marL="971550" lvl="1" indent="-514350">
              <a:buFont typeface="+mj-lt"/>
              <a:buAutoNum type="arabicPeriod"/>
            </a:pPr>
            <a:r>
              <a:rPr lang="en-US" dirty="0"/>
              <a:t>Use the prognostic and propensity scores rather than the raw covariates to make it easier to find matches</a:t>
            </a:r>
          </a:p>
          <a:p>
            <a:pPr marL="1428750" lvl="2" indent="-514350">
              <a:buFont typeface="+mj-lt"/>
              <a:buAutoNum type="arabicPeriod"/>
            </a:pPr>
            <a:r>
              <a:rPr lang="en-US" dirty="0"/>
              <a:t>Also add time lag (burn status over the last two years) and spatial lag (take four neighboring pixels and sum their burn status from this year) as matching variables</a:t>
            </a:r>
          </a:p>
          <a:p>
            <a:pPr marL="971550" lvl="1" indent="-514350">
              <a:buFont typeface="+mj-lt"/>
              <a:buAutoNum type="arabicPeriod"/>
            </a:pPr>
            <a:r>
              <a:rPr lang="en-US" dirty="0"/>
              <a:t>Difference-in-differences: find the difference in the difference of pre- and post-treatment burning for treated and control pixels. Controls for covariates that don’t change over time.</a:t>
            </a:r>
          </a:p>
          <a:p>
            <a:pPr marL="971550" lvl="1"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p:txBody>
      </p:sp>
    </p:spTree>
    <p:extLst>
      <p:ext uri="{BB962C8B-B14F-4D97-AF65-F5344CB8AC3E}">
        <p14:creationId xmlns:p14="http://schemas.microsoft.com/office/powerpoint/2010/main" val="40543674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C9251-BC26-55A2-018F-87047C91BD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FEA98E-9005-F6D4-EF5A-A122A65265B9}"/>
              </a:ext>
            </a:extLst>
          </p:cNvPr>
          <p:cNvSpPr>
            <a:spLocks noGrp="1"/>
          </p:cNvSpPr>
          <p:nvPr>
            <p:ph type="title"/>
          </p:nvPr>
        </p:nvSpPr>
        <p:spPr/>
        <p:txBody>
          <a:bodyPr/>
          <a:lstStyle/>
          <a:p>
            <a:r>
              <a:rPr lang="en-US" dirty="0"/>
              <a:t>Castro et al 2026 modeling approach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CDA80E2-F02E-7DE3-5B8E-B302295A7027}"/>
                  </a:ext>
                </a:extLst>
              </p:cNvPr>
              <p:cNvSpPr>
                <a:spLocks noGrp="1"/>
              </p:cNvSpPr>
              <p:nvPr>
                <p:ph idx="1"/>
              </p:nvPr>
            </p:nvSpPr>
            <p:spPr/>
            <p:txBody>
              <a:bodyPr>
                <a:normAutofit fontScale="92500" lnSpcReduction="10000"/>
              </a:bodyPr>
              <a:lstStyle/>
              <a:p>
                <a:r>
                  <a:rPr lang="en-US" dirty="0"/>
                  <a:t>Propensity score = the probability of being treated in this treated year given the covariates</a:t>
                </a:r>
              </a:p>
              <a:p>
                <a:pPr lvl="1"/>
                <a:r>
                  <a:rPr lang="en-US" dirty="0"/>
                  <a:t>Propensity = </a:t>
                </a:r>
                <a14:m>
                  <m:oMath xmlns:m="http://schemas.openxmlformats.org/officeDocument/2006/math">
                    <m:r>
                      <m:rPr>
                        <m:sty m:val="p"/>
                      </m:rPr>
                      <a:rPr lang="en-US">
                        <a:latin typeface="Cambria Math" panose="02040503050406030204" pitchFamily="18" charset="0"/>
                      </a:rPr>
                      <m:t>Pr</m:t>
                    </m:r>
                    <m:d>
                      <m:dPr>
                        <m:ctrlPr>
                          <a:rPr lang="en-US" b="0" i="0" smtClean="0">
                            <a:latin typeface="Cambria Math" panose="02040503050406030204" pitchFamily="18" charset="0"/>
                          </a:rPr>
                        </m:ctrlPr>
                      </m:dPr>
                      <m:e>
                        <m:r>
                          <m:rPr>
                            <m:sty m:val="p"/>
                          </m:rPr>
                          <a:rPr lang="en-US" b="0" i="0" smtClean="0">
                            <a:latin typeface="Cambria Math" panose="02040503050406030204" pitchFamily="18" charset="0"/>
                          </a:rPr>
                          <m:t>R</m:t>
                        </m:r>
                        <m:r>
                          <a:rPr lang="en-US">
                            <a:latin typeface="Cambria Math" panose="02040503050406030204" pitchFamily="18" charset="0"/>
                          </a:rPr>
                          <m:t>=1∣</m:t>
                        </m:r>
                        <m:r>
                          <a:rPr lang="en-US" i="1">
                            <a:latin typeface="Cambria Math" panose="02040503050406030204" pitchFamily="18" charset="0"/>
                          </a:rPr>
                          <m:t>𝑋</m:t>
                        </m:r>
                      </m:e>
                    </m:d>
                  </m:oMath>
                </a14:m>
                <a:endParaRPr lang="en-US" dirty="0"/>
              </a:p>
              <a:p>
                <a:pPr lvl="1"/>
                <a:r>
                  <a:rPr lang="en-US" dirty="0"/>
                  <a:t>R is restoration-site membership, X is covariate vector</a:t>
                </a:r>
              </a:p>
              <a:p>
                <a:pPr lvl="1"/>
                <a:r>
                  <a:rPr lang="en-US" dirty="0"/>
                  <a:t>Estimated using logistic regression</a:t>
                </a:r>
              </a:p>
              <a:p>
                <a:pPr lvl="1"/>
                <a:r>
                  <a:rPr lang="en-US" dirty="0"/>
                  <a:t>Only fit for years with treated sites</a:t>
                </a:r>
              </a:p>
              <a:p>
                <a:r>
                  <a:rPr lang="en-US" dirty="0"/>
                  <a:t>Prognostic score = a pixel’s baseline fire risk this year absent treatment</a:t>
                </a:r>
              </a:p>
              <a:p>
                <a:pPr lvl="1"/>
                <a14:m>
                  <m:oMath xmlns:m="http://schemas.openxmlformats.org/officeDocument/2006/math">
                    <m:r>
                      <m:rPr>
                        <m:sty m:val="p"/>
                      </m:rPr>
                      <a:rPr lang="en-US">
                        <a:latin typeface="Cambria Math" panose="02040503050406030204" pitchFamily="18" charset="0"/>
                      </a:rPr>
                      <m:t>P</m:t>
                    </m:r>
                    <m:r>
                      <m:rPr>
                        <m:sty m:val="p"/>
                      </m:rPr>
                      <a:rPr lang="en-US" b="0" i="0" smtClean="0">
                        <a:latin typeface="Cambria Math" panose="02040503050406030204" pitchFamily="18" charset="0"/>
                      </a:rPr>
                      <m:t>rognostic</m:t>
                    </m:r>
                    <m:r>
                      <a:rPr lang="en-US" b="0" i="0" smtClean="0">
                        <a:latin typeface="Cambria Math" panose="02040503050406030204" pitchFamily="18" charset="0"/>
                      </a:rPr>
                      <m:t>=</m:t>
                    </m:r>
                    <m:r>
                      <m:rPr>
                        <m:sty m:val="p"/>
                      </m:rPr>
                      <a:rPr lang="en-US" b="0" i="0" smtClean="0">
                        <a:latin typeface="Cambria Math" panose="02040503050406030204" pitchFamily="18" charset="0"/>
                      </a:rPr>
                      <m:t>Pr</m:t>
                    </m:r>
                    <m:r>
                      <a:rPr lang="en-US" b="0" i="0" smtClean="0">
                        <a:latin typeface="Cambria Math" panose="02040503050406030204" pitchFamily="18" charset="0"/>
                      </a:rPr>
                      <m:t>(</m:t>
                    </m:r>
                  </m:oMath>
                </a14:m>
                <a:r>
                  <a:rPr lang="en-US" dirty="0"/>
                  <a:t>B = 1 | X)</a:t>
                </a:r>
              </a:p>
              <a:p>
                <a:pPr lvl="1"/>
                <a:r>
                  <a:rPr lang="en-US" dirty="0"/>
                  <a:t>B is whether this control pixel burned in this year, X is covariate vector</a:t>
                </a:r>
              </a:p>
              <a:p>
                <a:pPr lvl="1"/>
                <a:r>
                  <a:rPr lang="en-US" dirty="0"/>
                  <a:t>Fit only on control pixels, then predicted for both control and treated pixels</a:t>
                </a:r>
              </a:p>
              <a:p>
                <a:r>
                  <a:rPr lang="en-US" dirty="0"/>
                  <a:t>Match control and treated pixels based on minimum </a:t>
                </a:r>
                <a:r>
                  <a:rPr lang="en-US" dirty="0" err="1"/>
                  <a:t>Mahalanobis</a:t>
                </a:r>
                <a:r>
                  <a:rPr lang="en-US" dirty="0"/>
                  <a:t> distance of these scores across years + time and spatial lag</a:t>
                </a:r>
              </a:p>
              <a:p>
                <a:pPr marL="514350" indent="-514350">
                  <a:buFont typeface="+mj-lt"/>
                  <a:buAutoNum type="arabicPeriod"/>
                </a:pPr>
                <a:endParaRPr lang="en-US" dirty="0"/>
              </a:p>
            </p:txBody>
          </p:sp>
        </mc:Choice>
        <mc:Fallback xmlns="">
          <p:sp>
            <p:nvSpPr>
              <p:cNvPr id="3" name="Content Placeholder 2">
                <a:extLst>
                  <a:ext uri="{FF2B5EF4-FFF2-40B4-BE49-F238E27FC236}">
                    <a16:creationId xmlns:a16="http://schemas.microsoft.com/office/drawing/2014/main" id="{ACDA80E2-F02E-7DE3-5B8E-B302295A7027}"/>
                  </a:ext>
                </a:extLst>
              </p:cNvPr>
              <p:cNvSpPr>
                <a:spLocks noGrp="1" noRot="1" noChangeAspect="1" noMove="1" noResize="1" noEditPoints="1" noAdjustHandles="1" noChangeArrowheads="1" noChangeShapeType="1" noTextEdit="1"/>
              </p:cNvSpPr>
              <p:nvPr>
                <p:ph idx="1"/>
              </p:nvPr>
            </p:nvSpPr>
            <p:spPr>
              <a:blipFill>
                <a:blip r:embed="rId3"/>
                <a:stretch>
                  <a:fillRect l="-965" t="-2616" b="-1453"/>
                </a:stretch>
              </a:blipFill>
            </p:spPr>
            <p:txBody>
              <a:bodyPr/>
              <a:lstStyle/>
              <a:p>
                <a:r>
                  <a:rPr lang="en-US">
                    <a:noFill/>
                  </a:rPr>
                  <a:t> </a:t>
                </a:r>
              </a:p>
            </p:txBody>
          </p:sp>
        </mc:Fallback>
      </mc:AlternateContent>
    </p:spTree>
    <p:extLst>
      <p:ext uri="{BB962C8B-B14F-4D97-AF65-F5344CB8AC3E}">
        <p14:creationId xmlns:p14="http://schemas.microsoft.com/office/powerpoint/2010/main" val="30638487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46BFB70-9D62-A772-A870-8130DD5685AB}"/>
              </a:ext>
            </a:extLst>
          </p:cNvPr>
          <p:cNvPicPr>
            <a:picLocks noGrp="1" noChangeAspect="1"/>
          </p:cNvPicPr>
          <p:nvPr>
            <p:ph idx="1"/>
          </p:nvPr>
        </p:nvPicPr>
        <p:blipFill>
          <a:blip r:embed="rId3"/>
          <a:stretch>
            <a:fillRect/>
          </a:stretch>
        </p:blipFill>
        <p:spPr>
          <a:xfrm>
            <a:off x="550818" y="-6488"/>
            <a:ext cx="11100855" cy="6864487"/>
          </a:xfrm>
          <a:prstGeom prst="rect">
            <a:avLst/>
          </a:prstGeom>
        </p:spPr>
      </p:pic>
      <p:sp>
        <p:nvSpPr>
          <p:cNvPr id="6" name="Rectangle 5">
            <a:extLst>
              <a:ext uri="{FF2B5EF4-FFF2-40B4-BE49-F238E27FC236}">
                <a16:creationId xmlns:a16="http://schemas.microsoft.com/office/drawing/2014/main" id="{8BA1A181-ED8D-6A61-53DF-41936AAC9227}"/>
              </a:ext>
            </a:extLst>
          </p:cNvPr>
          <p:cNvSpPr/>
          <p:nvPr/>
        </p:nvSpPr>
        <p:spPr>
          <a:xfrm>
            <a:off x="4876800" y="357809"/>
            <a:ext cx="3449782" cy="3379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048064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8B44874-C7BC-E93F-1D84-7534AC07AF8C}"/>
              </a:ext>
            </a:extLst>
          </p:cNvPr>
          <p:cNvPicPr>
            <a:picLocks noGrp="1" noChangeAspect="1"/>
          </p:cNvPicPr>
          <p:nvPr>
            <p:ph idx="1"/>
          </p:nvPr>
        </p:nvPicPr>
        <p:blipFill>
          <a:blip r:embed="rId3"/>
          <a:stretch>
            <a:fillRect/>
          </a:stretch>
        </p:blipFill>
        <p:spPr>
          <a:xfrm>
            <a:off x="24367" y="1510561"/>
            <a:ext cx="12167633" cy="3836878"/>
          </a:xfrm>
          <a:prstGeom prst="rect">
            <a:avLst/>
          </a:prstGeom>
        </p:spPr>
      </p:pic>
      <p:sp>
        <p:nvSpPr>
          <p:cNvPr id="6" name="TextBox 5">
            <a:extLst>
              <a:ext uri="{FF2B5EF4-FFF2-40B4-BE49-F238E27FC236}">
                <a16:creationId xmlns:a16="http://schemas.microsoft.com/office/drawing/2014/main" id="{94D1109A-F23A-09D5-BF01-B1E7C438D4D6}"/>
              </a:ext>
            </a:extLst>
          </p:cNvPr>
          <p:cNvSpPr txBox="1"/>
          <p:nvPr/>
        </p:nvSpPr>
        <p:spPr>
          <a:xfrm>
            <a:off x="2258291" y="1141229"/>
            <a:ext cx="2723310" cy="369332"/>
          </a:xfrm>
          <a:prstGeom prst="rect">
            <a:avLst/>
          </a:prstGeom>
          <a:noFill/>
        </p:spPr>
        <p:txBody>
          <a:bodyPr wrap="none" rtlCol="0">
            <a:spAutoFit/>
          </a:bodyPr>
          <a:lstStyle/>
          <a:p>
            <a:r>
              <a:rPr lang="en-US" dirty="0"/>
              <a:t>Propensity scores in 2019</a:t>
            </a:r>
          </a:p>
        </p:txBody>
      </p:sp>
      <p:sp>
        <p:nvSpPr>
          <p:cNvPr id="7" name="TextBox 6">
            <a:extLst>
              <a:ext uri="{FF2B5EF4-FFF2-40B4-BE49-F238E27FC236}">
                <a16:creationId xmlns:a16="http://schemas.microsoft.com/office/drawing/2014/main" id="{AA58E3DF-8323-A449-AF1F-44BEFA33BB43}"/>
              </a:ext>
            </a:extLst>
          </p:cNvPr>
          <p:cNvSpPr txBox="1"/>
          <p:nvPr/>
        </p:nvSpPr>
        <p:spPr>
          <a:xfrm>
            <a:off x="8257309" y="1141229"/>
            <a:ext cx="2725811" cy="369332"/>
          </a:xfrm>
          <a:prstGeom prst="rect">
            <a:avLst/>
          </a:prstGeom>
          <a:noFill/>
        </p:spPr>
        <p:txBody>
          <a:bodyPr wrap="none" rtlCol="0">
            <a:spAutoFit/>
          </a:bodyPr>
          <a:lstStyle/>
          <a:p>
            <a:r>
              <a:rPr lang="en-US" dirty="0"/>
              <a:t>prognostic scores in 2022</a:t>
            </a:r>
          </a:p>
        </p:txBody>
      </p:sp>
    </p:spTree>
    <p:extLst>
      <p:ext uri="{BB962C8B-B14F-4D97-AF65-F5344CB8AC3E}">
        <p14:creationId xmlns:p14="http://schemas.microsoft.com/office/powerpoint/2010/main" val="26059595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BA99C-2CB0-D154-D259-E1666C9DB57B}"/>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BB8A35E3-948C-79F3-CCE4-728ACFCA1FA1}"/>
              </a:ext>
            </a:extLst>
          </p:cNvPr>
          <p:cNvPicPr>
            <a:picLocks noGrp="1" noChangeAspect="1"/>
          </p:cNvPicPr>
          <p:nvPr>
            <p:ph idx="1"/>
          </p:nvPr>
        </p:nvPicPr>
        <p:blipFill>
          <a:blip r:embed="rId3"/>
          <a:stretch>
            <a:fillRect/>
          </a:stretch>
        </p:blipFill>
        <p:spPr>
          <a:xfrm>
            <a:off x="838200" y="92075"/>
            <a:ext cx="4575386" cy="3200400"/>
          </a:xfrm>
          <a:prstGeom prst="rect">
            <a:avLst/>
          </a:prstGeom>
        </p:spPr>
      </p:pic>
      <p:pic>
        <p:nvPicPr>
          <p:cNvPr id="7" name="Picture 6">
            <a:extLst>
              <a:ext uri="{FF2B5EF4-FFF2-40B4-BE49-F238E27FC236}">
                <a16:creationId xmlns:a16="http://schemas.microsoft.com/office/drawing/2014/main" id="{E25495AE-927F-6164-F91D-AA7161ACEEE3}"/>
              </a:ext>
            </a:extLst>
          </p:cNvPr>
          <p:cNvPicPr>
            <a:picLocks noChangeAspect="1"/>
          </p:cNvPicPr>
          <p:nvPr/>
        </p:nvPicPr>
        <p:blipFill>
          <a:blip r:embed="rId4"/>
          <a:stretch>
            <a:fillRect/>
          </a:stretch>
        </p:blipFill>
        <p:spPr>
          <a:xfrm>
            <a:off x="6183780" y="92075"/>
            <a:ext cx="4720188" cy="3200400"/>
          </a:xfrm>
          <a:prstGeom prst="rect">
            <a:avLst/>
          </a:prstGeom>
        </p:spPr>
      </p:pic>
      <p:pic>
        <p:nvPicPr>
          <p:cNvPr id="9" name="Content Placeholder 4">
            <a:extLst>
              <a:ext uri="{FF2B5EF4-FFF2-40B4-BE49-F238E27FC236}">
                <a16:creationId xmlns:a16="http://schemas.microsoft.com/office/drawing/2014/main" id="{35DB8628-1243-7EBA-B0CD-ECB231164272}"/>
              </a:ext>
            </a:extLst>
          </p:cNvPr>
          <p:cNvPicPr>
            <a:picLocks noChangeAspect="1"/>
          </p:cNvPicPr>
          <p:nvPr/>
        </p:nvPicPr>
        <p:blipFill>
          <a:blip r:embed="rId5"/>
          <a:stretch>
            <a:fillRect/>
          </a:stretch>
        </p:blipFill>
        <p:spPr>
          <a:xfrm>
            <a:off x="3383966" y="3565525"/>
            <a:ext cx="4895748" cy="3200400"/>
          </a:xfrm>
          <a:prstGeom prst="rect">
            <a:avLst/>
          </a:prstGeom>
        </p:spPr>
      </p:pic>
    </p:spTree>
    <p:extLst>
      <p:ext uri="{BB962C8B-B14F-4D97-AF65-F5344CB8AC3E}">
        <p14:creationId xmlns:p14="http://schemas.microsoft.com/office/powerpoint/2010/main" val="30746569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EA7C1-D390-DF8A-FAA5-787CF68C79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90C757-3A89-BD92-9036-8ADD3FA33B37}"/>
              </a:ext>
            </a:extLst>
          </p:cNvPr>
          <p:cNvSpPr>
            <a:spLocks noGrp="1"/>
          </p:cNvSpPr>
          <p:nvPr>
            <p:ph type="title"/>
          </p:nvPr>
        </p:nvSpPr>
        <p:spPr/>
        <p:txBody>
          <a:bodyPr/>
          <a:lstStyle/>
          <a:p>
            <a:r>
              <a:rPr lang="en-US" dirty="0"/>
              <a:t>Castro et al 2026 modeling approach</a:t>
            </a:r>
          </a:p>
        </p:txBody>
      </p:sp>
      <p:sp>
        <p:nvSpPr>
          <p:cNvPr id="3" name="Content Placeholder 2">
            <a:extLst>
              <a:ext uri="{FF2B5EF4-FFF2-40B4-BE49-F238E27FC236}">
                <a16:creationId xmlns:a16="http://schemas.microsoft.com/office/drawing/2014/main" id="{AED67C76-EF9F-4D6F-C471-890B022A1048}"/>
              </a:ext>
            </a:extLst>
          </p:cNvPr>
          <p:cNvSpPr>
            <a:spLocks noGrp="1"/>
          </p:cNvSpPr>
          <p:nvPr>
            <p:ph idx="1"/>
          </p:nvPr>
        </p:nvSpPr>
        <p:spPr/>
        <p:txBody>
          <a:bodyPr>
            <a:normAutofit fontScale="62500" lnSpcReduction="20000"/>
          </a:bodyPr>
          <a:lstStyle/>
          <a:p>
            <a:r>
              <a:rPr lang="en-US" dirty="0"/>
              <a:t>Canonical Average Treatment effect on the Treated pixels (ATT) = (</a:t>
            </a:r>
            <a:r>
              <a:rPr lang="en-US" dirty="0" err="1"/>
              <a:t>B</a:t>
            </a:r>
            <a:r>
              <a:rPr lang="en-US" baseline="-25000" dirty="0" err="1"/>
              <a:t>treat,post</a:t>
            </a:r>
            <a:r>
              <a:rPr lang="en-US" dirty="0"/>
              <a:t> - </a:t>
            </a:r>
            <a:r>
              <a:rPr lang="en-US" dirty="0" err="1"/>
              <a:t>B</a:t>
            </a:r>
            <a:r>
              <a:rPr lang="en-US" baseline="-25000" dirty="0" err="1"/>
              <a:t>treat,pre</a:t>
            </a:r>
            <a:r>
              <a:rPr lang="en-US" dirty="0"/>
              <a:t>) – (</a:t>
            </a:r>
            <a:r>
              <a:rPr lang="en-US" dirty="0" err="1"/>
              <a:t>B</a:t>
            </a:r>
            <a:r>
              <a:rPr lang="en-US" baseline="-25000" dirty="0" err="1"/>
              <a:t>ctrl,post</a:t>
            </a:r>
            <a:r>
              <a:rPr lang="en-US" dirty="0"/>
              <a:t> – </a:t>
            </a:r>
            <a:r>
              <a:rPr lang="en-US" dirty="0" err="1"/>
              <a:t>B</a:t>
            </a:r>
            <a:r>
              <a:rPr lang="en-US" baseline="-25000" dirty="0" err="1"/>
              <a:t>ctrl,pre</a:t>
            </a:r>
            <a:r>
              <a:rPr lang="en-US" dirty="0"/>
              <a:t>) </a:t>
            </a:r>
          </a:p>
          <a:p>
            <a:pPr lvl="1"/>
            <a:r>
              <a:rPr lang="en-US" dirty="0"/>
              <a:t>Predicted burn probability of (treated pixels after treatment year – treated pixels before treatment year) – (control pixels after treatment year – control pixels before treatment year)</a:t>
            </a:r>
          </a:p>
          <a:p>
            <a:r>
              <a:rPr lang="en-US" dirty="0"/>
              <a:t>Uses Callaway and Sant’Anna’s python library (differences) for implementing Difference-in-Differences</a:t>
            </a:r>
          </a:p>
          <a:p>
            <a:pPr lvl="1"/>
            <a:r>
              <a:rPr lang="en-US" dirty="0"/>
              <a:t>The python equivalent of the r package that Castro et al 2026 used</a:t>
            </a:r>
          </a:p>
          <a:p>
            <a:r>
              <a:rPr lang="en-US" dirty="0"/>
              <a:t>Canonical ATT is biased under staggered treatment because it reuses already-treated units as control</a:t>
            </a:r>
          </a:p>
          <a:p>
            <a:pPr lvl="1"/>
            <a:r>
              <a:rPr lang="en-US" dirty="0"/>
              <a:t>Callaway and Sant’Anna only use never-treated and not-yet-treated pixels as controls</a:t>
            </a:r>
          </a:p>
          <a:p>
            <a:r>
              <a:rPr lang="en-US" dirty="0"/>
              <a:t>Callaway and Sant’Anna additionally fit two models per group g (pixels restored in year g) and calendar year t: an outcome regression (</a:t>
            </a:r>
            <a:r>
              <a:rPr lang="en-US" dirty="0" err="1"/>
              <a:t>DiD</a:t>
            </a:r>
            <a:r>
              <a:rPr lang="en-US" dirty="0"/>
              <a:t> equivalent of prognostic score) and a propensity model so that parallel trends only have to hold conditional on covariates X, and for the counterfactual to be estimated two independent ways: </a:t>
            </a:r>
          </a:p>
          <a:p>
            <a:pPr lvl="1"/>
            <a:r>
              <a:rPr lang="en-US" dirty="0"/>
              <a:t>Outcome regression – m̂(X) = E[ΔY | X, control], fit on control units only, where ΔY = </a:t>
            </a:r>
            <a:r>
              <a:rPr lang="en-US" dirty="0" err="1"/>
              <a:t>Yt</a:t>
            </a:r>
            <a:r>
              <a:rPr lang="en-US" dirty="0"/>
              <a:t> − Y{g-1} is the change in burn probability from the base year g-1 to year t. When evaluated at a treated pixel’s X, it gives that pixel’s counterfactual change (how much its burning would have changed had it not been treated)</a:t>
            </a:r>
          </a:p>
          <a:p>
            <a:pPr lvl="1"/>
            <a:r>
              <a:rPr lang="en-US" dirty="0"/>
              <a:t>Propensity – </a:t>
            </a:r>
            <a:r>
              <a:rPr lang="en-US" dirty="0" err="1"/>
              <a:t>ê</a:t>
            </a:r>
            <a:r>
              <a:rPr lang="en-US" dirty="0"/>
              <a:t>(X) = </a:t>
            </a:r>
            <a:r>
              <a:rPr lang="en-US" dirty="0" err="1"/>
              <a:t>Pr</a:t>
            </a:r>
            <a:r>
              <a:rPr lang="en-US" dirty="0"/>
              <a:t>(treated cohort g | X), fit on both treated and control. Reweights controls by the odds </a:t>
            </a:r>
            <a:r>
              <a:rPr lang="en-US" dirty="0" err="1"/>
              <a:t>ê</a:t>
            </a:r>
            <a:r>
              <a:rPr lang="en-US" dirty="0"/>
              <a:t>/(1−ê), such that controls that look like treated pixels are upweighted so the control group matches the treated covariate mix. </a:t>
            </a:r>
          </a:p>
          <a:p>
            <a:pPr lvl="1"/>
            <a:r>
              <a:rPr lang="en-US" dirty="0"/>
              <a:t>ATT(</a:t>
            </a:r>
            <a:r>
              <a:rPr lang="en-US" dirty="0" err="1"/>
              <a:t>g,t</a:t>
            </a:r>
            <a:r>
              <a:rPr lang="en-US" dirty="0"/>
              <a:t>) = (mean residual over treated) – (propensity-weighted mean residual over controls), where the residual is ΔY − m̂(X)</a:t>
            </a:r>
          </a:p>
          <a:p>
            <a:endParaRPr lang="en-US" dirty="0"/>
          </a:p>
          <a:p>
            <a:pPr lvl="1"/>
            <a:endParaRPr lang="en-US" dirty="0"/>
          </a:p>
          <a:p>
            <a:pPr marL="514350" indent="-514350">
              <a:buFont typeface="+mj-lt"/>
              <a:buAutoNum type="arabicPeriod"/>
            </a:pPr>
            <a:endParaRPr lang="en-US" dirty="0"/>
          </a:p>
          <a:p>
            <a:pPr marL="514350" indent="-514350">
              <a:buFont typeface="+mj-lt"/>
              <a:buAutoNum type="arabicPeriod"/>
            </a:pPr>
            <a:endParaRPr lang="en-US" dirty="0"/>
          </a:p>
        </p:txBody>
      </p:sp>
    </p:spTree>
    <p:extLst>
      <p:ext uri="{BB962C8B-B14F-4D97-AF65-F5344CB8AC3E}">
        <p14:creationId xmlns:p14="http://schemas.microsoft.com/office/powerpoint/2010/main" val="212022106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62C4B36-4FFC-1512-6CAB-20EDACA5EEA9}"/>
              </a:ext>
            </a:extLst>
          </p:cNvPr>
          <p:cNvPicPr>
            <a:picLocks noGrp="1" noChangeAspect="1"/>
          </p:cNvPicPr>
          <p:nvPr>
            <p:ph idx="1"/>
          </p:nvPr>
        </p:nvPicPr>
        <p:blipFill>
          <a:blip r:embed="rId3"/>
          <a:stretch>
            <a:fillRect/>
          </a:stretch>
        </p:blipFill>
        <p:spPr>
          <a:xfrm>
            <a:off x="738149" y="231682"/>
            <a:ext cx="10715702" cy="6626318"/>
          </a:xfrm>
          <a:prstGeom prst="rect">
            <a:avLst/>
          </a:prstGeom>
        </p:spPr>
      </p:pic>
    </p:spTree>
    <p:extLst>
      <p:ext uri="{BB962C8B-B14F-4D97-AF65-F5344CB8AC3E}">
        <p14:creationId xmlns:p14="http://schemas.microsoft.com/office/powerpoint/2010/main" val="42330577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29749-3635-725F-CE5E-9647AA917717}"/>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02389302-713B-23E6-7CB4-546BA2F08B86}"/>
              </a:ext>
            </a:extLst>
          </p:cNvPr>
          <p:cNvSpPr>
            <a:spLocks noGrp="1"/>
          </p:cNvSpPr>
          <p:nvPr>
            <p:ph idx="1"/>
          </p:nvPr>
        </p:nvSpPr>
        <p:spPr/>
        <p:txBody>
          <a:bodyPr/>
          <a:lstStyle/>
          <a:p>
            <a:r>
              <a:rPr lang="en-US" dirty="0"/>
              <a:t>Run on different fire products</a:t>
            </a:r>
          </a:p>
          <a:p>
            <a:r>
              <a:rPr lang="en-US" dirty="0"/>
              <a:t>Run on drainage with/instead of treated status</a:t>
            </a:r>
          </a:p>
          <a:p>
            <a:pPr lvl="1"/>
            <a:r>
              <a:rPr lang="en-US" dirty="0"/>
              <a:t>Drainage does not vary per year though.</a:t>
            </a:r>
          </a:p>
          <a:p>
            <a:r>
              <a:rPr lang="en-US" dirty="0"/>
              <a:t>Add land cover, distance to road, light intensity, timber management extent</a:t>
            </a:r>
          </a:p>
        </p:txBody>
      </p:sp>
    </p:spTree>
    <p:extLst>
      <p:ext uri="{BB962C8B-B14F-4D97-AF65-F5344CB8AC3E}">
        <p14:creationId xmlns:p14="http://schemas.microsoft.com/office/powerpoint/2010/main" val="19974836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F224B-D773-DD18-21D9-4AF2630F6B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74E1DF-EE10-4331-0C16-F7F0430587EC}"/>
              </a:ext>
            </a:extLst>
          </p:cNvPr>
          <p:cNvSpPr>
            <a:spLocks noGrp="1"/>
          </p:cNvSpPr>
          <p:nvPr>
            <p:ph type="ctrTitle"/>
          </p:nvPr>
        </p:nvSpPr>
        <p:spPr/>
        <p:txBody>
          <a:bodyPr/>
          <a:lstStyle/>
          <a:p>
            <a:r>
              <a:rPr lang="en-US" dirty="0"/>
              <a:t>7/9/26</a:t>
            </a:r>
          </a:p>
        </p:txBody>
      </p:sp>
      <p:sp>
        <p:nvSpPr>
          <p:cNvPr id="3" name="Subtitle 2">
            <a:extLst>
              <a:ext uri="{FF2B5EF4-FFF2-40B4-BE49-F238E27FC236}">
                <a16:creationId xmlns:a16="http://schemas.microsoft.com/office/drawing/2014/main" id="{F5E4EA55-0F8A-D1BA-FEF1-B4F11C14E52F}"/>
              </a:ext>
            </a:extLst>
          </p:cNvPr>
          <p:cNvSpPr>
            <a:spLocks noGrp="1"/>
          </p:cNvSpPr>
          <p:nvPr>
            <p:ph type="subTitle" idx="1"/>
          </p:nvPr>
        </p:nvSpPr>
        <p:spPr/>
        <p:txBody>
          <a:bodyPr>
            <a:normAutofit/>
          </a:bodyPr>
          <a:lstStyle/>
          <a:p>
            <a:r>
              <a:rPr lang="en-US" dirty="0"/>
              <a:t>Pair restored pixels with nearest unrestored, control pixels based on mean total annual precipitation, mean daily max temp, mean daily min temp, elevation, histosol percent</a:t>
            </a:r>
          </a:p>
          <a:p>
            <a:endParaRPr lang="en-US" dirty="0"/>
          </a:p>
        </p:txBody>
      </p:sp>
    </p:spTree>
    <p:extLst>
      <p:ext uri="{BB962C8B-B14F-4D97-AF65-F5344CB8AC3E}">
        <p14:creationId xmlns:p14="http://schemas.microsoft.com/office/powerpoint/2010/main" val="17809497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38BE4-1F8B-61DC-4453-FDE5A658CAAD}"/>
              </a:ext>
            </a:extLst>
          </p:cNvPr>
          <p:cNvSpPr>
            <a:spLocks noGrp="1"/>
          </p:cNvSpPr>
          <p:nvPr>
            <p:ph type="title"/>
          </p:nvPr>
        </p:nvSpPr>
        <p:spPr>
          <a:xfrm>
            <a:off x="0" y="18255"/>
            <a:ext cx="10515600" cy="1325563"/>
          </a:xfrm>
        </p:spPr>
        <p:txBody>
          <a:bodyPr/>
          <a:lstStyle/>
          <a:p>
            <a:r>
              <a:rPr lang="en-US" dirty="0"/>
              <a:t>Data</a:t>
            </a:r>
          </a:p>
        </p:txBody>
      </p:sp>
      <p:graphicFrame>
        <p:nvGraphicFramePr>
          <p:cNvPr id="4" name="Table 3">
            <a:extLst>
              <a:ext uri="{FF2B5EF4-FFF2-40B4-BE49-F238E27FC236}">
                <a16:creationId xmlns:a16="http://schemas.microsoft.com/office/drawing/2014/main" id="{38F82B4E-7F00-472A-D7B6-DB3CBBE98B22}"/>
              </a:ext>
            </a:extLst>
          </p:cNvPr>
          <p:cNvGraphicFramePr>
            <a:graphicFrameLocks noGrp="1"/>
          </p:cNvGraphicFramePr>
          <p:nvPr>
            <p:extLst>
              <p:ext uri="{D42A27DB-BD31-4B8C-83A1-F6EECF244321}">
                <p14:modId xmlns:p14="http://schemas.microsoft.com/office/powerpoint/2010/main" val="4223724782"/>
              </p:ext>
            </p:extLst>
          </p:nvPr>
        </p:nvGraphicFramePr>
        <p:xfrm>
          <a:off x="1261532" y="18255"/>
          <a:ext cx="10930470" cy="6839744"/>
        </p:xfrm>
        <a:graphic>
          <a:graphicData uri="http://schemas.openxmlformats.org/drawingml/2006/table">
            <a:tbl>
              <a:tblPr firstRow="1" bandRow="1">
                <a:tableStyleId>{5C22544A-7EE6-4342-B048-85BDC9FD1C3A}</a:tableStyleId>
              </a:tblPr>
              <a:tblGrid>
                <a:gridCol w="2186094">
                  <a:extLst>
                    <a:ext uri="{9D8B030D-6E8A-4147-A177-3AD203B41FA5}">
                      <a16:colId xmlns:a16="http://schemas.microsoft.com/office/drawing/2014/main" val="4143077663"/>
                    </a:ext>
                  </a:extLst>
                </a:gridCol>
                <a:gridCol w="2186094">
                  <a:extLst>
                    <a:ext uri="{9D8B030D-6E8A-4147-A177-3AD203B41FA5}">
                      <a16:colId xmlns:a16="http://schemas.microsoft.com/office/drawing/2014/main" val="2992236476"/>
                    </a:ext>
                  </a:extLst>
                </a:gridCol>
                <a:gridCol w="2186094">
                  <a:extLst>
                    <a:ext uri="{9D8B030D-6E8A-4147-A177-3AD203B41FA5}">
                      <a16:colId xmlns:a16="http://schemas.microsoft.com/office/drawing/2014/main" val="2714326233"/>
                    </a:ext>
                  </a:extLst>
                </a:gridCol>
                <a:gridCol w="2186094">
                  <a:extLst>
                    <a:ext uri="{9D8B030D-6E8A-4147-A177-3AD203B41FA5}">
                      <a16:colId xmlns:a16="http://schemas.microsoft.com/office/drawing/2014/main" val="3695969138"/>
                    </a:ext>
                  </a:extLst>
                </a:gridCol>
                <a:gridCol w="2186094">
                  <a:extLst>
                    <a:ext uri="{9D8B030D-6E8A-4147-A177-3AD203B41FA5}">
                      <a16:colId xmlns:a16="http://schemas.microsoft.com/office/drawing/2014/main" val="3803992306"/>
                    </a:ext>
                  </a:extLst>
                </a:gridCol>
              </a:tblGrid>
              <a:tr h="659456">
                <a:tc>
                  <a:txBody>
                    <a:bodyPr/>
                    <a:lstStyle/>
                    <a:p>
                      <a:r>
                        <a:rPr lang="en-US" sz="1400" dirty="0"/>
                        <a:t>Variable</a:t>
                      </a:r>
                    </a:p>
                  </a:txBody>
                  <a:tcPr/>
                </a:tc>
                <a:tc>
                  <a:txBody>
                    <a:bodyPr/>
                    <a:lstStyle/>
                    <a:p>
                      <a:r>
                        <a:rPr lang="en-US" sz="1400" dirty="0"/>
                        <a:t>Source</a:t>
                      </a:r>
                    </a:p>
                  </a:txBody>
                  <a:tcPr/>
                </a:tc>
                <a:tc>
                  <a:txBody>
                    <a:bodyPr/>
                    <a:lstStyle/>
                    <a:p>
                      <a:r>
                        <a:rPr lang="en-US" sz="1400" dirty="0"/>
                        <a:t>Spatial Resolution</a:t>
                      </a:r>
                    </a:p>
                  </a:txBody>
                  <a:tcPr/>
                </a:tc>
                <a:tc>
                  <a:txBody>
                    <a:bodyPr/>
                    <a:lstStyle/>
                    <a:p>
                      <a:r>
                        <a:rPr lang="en-US" sz="1400" dirty="0"/>
                        <a:t>Temporal Extent</a:t>
                      </a:r>
                    </a:p>
                  </a:txBody>
                  <a:tcPr/>
                </a:tc>
                <a:tc>
                  <a:txBody>
                    <a:bodyPr/>
                    <a:lstStyle/>
                    <a:p>
                      <a:r>
                        <a:rPr lang="en-US" sz="1400" dirty="0"/>
                        <a:t>Units</a:t>
                      </a:r>
                    </a:p>
                  </a:txBody>
                  <a:tcPr/>
                </a:tc>
                <a:extLst>
                  <a:ext uri="{0D108BD9-81ED-4DB2-BD59-A6C34878D82A}">
                    <a16:rowId xmlns:a16="http://schemas.microsoft.com/office/drawing/2014/main" val="2965661586"/>
                  </a:ext>
                </a:extLst>
              </a:tr>
              <a:tr h="1252966">
                <a:tc>
                  <a:txBody>
                    <a:bodyPr/>
                    <a:lstStyle/>
                    <a:p>
                      <a:r>
                        <a:rPr lang="en-US" sz="1400" dirty="0"/>
                        <a:t>Peat restoration status</a:t>
                      </a:r>
                    </a:p>
                  </a:txBody>
                  <a:tcPr/>
                </a:tc>
                <a:tc>
                  <a:txBody>
                    <a:bodyPr/>
                    <a:lstStyle/>
                    <a:p>
                      <a:r>
                        <a:rPr lang="en-US" sz="1400" dirty="0"/>
                        <a:t>NC_Pocosin_Restoration_Sites_2026.shp</a:t>
                      </a:r>
                    </a:p>
                  </a:txBody>
                  <a:tcPr/>
                </a:tc>
                <a:tc>
                  <a:txBody>
                    <a:bodyPr/>
                    <a:lstStyle/>
                    <a:p>
                      <a:r>
                        <a:rPr lang="en-US" sz="1400" dirty="0"/>
                        <a:t>N/A (vector polygons)</a:t>
                      </a:r>
                    </a:p>
                  </a:txBody>
                  <a:tcPr/>
                </a:tc>
                <a:tc>
                  <a:txBody>
                    <a:bodyPr/>
                    <a:lstStyle/>
                    <a:p>
                      <a:r>
                        <a:rPr lang="en-US" sz="1400" dirty="0"/>
                        <a:t>Snapshot of restoration status as of 2026</a:t>
                      </a:r>
                    </a:p>
                  </a:txBody>
                  <a:tcPr/>
                </a:tc>
                <a:tc>
                  <a:txBody>
                    <a:bodyPr/>
                    <a:lstStyle/>
                    <a:p>
                      <a:r>
                        <a:rPr lang="en-US" sz="1400" dirty="0"/>
                        <a:t>1 (restored) or 0 (not restored)</a:t>
                      </a:r>
                    </a:p>
                  </a:txBody>
                  <a:tcPr/>
                </a:tc>
                <a:extLst>
                  <a:ext uri="{0D108BD9-81ED-4DB2-BD59-A6C34878D82A}">
                    <a16:rowId xmlns:a16="http://schemas.microsoft.com/office/drawing/2014/main" val="1661031299"/>
                  </a:ext>
                </a:extLst>
              </a:tr>
              <a:tr h="857293">
                <a:tc>
                  <a:txBody>
                    <a:bodyPr/>
                    <a:lstStyle/>
                    <a:p>
                      <a:r>
                        <a:rPr lang="en-US" sz="1400" dirty="0"/>
                        <a:t>Elevation (elevation)</a:t>
                      </a:r>
                    </a:p>
                  </a:txBody>
                  <a:tcPr/>
                </a:tc>
                <a:tc>
                  <a:txBody>
                    <a:bodyPr/>
                    <a:lstStyle/>
                    <a:p>
                      <a:r>
                        <a:rPr lang="en-US" sz="1400" b="0" i="0" kern="1200" dirty="0">
                          <a:solidFill>
                            <a:schemeClr val="dk1"/>
                          </a:solidFill>
                          <a:effectLst/>
                          <a:latin typeface="+mn-lt"/>
                          <a:ea typeface="+mn-ea"/>
                          <a:cs typeface="+mn-cs"/>
                        </a:rPr>
                        <a:t>Copernicus GLO-30 DEM</a:t>
                      </a:r>
                      <a:endParaRPr lang="en-US" sz="1400" dirty="0"/>
                    </a:p>
                  </a:txBody>
                  <a:tcPr/>
                </a:tc>
                <a:tc>
                  <a:txBody>
                    <a:bodyPr/>
                    <a:lstStyle/>
                    <a:p>
                      <a:r>
                        <a:rPr lang="en-US" sz="1400" dirty="0"/>
                        <a:t>30 m</a:t>
                      </a:r>
                    </a:p>
                  </a:txBody>
                  <a:tcPr/>
                </a:tc>
                <a:tc>
                  <a:txBody>
                    <a:bodyPr/>
                    <a:lstStyle/>
                    <a:p>
                      <a:r>
                        <a:rPr lang="en-US" sz="1400" dirty="0"/>
                        <a:t>Snapshot derived from 2011-2015</a:t>
                      </a:r>
                    </a:p>
                  </a:txBody>
                  <a:tcPr/>
                </a:tc>
                <a:tc>
                  <a:txBody>
                    <a:bodyPr/>
                    <a:lstStyle/>
                    <a:p>
                      <a:r>
                        <a:rPr lang="en-US" sz="1400" dirty="0"/>
                        <a:t>Meters above sea level</a:t>
                      </a:r>
                    </a:p>
                  </a:txBody>
                  <a:tcPr/>
                </a:tc>
                <a:extLst>
                  <a:ext uri="{0D108BD9-81ED-4DB2-BD59-A6C34878D82A}">
                    <a16:rowId xmlns:a16="http://schemas.microsoft.com/office/drawing/2014/main" val="2077020170"/>
                  </a:ext>
                </a:extLst>
              </a:tr>
              <a:tr h="857293">
                <a:tc>
                  <a:txBody>
                    <a:bodyPr/>
                    <a:lstStyle/>
                    <a:p>
                      <a:r>
                        <a:rPr lang="en-US" sz="1400" dirty="0"/>
                        <a:t>Histosol % (</a:t>
                      </a:r>
                      <a:r>
                        <a:rPr lang="en-US" sz="1400" dirty="0" err="1"/>
                        <a:t>histosol_pct</a:t>
                      </a:r>
                      <a:r>
                        <a:rPr lang="en-US" sz="1400" dirty="0"/>
                        <a:t>)</a:t>
                      </a:r>
                    </a:p>
                  </a:txBody>
                  <a:tcPr/>
                </a:tc>
                <a:tc>
                  <a:txBody>
                    <a:bodyPr/>
                    <a:lstStyle/>
                    <a:p>
                      <a:r>
                        <a:rPr lang="en-US" sz="1400" dirty="0" err="1"/>
                        <a:t>gSSURGO</a:t>
                      </a:r>
                      <a:r>
                        <a:rPr lang="en-US" sz="1400" dirty="0"/>
                        <a:t> major-histosol % - Lilleskov et al 2025</a:t>
                      </a:r>
                    </a:p>
                  </a:txBody>
                  <a:tcPr/>
                </a:tc>
                <a:tc>
                  <a:txBody>
                    <a:bodyPr/>
                    <a:lstStyle/>
                    <a:p>
                      <a:r>
                        <a:rPr lang="en-US" sz="1400" dirty="0"/>
                        <a:t>30 m</a:t>
                      </a:r>
                    </a:p>
                  </a:txBody>
                  <a:tcPr/>
                </a:tc>
                <a:tc>
                  <a:txBody>
                    <a:bodyPr/>
                    <a:lstStyle/>
                    <a:p>
                      <a:r>
                        <a:rPr lang="en-US" sz="1400" dirty="0"/>
                        <a:t>Snapshot produced by Lilleskov et al 2025</a:t>
                      </a:r>
                    </a:p>
                  </a:txBody>
                  <a:tcPr/>
                </a:tc>
                <a:tc>
                  <a:txBody>
                    <a:bodyPr/>
                    <a:lstStyle/>
                    <a:p>
                      <a:r>
                        <a:rPr lang="en-US" sz="1400" dirty="0"/>
                        <a:t>Percent, 0-100</a:t>
                      </a:r>
                    </a:p>
                  </a:txBody>
                  <a:tcPr/>
                </a:tc>
                <a:extLst>
                  <a:ext uri="{0D108BD9-81ED-4DB2-BD59-A6C34878D82A}">
                    <a16:rowId xmlns:a16="http://schemas.microsoft.com/office/drawing/2014/main" val="2281803976"/>
                  </a:ext>
                </a:extLst>
              </a:tr>
              <a:tr h="945574">
                <a:tc>
                  <a:txBody>
                    <a:bodyPr/>
                    <a:lstStyle/>
                    <a:p>
                      <a:r>
                        <a:rPr lang="en-US" sz="1400" dirty="0"/>
                        <a:t>Mean annual precipitation total (</a:t>
                      </a:r>
                      <a:r>
                        <a:rPr lang="en-US" sz="1400" dirty="0" err="1"/>
                        <a:t>precip_normal</a:t>
                      </a:r>
                      <a:r>
                        <a:rPr lang="en-US" sz="1400" dirty="0"/>
                        <a:t>)</a:t>
                      </a:r>
                    </a:p>
                  </a:txBody>
                  <a:tcPr/>
                </a:tc>
                <a:tc>
                  <a:txBody>
                    <a:bodyPr/>
                    <a:lstStyle/>
                    <a:p>
                      <a:r>
                        <a:rPr lang="en-US" sz="1400" dirty="0"/>
                        <a:t>GHCN daily PRCP, IDW-interpolated to grid</a:t>
                      </a:r>
                    </a:p>
                  </a:txBody>
                  <a:tcPr/>
                </a:tc>
                <a:tc>
                  <a:txBody>
                    <a:bodyPr/>
                    <a:lstStyle/>
                    <a:p>
                      <a:r>
                        <a:rPr lang="en-US" sz="1400" dirty="0"/>
                        <a:t>300 m grid (interpolated from GHCN station points)</a:t>
                      </a:r>
                    </a:p>
                  </a:txBody>
                  <a:tcPr/>
                </a:tc>
                <a:tc>
                  <a:txBody>
                    <a:bodyPr/>
                    <a:lstStyle/>
                    <a:p>
                      <a:r>
                        <a:rPr lang="en-US" sz="1400" dirty="0"/>
                        <a:t>Averaged over 1991-2020</a:t>
                      </a:r>
                    </a:p>
                  </a:txBody>
                  <a:tcPr/>
                </a:tc>
                <a:tc>
                  <a:txBody>
                    <a:bodyPr/>
                    <a:lstStyle/>
                    <a:p>
                      <a:r>
                        <a:rPr lang="en-US" sz="1400" dirty="0"/>
                        <a:t>mm</a:t>
                      </a:r>
                    </a:p>
                  </a:txBody>
                  <a:tcPr/>
                </a:tc>
                <a:extLst>
                  <a:ext uri="{0D108BD9-81ED-4DB2-BD59-A6C34878D82A}">
                    <a16:rowId xmlns:a16="http://schemas.microsoft.com/office/drawing/2014/main" val="2507497306"/>
                  </a:ext>
                </a:extLst>
              </a:tr>
              <a:tr h="1212032">
                <a:tc>
                  <a:txBody>
                    <a:bodyPr/>
                    <a:lstStyle/>
                    <a:p>
                      <a:r>
                        <a:rPr lang="en-US" sz="1400" dirty="0"/>
                        <a:t>Mean max daily temp (</a:t>
                      </a:r>
                      <a:r>
                        <a:rPr lang="en-US" sz="1400" dirty="0" err="1"/>
                        <a:t>tmax_normal</a:t>
                      </a:r>
                      <a:r>
                        <a:rPr lang="en-US" sz="1400" dirty="0"/>
                        <a:t>)</a:t>
                      </a:r>
                    </a:p>
                  </a:txBody>
                  <a:tcPr/>
                </a:tc>
                <a:tc>
                  <a:txBody>
                    <a:bodyPr/>
                    <a:lstStyle/>
                    <a:p>
                      <a:r>
                        <a:rPr lang="en-US" sz="1400" dirty="0"/>
                        <a:t>GHCN daily TMAX, IDW-interpolated to grid</a:t>
                      </a:r>
                    </a:p>
                  </a:txBody>
                  <a:tcPr/>
                </a:tc>
                <a:tc>
                  <a:txBody>
                    <a:bodyPr/>
                    <a:lstStyle/>
                    <a:p>
                      <a:r>
                        <a:rPr lang="en-US" sz="1400" dirty="0"/>
                        <a:t>300 m grid (interpolated from GHCN station points)</a:t>
                      </a:r>
                    </a:p>
                  </a:txBody>
                  <a:tcPr/>
                </a:tc>
                <a:tc>
                  <a:txBody>
                    <a:bodyPr/>
                    <a:lstStyle/>
                    <a:p>
                      <a:r>
                        <a:rPr lang="en-US" sz="1400" dirty="0"/>
                        <a:t>Averaged over 1991-2020</a:t>
                      </a:r>
                    </a:p>
                  </a:txBody>
                  <a:tcPr/>
                </a:tc>
                <a:tc>
                  <a:txBody>
                    <a:bodyPr/>
                    <a:lstStyle/>
                    <a:p>
                      <a:r>
                        <a:rPr lang="en-US" sz="1400" dirty="0"/>
                        <a:t>C</a:t>
                      </a:r>
                    </a:p>
                  </a:txBody>
                  <a:tcPr/>
                </a:tc>
                <a:extLst>
                  <a:ext uri="{0D108BD9-81ED-4DB2-BD59-A6C34878D82A}">
                    <a16:rowId xmlns:a16="http://schemas.microsoft.com/office/drawing/2014/main" val="699486385"/>
                  </a:ext>
                </a:extLst>
              </a:tr>
              <a:tr h="1055130">
                <a:tc>
                  <a:txBody>
                    <a:bodyPr/>
                    <a:lstStyle/>
                    <a:p>
                      <a:r>
                        <a:rPr lang="en-US" sz="1400" dirty="0"/>
                        <a:t>Mean min daily temp (</a:t>
                      </a:r>
                      <a:r>
                        <a:rPr lang="en-US" sz="1400" dirty="0" err="1"/>
                        <a:t>tmin_normal</a:t>
                      </a:r>
                      <a:r>
                        <a:rPr lang="en-US" sz="1400" dirty="0"/>
                        <a:t>)</a:t>
                      </a:r>
                    </a:p>
                  </a:txBody>
                  <a:tcPr/>
                </a:tc>
                <a:tc>
                  <a:txBody>
                    <a:bodyPr/>
                    <a:lstStyle/>
                    <a:p>
                      <a:r>
                        <a:rPr lang="en-US" sz="1400" dirty="0"/>
                        <a:t>GHCN daily TMIN, IDW-interpolated to grid</a:t>
                      </a:r>
                    </a:p>
                  </a:txBody>
                  <a:tcPr/>
                </a:tc>
                <a:tc>
                  <a:txBody>
                    <a:bodyPr/>
                    <a:lstStyle/>
                    <a:p>
                      <a:r>
                        <a:rPr lang="en-US" sz="1400" dirty="0"/>
                        <a:t>300 m grid (interpolated from GHCN station points)</a:t>
                      </a:r>
                    </a:p>
                  </a:txBody>
                  <a:tcPr/>
                </a:tc>
                <a:tc>
                  <a:txBody>
                    <a:bodyPr/>
                    <a:lstStyle/>
                    <a:p>
                      <a:r>
                        <a:rPr lang="en-US" sz="1400" dirty="0"/>
                        <a:t>Averaged over 1991-2020</a:t>
                      </a:r>
                    </a:p>
                  </a:txBody>
                  <a:tcPr/>
                </a:tc>
                <a:tc>
                  <a:txBody>
                    <a:bodyPr/>
                    <a:lstStyle/>
                    <a:p>
                      <a:r>
                        <a:rPr lang="en-US" sz="1400" dirty="0"/>
                        <a:t>C</a:t>
                      </a:r>
                    </a:p>
                  </a:txBody>
                  <a:tcPr/>
                </a:tc>
                <a:extLst>
                  <a:ext uri="{0D108BD9-81ED-4DB2-BD59-A6C34878D82A}">
                    <a16:rowId xmlns:a16="http://schemas.microsoft.com/office/drawing/2014/main" val="2769049938"/>
                  </a:ext>
                </a:extLst>
              </a:tr>
            </a:tbl>
          </a:graphicData>
        </a:graphic>
      </p:graphicFrame>
    </p:spTree>
    <p:extLst>
      <p:ext uri="{BB962C8B-B14F-4D97-AF65-F5344CB8AC3E}">
        <p14:creationId xmlns:p14="http://schemas.microsoft.com/office/powerpoint/2010/main" val="373358410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5C4E446-08AF-F04D-E35B-6676C5F0E439}"/>
              </a:ext>
            </a:extLst>
          </p:cNvPr>
          <p:cNvPicPr>
            <a:picLocks noChangeAspect="1"/>
          </p:cNvPicPr>
          <p:nvPr/>
        </p:nvPicPr>
        <p:blipFill>
          <a:blip r:embed="rId2"/>
          <a:stretch>
            <a:fillRect/>
          </a:stretch>
        </p:blipFill>
        <p:spPr>
          <a:xfrm>
            <a:off x="19050" y="-48986"/>
            <a:ext cx="12172950" cy="6955971"/>
          </a:xfrm>
          <a:prstGeom prst="rect">
            <a:avLst/>
          </a:prstGeom>
        </p:spPr>
      </p:pic>
    </p:spTree>
    <p:extLst>
      <p:ext uri="{BB962C8B-B14F-4D97-AF65-F5344CB8AC3E}">
        <p14:creationId xmlns:p14="http://schemas.microsoft.com/office/powerpoint/2010/main" val="119329714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926CB-CC44-7573-B510-16F08128EC60}"/>
              </a:ext>
            </a:extLst>
          </p:cNvPr>
          <p:cNvSpPr>
            <a:spLocks noGrp="1"/>
          </p:cNvSpPr>
          <p:nvPr>
            <p:ph type="title"/>
          </p:nvPr>
        </p:nvSpPr>
        <p:spPr>
          <a:xfrm>
            <a:off x="0" y="18255"/>
            <a:ext cx="10515600" cy="1325563"/>
          </a:xfrm>
        </p:spPr>
        <p:txBody>
          <a:bodyPr/>
          <a:lstStyle/>
          <a:p>
            <a:r>
              <a:rPr lang="en-US" dirty="0"/>
              <a:t>Matching pipeline</a:t>
            </a:r>
          </a:p>
        </p:txBody>
      </p:sp>
      <p:sp>
        <p:nvSpPr>
          <p:cNvPr id="3" name="Content Placeholder 2">
            <a:extLst>
              <a:ext uri="{FF2B5EF4-FFF2-40B4-BE49-F238E27FC236}">
                <a16:creationId xmlns:a16="http://schemas.microsoft.com/office/drawing/2014/main" id="{2A9B2DFA-8B2E-880C-0B5C-DF021563B6E3}"/>
              </a:ext>
            </a:extLst>
          </p:cNvPr>
          <p:cNvSpPr>
            <a:spLocks noGrp="1"/>
          </p:cNvSpPr>
          <p:nvPr>
            <p:ph idx="1"/>
          </p:nvPr>
        </p:nvSpPr>
        <p:spPr>
          <a:xfrm>
            <a:off x="0" y="1060515"/>
            <a:ext cx="12192000" cy="5779230"/>
          </a:xfrm>
        </p:spPr>
        <p:txBody>
          <a:bodyPr>
            <a:normAutofit fontScale="70000" lnSpcReduction="20000"/>
          </a:bodyPr>
          <a:lstStyle/>
          <a:p>
            <a:pPr marL="514350" indent="-514350">
              <a:buFont typeface="+mj-lt"/>
              <a:buAutoNum type="arabicPeriod"/>
            </a:pPr>
            <a:r>
              <a:rPr lang="en-US" dirty="0"/>
              <a:t>Determine candidate pool of control pixels within &gt;80% histosol on a shared 300 m EPSG:5070 grid </a:t>
            </a:r>
          </a:p>
          <a:p>
            <a:pPr lvl="1"/>
            <a:r>
              <a:rPr lang="en-US" dirty="0"/>
              <a:t>These are &gt;80% histosol pixels that are not within 1000 m of a restored site pixel</a:t>
            </a:r>
          </a:p>
          <a:p>
            <a:pPr lvl="1" fontAlgn="ctr"/>
            <a:r>
              <a:rPr lang="en-US" dirty="0"/>
              <a:t>Continuous covariate layers (like elevation) are warped onto the shared grid using an area-weighted average (i.e., GLO30_DEM has 30m resolution, and a single 300 m grid pixel thus takes the average of the GLO30_DEM pixels within its extent)</a:t>
            </a:r>
          </a:p>
          <a:p>
            <a:pPr lvl="1" fontAlgn="ctr"/>
            <a:r>
              <a:rPr lang="en-US" dirty="0"/>
              <a:t>Categorical covariate layers (like land cover) are warped onto the shared grid using the majority class of their pixels within a single shared grid pixel</a:t>
            </a:r>
          </a:p>
          <a:p>
            <a:pPr marL="514350" indent="-514350">
              <a:buFont typeface="+mj-lt"/>
              <a:buAutoNum type="arabicPeriod"/>
            </a:pPr>
            <a:r>
              <a:rPr lang="en-US" dirty="0"/>
              <a:t>Sample covariates (elevation, histosol %, mean annual </a:t>
            </a:r>
            <a:r>
              <a:rPr lang="en-US" dirty="0" err="1"/>
              <a:t>precip</a:t>
            </a:r>
            <a:r>
              <a:rPr lang="en-US" dirty="0"/>
              <a:t>, daily temp max and min) at both treated (restored) and candidate control pixels</a:t>
            </a:r>
          </a:p>
          <a:p>
            <a:pPr marL="514350" indent="-514350">
              <a:buFont typeface="+mj-lt"/>
              <a:buAutoNum type="arabicPeriod"/>
            </a:pPr>
            <a:r>
              <a:rPr lang="en-US" dirty="0"/>
              <a:t>Nearest-neighbor matching of treated and control pixels within covariate space </a:t>
            </a:r>
          </a:p>
          <a:p>
            <a:pPr lvl="1"/>
            <a:r>
              <a:rPr lang="en-US" dirty="0"/>
              <a:t>pair each treated pixel within each year with its nearest control based on the minimum </a:t>
            </a:r>
            <a:r>
              <a:rPr lang="en-US" dirty="0" err="1"/>
              <a:t>Mahalanobis</a:t>
            </a:r>
            <a:r>
              <a:rPr lang="en-US" dirty="0"/>
              <a:t> distance where each continuous covariate column is treated as a separate dimension</a:t>
            </a:r>
          </a:p>
          <a:p>
            <a:pPr lvl="2" fontAlgn="ctr"/>
            <a:r>
              <a:rPr lang="en-US" dirty="0"/>
              <a:t>whiten the covariate matrix by mean-centering and multiplying by the sqrt of its inverse covariance matrix</a:t>
            </a:r>
          </a:p>
          <a:p>
            <a:pPr lvl="2" fontAlgn="ctr"/>
            <a:r>
              <a:rPr lang="en-US" dirty="0"/>
              <a:t>then find Euclidean distance within this whitened space.</a:t>
            </a:r>
          </a:p>
          <a:p>
            <a:pPr lvl="1" fontAlgn="ctr"/>
            <a:r>
              <a:rPr lang="en-US" dirty="0"/>
              <a:t>Match exactly on categorical covariates (like land cover) – not implemented yet though.</a:t>
            </a:r>
          </a:p>
          <a:p>
            <a:pPr lvl="2" fontAlgn="ctr"/>
            <a:r>
              <a:rPr lang="en-US" dirty="0"/>
              <a:t>Group data by categorical covariates and do matching within each group</a:t>
            </a:r>
          </a:p>
          <a:p>
            <a:pPr lvl="1" fontAlgn="ctr"/>
            <a:r>
              <a:rPr lang="en-US" dirty="0"/>
              <a:t>Drop treated pixels with no close controls</a:t>
            </a:r>
          </a:p>
          <a:p>
            <a:pPr lvl="2" fontAlgn="ctr"/>
            <a:r>
              <a:rPr lang="en-US" dirty="0"/>
              <a:t>If a treated pixel has no control pixels within 1 SD (caliper; distance ceiling), drop it and add it to a drop count</a:t>
            </a:r>
          </a:p>
          <a:p>
            <a:pPr lvl="1" fontAlgn="ctr"/>
            <a:r>
              <a:rPr lang="en-US" dirty="0"/>
              <a:t>Use each control at most once; don't repeat control pixels across treated pixels</a:t>
            </a:r>
          </a:p>
          <a:p>
            <a:pPr marL="514350" indent="-514350" fontAlgn="ctr">
              <a:buFont typeface="+mj-lt"/>
              <a:buAutoNum type="arabicPeriod"/>
            </a:pPr>
            <a:r>
              <a:rPr lang="en-US" dirty="0"/>
              <a:t>Test if matching worked by finding the standardized mean difference per covariate</a:t>
            </a:r>
          </a:p>
          <a:p>
            <a:pPr marL="971550" lvl="1" indent="-514350" fontAlgn="ctr">
              <a:buFont typeface="+mj-lt"/>
              <a:buAutoNum type="arabicPeriod"/>
            </a:pPr>
            <a:r>
              <a:rPr lang="en-US" dirty="0"/>
              <a:t>Standardized mean difference (SMD) = Mean treated across pixels – mean control across pixels / pooled SD</a:t>
            </a:r>
          </a:p>
          <a:p>
            <a:pPr fontAlgn="ctr"/>
            <a:endParaRPr lang="en-US" dirty="0"/>
          </a:p>
          <a:p>
            <a:pPr marL="971550" lvl="1" indent="-514350">
              <a:buFont typeface="+mj-lt"/>
              <a:buAutoNum type="arabicPeriod"/>
            </a:pPr>
            <a:endParaRPr lang="en-US" dirty="0"/>
          </a:p>
        </p:txBody>
      </p:sp>
    </p:spTree>
    <p:extLst>
      <p:ext uri="{BB962C8B-B14F-4D97-AF65-F5344CB8AC3E}">
        <p14:creationId xmlns:p14="http://schemas.microsoft.com/office/powerpoint/2010/main" val="24129506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26A9059-F9B6-F585-1BDB-00228B8CD31C}"/>
              </a:ext>
            </a:extLst>
          </p:cNvPr>
          <p:cNvPicPr>
            <a:picLocks noGrp="1" noChangeAspect="1"/>
          </p:cNvPicPr>
          <p:nvPr>
            <p:ph idx="1"/>
          </p:nvPr>
        </p:nvPicPr>
        <p:blipFill>
          <a:blip r:embed="rId2"/>
          <a:stretch>
            <a:fillRect/>
          </a:stretch>
        </p:blipFill>
        <p:spPr>
          <a:xfrm>
            <a:off x="1452880" y="559199"/>
            <a:ext cx="9286240" cy="6964680"/>
          </a:xfrm>
          <a:prstGeom prst="rect">
            <a:avLst/>
          </a:prstGeom>
        </p:spPr>
      </p:pic>
      <p:sp>
        <p:nvSpPr>
          <p:cNvPr id="8" name="TextBox 7">
            <a:extLst>
              <a:ext uri="{FF2B5EF4-FFF2-40B4-BE49-F238E27FC236}">
                <a16:creationId xmlns:a16="http://schemas.microsoft.com/office/drawing/2014/main" id="{DDA492D6-508E-0B20-E9BA-D0519AF8A019}"/>
              </a:ext>
            </a:extLst>
          </p:cNvPr>
          <p:cNvSpPr txBox="1"/>
          <p:nvPr/>
        </p:nvSpPr>
        <p:spPr>
          <a:xfrm>
            <a:off x="1452880" y="1033669"/>
            <a:ext cx="10257182" cy="646331"/>
          </a:xfrm>
          <a:prstGeom prst="rect">
            <a:avLst/>
          </a:prstGeom>
          <a:noFill/>
        </p:spPr>
        <p:txBody>
          <a:bodyPr wrap="square" rtlCol="0">
            <a:spAutoFit/>
          </a:bodyPr>
          <a:lstStyle/>
          <a:p>
            <a:r>
              <a:rPr lang="en-US" dirty="0"/>
              <a:t>Sanity check of where completed sites are from the raw vector polygon to check if the shared grid transformation works</a:t>
            </a:r>
          </a:p>
        </p:txBody>
      </p:sp>
    </p:spTree>
    <p:extLst>
      <p:ext uri="{BB962C8B-B14F-4D97-AF65-F5344CB8AC3E}">
        <p14:creationId xmlns:p14="http://schemas.microsoft.com/office/powerpoint/2010/main" val="148476652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9CF8D1A-5453-9E61-28BC-23F62E1B49A5}"/>
              </a:ext>
            </a:extLst>
          </p:cNvPr>
          <p:cNvPicPr>
            <a:picLocks noGrp="1" noChangeAspect="1"/>
          </p:cNvPicPr>
          <p:nvPr>
            <p:ph idx="1"/>
          </p:nvPr>
        </p:nvPicPr>
        <p:blipFill>
          <a:blip r:embed="rId2"/>
          <a:stretch>
            <a:fillRect/>
          </a:stretch>
        </p:blipFill>
        <p:spPr>
          <a:xfrm>
            <a:off x="1360968" y="45549"/>
            <a:ext cx="10831032" cy="6812451"/>
          </a:xfrm>
          <a:prstGeom prst="rect">
            <a:avLst/>
          </a:prstGeom>
        </p:spPr>
      </p:pic>
      <p:sp>
        <p:nvSpPr>
          <p:cNvPr id="7" name="TextBox 6">
            <a:extLst>
              <a:ext uri="{FF2B5EF4-FFF2-40B4-BE49-F238E27FC236}">
                <a16:creationId xmlns:a16="http://schemas.microsoft.com/office/drawing/2014/main" id="{66A0D224-2583-5B43-8704-AA275DBD49AA}"/>
              </a:ext>
            </a:extLst>
          </p:cNvPr>
          <p:cNvSpPr txBox="1"/>
          <p:nvPr/>
        </p:nvSpPr>
        <p:spPr>
          <a:xfrm>
            <a:off x="0" y="556591"/>
            <a:ext cx="1360968" cy="1200329"/>
          </a:xfrm>
          <a:prstGeom prst="rect">
            <a:avLst/>
          </a:prstGeom>
          <a:noFill/>
        </p:spPr>
        <p:txBody>
          <a:bodyPr wrap="square" rtlCol="0">
            <a:spAutoFit/>
          </a:bodyPr>
          <a:lstStyle/>
          <a:p>
            <a:r>
              <a:rPr lang="en-US" dirty="0"/>
              <a:t>Step 1: find candidate control sites</a:t>
            </a:r>
          </a:p>
        </p:txBody>
      </p:sp>
    </p:spTree>
    <p:extLst>
      <p:ext uri="{BB962C8B-B14F-4D97-AF65-F5344CB8AC3E}">
        <p14:creationId xmlns:p14="http://schemas.microsoft.com/office/powerpoint/2010/main" val="161323381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61DC76A-FE8D-0789-F7D8-8C5F4A78B5C2}"/>
              </a:ext>
            </a:extLst>
          </p:cNvPr>
          <p:cNvPicPr>
            <a:picLocks noChangeAspect="1"/>
          </p:cNvPicPr>
          <p:nvPr/>
        </p:nvPicPr>
        <p:blipFill>
          <a:blip r:embed="rId2"/>
          <a:stretch>
            <a:fillRect/>
          </a:stretch>
        </p:blipFill>
        <p:spPr>
          <a:xfrm>
            <a:off x="2656033" y="0"/>
            <a:ext cx="6879934" cy="6858000"/>
          </a:xfrm>
          <a:prstGeom prst="rect">
            <a:avLst/>
          </a:prstGeom>
        </p:spPr>
      </p:pic>
      <p:sp>
        <p:nvSpPr>
          <p:cNvPr id="8" name="TextBox 7">
            <a:extLst>
              <a:ext uri="{FF2B5EF4-FFF2-40B4-BE49-F238E27FC236}">
                <a16:creationId xmlns:a16="http://schemas.microsoft.com/office/drawing/2014/main" id="{ED03343A-14F9-7756-6F60-1F697BC263AB}"/>
              </a:ext>
            </a:extLst>
          </p:cNvPr>
          <p:cNvSpPr txBox="1"/>
          <p:nvPr/>
        </p:nvSpPr>
        <p:spPr>
          <a:xfrm>
            <a:off x="126609" y="295422"/>
            <a:ext cx="1744394" cy="1754326"/>
          </a:xfrm>
          <a:prstGeom prst="rect">
            <a:avLst/>
          </a:prstGeom>
          <a:noFill/>
        </p:spPr>
        <p:txBody>
          <a:bodyPr wrap="square" rtlCol="0">
            <a:spAutoFit/>
          </a:bodyPr>
          <a:lstStyle/>
          <a:p>
            <a:r>
              <a:rPr lang="en-US" dirty="0"/>
              <a:t>Step 2: grab covariate data within treated and control sites (before matching)</a:t>
            </a:r>
          </a:p>
        </p:txBody>
      </p:sp>
    </p:spTree>
    <p:extLst>
      <p:ext uri="{BB962C8B-B14F-4D97-AF65-F5344CB8AC3E}">
        <p14:creationId xmlns:p14="http://schemas.microsoft.com/office/powerpoint/2010/main" val="89276189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392A886-DFF1-72C8-693E-D3DA3DE2D676}"/>
              </a:ext>
            </a:extLst>
          </p:cNvPr>
          <p:cNvPicPr>
            <a:picLocks noGrp="1" noChangeAspect="1"/>
          </p:cNvPicPr>
          <p:nvPr>
            <p:ph idx="1"/>
          </p:nvPr>
        </p:nvPicPr>
        <p:blipFill>
          <a:blip r:embed="rId2"/>
          <a:stretch>
            <a:fillRect/>
          </a:stretch>
        </p:blipFill>
        <p:spPr>
          <a:xfrm>
            <a:off x="2286000" y="0"/>
            <a:ext cx="6858000" cy="6858000"/>
          </a:xfrm>
          <a:prstGeom prst="rect">
            <a:avLst/>
          </a:prstGeom>
        </p:spPr>
      </p:pic>
      <p:sp>
        <p:nvSpPr>
          <p:cNvPr id="8" name="TextBox 7">
            <a:extLst>
              <a:ext uri="{FF2B5EF4-FFF2-40B4-BE49-F238E27FC236}">
                <a16:creationId xmlns:a16="http://schemas.microsoft.com/office/drawing/2014/main" id="{E1229A2D-6A5A-171A-4247-C9D90E5EDC9A}"/>
              </a:ext>
            </a:extLst>
          </p:cNvPr>
          <p:cNvSpPr txBox="1"/>
          <p:nvPr/>
        </p:nvSpPr>
        <p:spPr>
          <a:xfrm>
            <a:off x="0" y="250874"/>
            <a:ext cx="1744394" cy="5355312"/>
          </a:xfrm>
          <a:prstGeom prst="rect">
            <a:avLst/>
          </a:prstGeom>
          <a:noFill/>
        </p:spPr>
        <p:txBody>
          <a:bodyPr wrap="square" rtlCol="0">
            <a:spAutoFit/>
          </a:bodyPr>
          <a:lstStyle/>
          <a:p>
            <a:r>
              <a:rPr lang="en-US" dirty="0"/>
              <a:t>Step 3: match treated and control pixels based on </a:t>
            </a:r>
            <a:r>
              <a:rPr lang="en-US" dirty="0" err="1"/>
              <a:t>mahalanobis</a:t>
            </a:r>
            <a:r>
              <a:rPr lang="en-US" dirty="0"/>
              <a:t> distance within covariate space. </a:t>
            </a:r>
          </a:p>
          <a:p>
            <a:endParaRPr lang="en-US" dirty="0"/>
          </a:p>
          <a:p>
            <a:r>
              <a:rPr lang="en-US" dirty="0"/>
              <a:t>This is a 2D representation of 2 variables as an example. In reality, </a:t>
            </a:r>
            <a:r>
              <a:rPr lang="en-US" dirty="0" err="1"/>
              <a:t>precip</a:t>
            </a:r>
            <a:r>
              <a:rPr lang="en-US" dirty="0"/>
              <a:t>, temp min and max, elevation, and histosol % were all used.</a:t>
            </a:r>
          </a:p>
        </p:txBody>
      </p:sp>
    </p:spTree>
    <p:extLst>
      <p:ext uri="{BB962C8B-B14F-4D97-AF65-F5344CB8AC3E}">
        <p14:creationId xmlns:p14="http://schemas.microsoft.com/office/powerpoint/2010/main" val="166364446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94C9875-3031-5381-A9ED-736A193738CD}"/>
              </a:ext>
            </a:extLst>
          </p:cNvPr>
          <p:cNvPicPr>
            <a:picLocks noChangeAspect="1"/>
          </p:cNvPicPr>
          <p:nvPr/>
        </p:nvPicPr>
        <p:blipFill>
          <a:blip r:embed="rId2"/>
          <a:stretch>
            <a:fillRect/>
          </a:stretch>
        </p:blipFill>
        <p:spPr>
          <a:xfrm>
            <a:off x="3017520" y="394362"/>
            <a:ext cx="8686800" cy="6463638"/>
          </a:xfrm>
          <a:prstGeom prst="rect">
            <a:avLst/>
          </a:prstGeom>
        </p:spPr>
      </p:pic>
      <p:sp>
        <p:nvSpPr>
          <p:cNvPr id="7" name="TextBox 6">
            <a:extLst>
              <a:ext uri="{FF2B5EF4-FFF2-40B4-BE49-F238E27FC236}">
                <a16:creationId xmlns:a16="http://schemas.microsoft.com/office/drawing/2014/main" id="{58921A4C-16CD-2F60-4FDA-65F97EF05730}"/>
              </a:ext>
            </a:extLst>
          </p:cNvPr>
          <p:cNvSpPr txBox="1"/>
          <p:nvPr/>
        </p:nvSpPr>
        <p:spPr>
          <a:xfrm>
            <a:off x="171450" y="844034"/>
            <a:ext cx="2712720" cy="2031325"/>
          </a:xfrm>
          <a:prstGeom prst="rect">
            <a:avLst/>
          </a:prstGeom>
          <a:noFill/>
        </p:spPr>
        <p:txBody>
          <a:bodyPr wrap="square">
            <a:spAutoFit/>
          </a:bodyPr>
          <a:lstStyle/>
          <a:p>
            <a:r>
              <a:rPr lang="en-US" dirty="0"/>
              <a:t>Step 4: test if matching worked: does covariate matching lower standardized mean difference between treated and control  of each covariate?</a:t>
            </a:r>
          </a:p>
        </p:txBody>
      </p:sp>
    </p:spTree>
    <p:extLst>
      <p:ext uri="{BB962C8B-B14F-4D97-AF65-F5344CB8AC3E}">
        <p14:creationId xmlns:p14="http://schemas.microsoft.com/office/powerpoint/2010/main" val="318658118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FD9EB-C758-3F96-A480-5F1A16C9B13A}"/>
              </a:ext>
            </a:extLst>
          </p:cNvPr>
          <p:cNvSpPr>
            <a:spLocks noGrp="1"/>
          </p:cNvSpPr>
          <p:nvPr>
            <p:ph type="title"/>
          </p:nvPr>
        </p:nvSpPr>
        <p:spPr/>
        <p:txBody>
          <a:bodyPr/>
          <a:lstStyle/>
          <a:p>
            <a:r>
              <a:rPr lang="en-US" dirty="0"/>
              <a:t>Modeling pipeline (baseline) - broken</a:t>
            </a:r>
          </a:p>
        </p:txBody>
      </p:sp>
      <p:sp>
        <p:nvSpPr>
          <p:cNvPr id="3" name="Content Placeholder 2">
            <a:extLst>
              <a:ext uri="{FF2B5EF4-FFF2-40B4-BE49-F238E27FC236}">
                <a16:creationId xmlns:a16="http://schemas.microsoft.com/office/drawing/2014/main" id="{8A844A7F-FA29-22C7-FE35-D407D34F1733}"/>
              </a:ext>
            </a:extLst>
          </p:cNvPr>
          <p:cNvSpPr>
            <a:spLocks noGrp="1"/>
          </p:cNvSpPr>
          <p:nvPr>
            <p:ph idx="1"/>
          </p:nvPr>
        </p:nvSpPr>
        <p:spPr/>
        <p:txBody>
          <a:bodyPr>
            <a:normAutofit fontScale="92500" lnSpcReduction="20000"/>
          </a:bodyPr>
          <a:lstStyle/>
          <a:p>
            <a:r>
              <a:rPr lang="en-US" dirty="0"/>
              <a:t>Fit logit on covariate-matched treated + control pixels across pixel-years from 2019-2024</a:t>
            </a:r>
          </a:p>
          <a:p>
            <a:pPr lvl="1"/>
            <a:r>
              <a:rPr lang="en-US" dirty="0"/>
              <a:t>Whether a pixel-year burned (0/1) from FireCCIS311 ~ restoration status + elevation + histosol % + mean annual </a:t>
            </a:r>
            <a:r>
              <a:rPr lang="en-US" dirty="0" err="1"/>
              <a:t>precip</a:t>
            </a:r>
            <a:r>
              <a:rPr lang="en-US" dirty="0"/>
              <a:t> total + mean daily max temp + mean daily min temp</a:t>
            </a:r>
          </a:p>
          <a:p>
            <a:pPr lvl="1"/>
            <a:r>
              <a:rPr lang="en-US" dirty="0"/>
              <a:t>Cluster standard errors on restoration site identity</a:t>
            </a:r>
          </a:p>
          <a:p>
            <a:r>
              <a:rPr lang="en-US" dirty="0"/>
              <a:t>Find odds ratios with 95% CIs (continuous covariates are standardized before fitting)</a:t>
            </a:r>
          </a:p>
          <a:p>
            <a:pPr lvl="1" fontAlgn="ctr"/>
            <a:r>
              <a:rPr lang="en-US" dirty="0"/>
              <a:t>OR = 1 -&gt; no effect</a:t>
            </a:r>
          </a:p>
          <a:p>
            <a:pPr lvl="1" fontAlgn="ctr"/>
            <a:r>
              <a:rPr lang="en-US" dirty="0"/>
              <a:t>Treated OR &lt; 1 means restoration lowers the odds of fire</a:t>
            </a:r>
          </a:p>
          <a:p>
            <a:pPr fontAlgn="ctr"/>
            <a:r>
              <a:rPr lang="en-US" dirty="0"/>
              <a:t>Next try Castro et al 2026 difference-in-differences approach to probe restored sites before and after restoration and/or do mixed logistic with random intercepts per site and year</a:t>
            </a:r>
          </a:p>
          <a:p>
            <a:pPr marL="0" indent="0" fontAlgn="ctr">
              <a:buNone/>
            </a:pPr>
            <a:endParaRPr lang="en-US" dirty="0"/>
          </a:p>
          <a:p>
            <a:pPr lvl="1" fontAlgn="ctr"/>
            <a:endParaRPr lang="en-US" dirty="0"/>
          </a:p>
          <a:p>
            <a:pPr lvl="1"/>
            <a:endParaRPr lang="en-US" dirty="0"/>
          </a:p>
          <a:p>
            <a:pPr lvl="1"/>
            <a:endParaRPr lang="en-US" dirty="0"/>
          </a:p>
        </p:txBody>
      </p:sp>
    </p:spTree>
    <p:extLst>
      <p:ext uri="{BB962C8B-B14F-4D97-AF65-F5344CB8AC3E}">
        <p14:creationId xmlns:p14="http://schemas.microsoft.com/office/powerpoint/2010/main" val="428787098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4BDBE-AAEF-7209-3324-E474A35EAE13}"/>
              </a:ext>
            </a:extLst>
          </p:cNvPr>
          <p:cNvSpPr>
            <a:spLocks noGrp="1"/>
          </p:cNvSpPr>
          <p:nvPr>
            <p:ph type="title"/>
          </p:nvPr>
        </p:nvSpPr>
        <p:spPr/>
        <p:txBody>
          <a:bodyPr/>
          <a:lstStyle/>
          <a:p>
            <a:r>
              <a:rPr lang="en-US" dirty="0"/>
              <a:t>Snippet of </a:t>
            </a:r>
            <a:r>
              <a:rPr lang="en-US" dirty="0" err="1"/>
              <a:t>dataframe</a:t>
            </a:r>
            <a:r>
              <a:rPr lang="en-US" dirty="0"/>
              <a:t> used for modeling</a:t>
            </a:r>
          </a:p>
        </p:txBody>
      </p:sp>
      <p:pic>
        <p:nvPicPr>
          <p:cNvPr id="11" name="Content Placeholder 10">
            <a:extLst>
              <a:ext uri="{FF2B5EF4-FFF2-40B4-BE49-F238E27FC236}">
                <a16:creationId xmlns:a16="http://schemas.microsoft.com/office/drawing/2014/main" id="{21BDFBC4-BC93-94D4-F2FA-E737C1617501}"/>
              </a:ext>
            </a:extLst>
          </p:cNvPr>
          <p:cNvPicPr>
            <a:picLocks noGrp="1" noChangeAspect="1"/>
          </p:cNvPicPr>
          <p:nvPr>
            <p:ph idx="1"/>
          </p:nvPr>
        </p:nvPicPr>
        <p:blipFill>
          <a:blip r:embed="rId2"/>
          <a:stretch>
            <a:fillRect/>
          </a:stretch>
        </p:blipFill>
        <p:spPr>
          <a:xfrm>
            <a:off x="0" y="3354997"/>
            <a:ext cx="12192000" cy="736783"/>
          </a:xfrm>
          <a:prstGeom prst="rect">
            <a:avLst/>
          </a:prstGeom>
        </p:spPr>
      </p:pic>
      <p:sp>
        <p:nvSpPr>
          <p:cNvPr id="12" name="TextBox 11">
            <a:extLst>
              <a:ext uri="{FF2B5EF4-FFF2-40B4-BE49-F238E27FC236}">
                <a16:creationId xmlns:a16="http://schemas.microsoft.com/office/drawing/2014/main" id="{7D56E535-9A53-7CB3-FC39-3C21336D9D38}"/>
              </a:ext>
            </a:extLst>
          </p:cNvPr>
          <p:cNvSpPr txBox="1"/>
          <p:nvPr/>
        </p:nvSpPr>
        <p:spPr>
          <a:xfrm>
            <a:off x="511444" y="2107769"/>
            <a:ext cx="11030840" cy="646331"/>
          </a:xfrm>
          <a:prstGeom prst="rect">
            <a:avLst/>
          </a:prstGeom>
          <a:noFill/>
        </p:spPr>
        <p:txBody>
          <a:bodyPr wrap="none" rtlCol="0">
            <a:spAutoFit/>
          </a:bodyPr>
          <a:lstStyle/>
          <a:p>
            <a:r>
              <a:rPr lang="en-US" dirty="0"/>
              <a:t>Columns for unit id (pixel id), site id (associated restoration site id), treated (treated or control), x and y coords,</a:t>
            </a:r>
          </a:p>
          <a:p>
            <a:r>
              <a:rPr lang="en-US" dirty="0"/>
              <a:t>Elevation, histosol %, mean annual precipitation total, mean max temp, mean min temp, year, burned (0/1)</a:t>
            </a:r>
          </a:p>
        </p:txBody>
      </p:sp>
    </p:spTree>
    <p:extLst>
      <p:ext uri="{BB962C8B-B14F-4D97-AF65-F5344CB8AC3E}">
        <p14:creationId xmlns:p14="http://schemas.microsoft.com/office/powerpoint/2010/main" val="101936485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180A35D-85F3-8B31-76BE-12CE57340CB4}"/>
              </a:ext>
            </a:extLst>
          </p:cNvPr>
          <p:cNvPicPr>
            <a:picLocks noChangeAspect="1"/>
          </p:cNvPicPr>
          <p:nvPr/>
        </p:nvPicPr>
        <p:blipFill>
          <a:blip r:embed="rId2"/>
          <a:stretch>
            <a:fillRect/>
          </a:stretch>
        </p:blipFill>
        <p:spPr>
          <a:xfrm>
            <a:off x="356461" y="1250148"/>
            <a:ext cx="5151120" cy="4357701"/>
          </a:xfrm>
          <a:prstGeom prst="rect">
            <a:avLst/>
          </a:prstGeom>
        </p:spPr>
      </p:pic>
      <p:pic>
        <p:nvPicPr>
          <p:cNvPr id="7" name="Picture 6">
            <a:extLst>
              <a:ext uri="{FF2B5EF4-FFF2-40B4-BE49-F238E27FC236}">
                <a16:creationId xmlns:a16="http://schemas.microsoft.com/office/drawing/2014/main" id="{DF5CBE91-D257-D148-DB6C-0176FF80D37E}"/>
              </a:ext>
            </a:extLst>
          </p:cNvPr>
          <p:cNvPicPr>
            <a:picLocks noChangeAspect="1"/>
          </p:cNvPicPr>
          <p:nvPr/>
        </p:nvPicPr>
        <p:blipFill>
          <a:blip r:embed="rId3"/>
          <a:stretch>
            <a:fillRect/>
          </a:stretch>
        </p:blipFill>
        <p:spPr>
          <a:xfrm>
            <a:off x="6854042" y="2405413"/>
            <a:ext cx="5337958" cy="2047174"/>
          </a:xfrm>
          <a:prstGeom prst="rect">
            <a:avLst/>
          </a:prstGeom>
        </p:spPr>
      </p:pic>
    </p:spTree>
    <p:extLst>
      <p:ext uri="{BB962C8B-B14F-4D97-AF65-F5344CB8AC3E}">
        <p14:creationId xmlns:p14="http://schemas.microsoft.com/office/powerpoint/2010/main" val="209086372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1CFCC-CAEA-C985-49AD-AD65FA5BED1C}"/>
              </a:ext>
            </a:extLst>
          </p:cNvPr>
          <p:cNvSpPr>
            <a:spLocks noGrp="1"/>
          </p:cNvSpPr>
          <p:nvPr>
            <p:ph type="title"/>
          </p:nvPr>
        </p:nvSpPr>
        <p:spPr/>
        <p:txBody>
          <a:bodyPr/>
          <a:lstStyle/>
          <a:p>
            <a:r>
              <a:rPr lang="en-US" dirty="0"/>
              <a:t>Tried again dropping histosol % and </a:t>
            </a:r>
            <a:r>
              <a:rPr lang="en-US" dirty="0" err="1"/>
              <a:t>tmin</a:t>
            </a:r>
            <a:endParaRPr lang="en-US" dirty="0"/>
          </a:p>
        </p:txBody>
      </p:sp>
      <p:pic>
        <p:nvPicPr>
          <p:cNvPr id="5" name="Picture 4">
            <a:extLst>
              <a:ext uri="{FF2B5EF4-FFF2-40B4-BE49-F238E27FC236}">
                <a16:creationId xmlns:a16="http://schemas.microsoft.com/office/drawing/2014/main" id="{962B629A-8DC4-27EA-26D5-73B7E80CA01F}"/>
              </a:ext>
            </a:extLst>
          </p:cNvPr>
          <p:cNvPicPr>
            <a:picLocks noChangeAspect="1"/>
          </p:cNvPicPr>
          <p:nvPr/>
        </p:nvPicPr>
        <p:blipFill>
          <a:blip r:embed="rId2"/>
          <a:stretch>
            <a:fillRect/>
          </a:stretch>
        </p:blipFill>
        <p:spPr>
          <a:xfrm>
            <a:off x="146156" y="1708150"/>
            <a:ext cx="5359400" cy="3441700"/>
          </a:xfrm>
          <a:prstGeom prst="rect">
            <a:avLst/>
          </a:prstGeom>
        </p:spPr>
      </p:pic>
      <p:pic>
        <p:nvPicPr>
          <p:cNvPr id="7" name="Picture 6">
            <a:extLst>
              <a:ext uri="{FF2B5EF4-FFF2-40B4-BE49-F238E27FC236}">
                <a16:creationId xmlns:a16="http://schemas.microsoft.com/office/drawing/2014/main" id="{8D1778B1-27DF-3A75-08BC-0A06445F0D41}"/>
              </a:ext>
            </a:extLst>
          </p:cNvPr>
          <p:cNvPicPr>
            <a:picLocks noChangeAspect="1"/>
          </p:cNvPicPr>
          <p:nvPr/>
        </p:nvPicPr>
        <p:blipFill>
          <a:blip r:embed="rId3"/>
          <a:stretch>
            <a:fillRect/>
          </a:stretch>
        </p:blipFill>
        <p:spPr>
          <a:xfrm>
            <a:off x="6270171" y="2227768"/>
            <a:ext cx="5921829" cy="1828800"/>
          </a:xfrm>
          <a:prstGeom prst="rect">
            <a:avLst/>
          </a:prstGeom>
        </p:spPr>
      </p:pic>
    </p:spTree>
    <p:extLst>
      <p:ext uri="{BB962C8B-B14F-4D97-AF65-F5344CB8AC3E}">
        <p14:creationId xmlns:p14="http://schemas.microsoft.com/office/powerpoint/2010/main" val="1990140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49236-C39B-791F-EAEC-61F516A15D89}"/>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C38E27E5-E0E1-605E-0CF7-2270C368C598}"/>
              </a:ext>
            </a:extLst>
          </p:cNvPr>
          <p:cNvSpPr>
            <a:spLocks noGrp="1"/>
          </p:cNvSpPr>
          <p:nvPr>
            <p:ph idx="1"/>
          </p:nvPr>
        </p:nvSpPr>
        <p:spPr/>
        <p:txBody>
          <a:bodyPr/>
          <a:lstStyle/>
          <a:p>
            <a:r>
              <a:rPr lang="en-US" dirty="0"/>
              <a:t>Add soil, land cover, timber management extent, temperature data as additional covariates</a:t>
            </a:r>
          </a:p>
          <a:p>
            <a:pPr lvl="1"/>
            <a:r>
              <a:rPr lang="en-US" dirty="0"/>
              <a:t>Download land cover for years besides 2024</a:t>
            </a:r>
          </a:p>
          <a:p>
            <a:r>
              <a:rPr lang="en-US" dirty="0"/>
              <a:t>Try </a:t>
            </a:r>
            <a:r>
              <a:rPr lang="en-US" dirty="0" err="1"/>
              <a:t>castro</a:t>
            </a:r>
            <a:r>
              <a:rPr lang="en-US" dirty="0"/>
              <a:t> et al 2026 approach of difference in differences, comparing the change in burning before and after each site’s restoration year</a:t>
            </a:r>
          </a:p>
          <a:p>
            <a:r>
              <a:rPr lang="en-US" dirty="0"/>
              <a:t>try out all the burned area products as the dependent variable</a:t>
            </a:r>
          </a:p>
        </p:txBody>
      </p:sp>
    </p:spTree>
    <p:extLst>
      <p:ext uri="{BB962C8B-B14F-4D97-AF65-F5344CB8AC3E}">
        <p14:creationId xmlns:p14="http://schemas.microsoft.com/office/powerpoint/2010/main" val="215504462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9AADA-A6C8-BEA7-1AEA-647127B8E8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8FD1AF-3713-15C9-926C-D3979473449D}"/>
              </a:ext>
            </a:extLst>
          </p:cNvPr>
          <p:cNvSpPr>
            <a:spLocks noGrp="1"/>
          </p:cNvSpPr>
          <p:nvPr>
            <p:ph type="ctrTitle"/>
          </p:nvPr>
        </p:nvSpPr>
        <p:spPr/>
        <p:txBody>
          <a:bodyPr/>
          <a:lstStyle/>
          <a:p>
            <a:r>
              <a:rPr lang="en-US" dirty="0"/>
              <a:t>7/2/26</a:t>
            </a:r>
          </a:p>
        </p:txBody>
      </p:sp>
      <p:sp>
        <p:nvSpPr>
          <p:cNvPr id="3" name="Subtitle 2">
            <a:extLst>
              <a:ext uri="{FF2B5EF4-FFF2-40B4-BE49-F238E27FC236}">
                <a16:creationId xmlns:a16="http://schemas.microsoft.com/office/drawing/2014/main" id="{FDDB5012-8757-F30F-33BD-73F024AEFA27}"/>
              </a:ext>
            </a:extLst>
          </p:cNvPr>
          <p:cNvSpPr>
            <a:spLocks noGrp="1"/>
          </p:cNvSpPr>
          <p:nvPr>
            <p:ph type="subTitle" idx="1"/>
          </p:nvPr>
        </p:nvSpPr>
        <p:spPr/>
        <p:txBody>
          <a:bodyPr>
            <a:normAutofit lnSpcReduction="10000"/>
          </a:bodyPr>
          <a:lstStyle/>
          <a:p>
            <a:r>
              <a:rPr lang="en-US" dirty="0"/>
              <a:t>Reran fire product comparisons using &gt;80% histosol as peat extent mask – all results about same as before</a:t>
            </a:r>
          </a:p>
          <a:p>
            <a:r>
              <a:rPr lang="en-US" dirty="0"/>
              <a:t>Some playing around with peat restoration sites</a:t>
            </a:r>
          </a:p>
          <a:p>
            <a:r>
              <a:rPr lang="en-US" dirty="0"/>
              <a:t>Find control sites next to pair and compare with restoration sites</a:t>
            </a:r>
          </a:p>
        </p:txBody>
      </p:sp>
    </p:spTree>
    <p:extLst>
      <p:ext uri="{BB962C8B-B14F-4D97-AF65-F5344CB8AC3E}">
        <p14:creationId xmlns:p14="http://schemas.microsoft.com/office/powerpoint/2010/main" val="221437886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1F49F-39ED-9108-F818-934484379AFB}"/>
              </a:ext>
            </a:extLst>
          </p:cNvPr>
          <p:cNvSpPr>
            <a:spLocks noGrp="1"/>
          </p:cNvSpPr>
          <p:nvPr>
            <p:ph type="title"/>
          </p:nvPr>
        </p:nvSpPr>
        <p:spPr/>
        <p:txBody>
          <a:bodyPr/>
          <a:lstStyle/>
          <a:p>
            <a:r>
              <a:rPr lang="en-US" dirty="0"/>
              <a:t>NC peatland extent (&gt;80% histosol vs 0% histosol) – not too much difference</a:t>
            </a:r>
          </a:p>
        </p:txBody>
      </p:sp>
      <p:pic>
        <p:nvPicPr>
          <p:cNvPr id="8" name="Picture 7">
            <a:extLst>
              <a:ext uri="{FF2B5EF4-FFF2-40B4-BE49-F238E27FC236}">
                <a16:creationId xmlns:a16="http://schemas.microsoft.com/office/drawing/2014/main" id="{BD95A723-7377-BDC7-A025-BA03C4134CF1}"/>
              </a:ext>
            </a:extLst>
          </p:cNvPr>
          <p:cNvPicPr>
            <a:picLocks noChangeAspect="1"/>
          </p:cNvPicPr>
          <p:nvPr/>
        </p:nvPicPr>
        <p:blipFill>
          <a:blip r:embed="rId2"/>
          <a:stretch>
            <a:fillRect/>
          </a:stretch>
        </p:blipFill>
        <p:spPr>
          <a:xfrm>
            <a:off x="6477000" y="2519819"/>
            <a:ext cx="5715000" cy="3060700"/>
          </a:xfrm>
          <a:prstGeom prst="rect">
            <a:avLst/>
          </a:prstGeom>
        </p:spPr>
      </p:pic>
      <p:sp>
        <p:nvSpPr>
          <p:cNvPr id="9" name="TextBox 8">
            <a:extLst>
              <a:ext uri="{FF2B5EF4-FFF2-40B4-BE49-F238E27FC236}">
                <a16:creationId xmlns:a16="http://schemas.microsoft.com/office/drawing/2014/main" id="{139E2BC9-D36E-9499-E1FF-A3C6D9B5563D}"/>
              </a:ext>
            </a:extLst>
          </p:cNvPr>
          <p:cNvSpPr txBox="1"/>
          <p:nvPr/>
        </p:nvSpPr>
        <p:spPr>
          <a:xfrm>
            <a:off x="2702560" y="2082800"/>
            <a:ext cx="745717" cy="369332"/>
          </a:xfrm>
          <a:prstGeom prst="rect">
            <a:avLst/>
          </a:prstGeom>
          <a:noFill/>
        </p:spPr>
        <p:txBody>
          <a:bodyPr wrap="none" rtlCol="0">
            <a:spAutoFit/>
          </a:bodyPr>
          <a:lstStyle/>
          <a:p>
            <a:r>
              <a:rPr lang="en-US" dirty="0"/>
              <a:t>&gt;80%</a:t>
            </a:r>
          </a:p>
        </p:txBody>
      </p:sp>
      <p:sp>
        <p:nvSpPr>
          <p:cNvPr id="10" name="TextBox 9">
            <a:extLst>
              <a:ext uri="{FF2B5EF4-FFF2-40B4-BE49-F238E27FC236}">
                <a16:creationId xmlns:a16="http://schemas.microsoft.com/office/drawing/2014/main" id="{0270F161-38D0-19D1-DF1F-0EDE8FCE13BD}"/>
              </a:ext>
            </a:extLst>
          </p:cNvPr>
          <p:cNvSpPr txBox="1"/>
          <p:nvPr/>
        </p:nvSpPr>
        <p:spPr>
          <a:xfrm>
            <a:off x="8890002" y="2082800"/>
            <a:ext cx="622286" cy="369332"/>
          </a:xfrm>
          <a:prstGeom prst="rect">
            <a:avLst/>
          </a:prstGeom>
          <a:noFill/>
        </p:spPr>
        <p:txBody>
          <a:bodyPr wrap="none" rtlCol="0">
            <a:spAutoFit/>
          </a:bodyPr>
          <a:lstStyle/>
          <a:p>
            <a:r>
              <a:rPr lang="en-US" dirty="0"/>
              <a:t>&gt;0%</a:t>
            </a:r>
          </a:p>
        </p:txBody>
      </p:sp>
      <p:grpSp>
        <p:nvGrpSpPr>
          <p:cNvPr id="4" name="Group 3">
            <a:extLst>
              <a:ext uri="{FF2B5EF4-FFF2-40B4-BE49-F238E27FC236}">
                <a16:creationId xmlns:a16="http://schemas.microsoft.com/office/drawing/2014/main" id="{63A48101-904F-2063-ADF3-E22E40A831ED}"/>
              </a:ext>
            </a:extLst>
          </p:cNvPr>
          <p:cNvGrpSpPr/>
          <p:nvPr/>
        </p:nvGrpSpPr>
        <p:grpSpPr>
          <a:xfrm>
            <a:off x="735496" y="2519819"/>
            <a:ext cx="5238584" cy="2479564"/>
            <a:chOff x="735496" y="2519819"/>
            <a:chExt cx="5238584" cy="2479564"/>
          </a:xfrm>
        </p:grpSpPr>
        <p:pic>
          <p:nvPicPr>
            <p:cNvPr id="7" name="Picture 6">
              <a:extLst>
                <a:ext uri="{FF2B5EF4-FFF2-40B4-BE49-F238E27FC236}">
                  <a16:creationId xmlns:a16="http://schemas.microsoft.com/office/drawing/2014/main" id="{4CA74127-E0CA-1469-2D56-4EA3907CAB5E}"/>
                </a:ext>
              </a:extLst>
            </p:cNvPr>
            <p:cNvPicPr>
              <a:picLocks noChangeAspect="1"/>
            </p:cNvPicPr>
            <p:nvPr/>
          </p:nvPicPr>
          <p:blipFill>
            <a:blip r:embed="rId3"/>
            <a:srcRect l="10133" b="18987"/>
            <a:stretch>
              <a:fillRect/>
            </a:stretch>
          </p:blipFill>
          <p:spPr>
            <a:xfrm>
              <a:off x="838200" y="2519819"/>
              <a:ext cx="5135880" cy="2479564"/>
            </a:xfrm>
            <a:prstGeom prst="rect">
              <a:avLst/>
            </a:prstGeom>
          </p:spPr>
        </p:pic>
        <p:sp>
          <p:nvSpPr>
            <p:cNvPr id="3" name="Rectangle 2">
              <a:extLst>
                <a:ext uri="{FF2B5EF4-FFF2-40B4-BE49-F238E27FC236}">
                  <a16:creationId xmlns:a16="http://schemas.microsoft.com/office/drawing/2014/main" id="{6EC08916-BD1E-93A8-88E8-0CE8725D6968}"/>
                </a:ext>
              </a:extLst>
            </p:cNvPr>
            <p:cNvSpPr/>
            <p:nvPr/>
          </p:nvSpPr>
          <p:spPr>
            <a:xfrm>
              <a:off x="735496" y="2623930"/>
              <a:ext cx="546652" cy="2683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29671708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DFA98-989F-8501-CB15-3B28ABA8FC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11B5FE-690C-378A-06B9-48D4A5D044B0}"/>
              </a:ext>
            </a:extLst>
          </p:cNvPr>
          <p:cNvSpPr>
            <a:spLocks noGrp="1"/>
          </p:cNvSpPr>
          <p:nvPr>
            <p:ph type="title"/>
          </p:nvPr>
        </p:nvSpPr>
        <p:spPr>
          <a:xfrm>
            <a:off x="0" y="18255"/>
            <a:ext cx="10515600" cy="1325563"/>
          </a:xfrm>
        </p:spPr>
        <p:txBody>
          <a:bodyPr/>
          <a:lstStyle/>
          <a:p>
            <a:r>
              <a:rPr lang="en-US" dirty="0"/>
              <a:t>Occurrence Dataset (VIIRS) in NC peat (&gt;80% histosol)</a:t>
            </a:r>
          </a:p>
        </p:txBody>
      </p:sp>
      <p:sp>
        <p:nvSpPr>
          <p:cNvPr id="3" name="Content Placeholder 2">
            <a:extLst>
              <a:ext uri="{FF2B5EF4-FFF2-40B4-BE49-F238E27FC236}">
                <a16:creationId xmlns:a16="http://schemas.microsoft.com/office/drawing/2014/main" id="{9BA7AB1C-313F-F55B-6C31-D69802FE4002}"/>
              </a:ext>
            </a:extLst>
          </p:cNvPr>
          <p:cNvSpPr>
            <a:spLocks noGrp="1"/>
          </p:cNvSpPr>
          <p:nvPr>
            <p:ph idx="1"/>
          </p:nvPr>
        </p:nvSpPr>
        <p:spPr>
          <a:xfrm>
            <a:off x="0" y="1234652"/>
            <a:ext cx="10515600" cy="4351338"/>
          </a:xfrm>
        </p:spPr>
        <p:txBody>
          <a:bodyPr/>
          <a:lstStyle/>
          <a:p>
            <a:r>
              <a:rPr lang="en-US" dirty="0"/>
              <a:t>Active-fire detections, 375m, 2012-present, data updates near real time - </a:t>
            </a:r>
          </a:p>
        </p:txBody>
      </p:sp>
      <p:pic>
        <p:nvPicPr>
          <p:cNvPr id="5" name="Picture 4">
            <a:extLst>
              <a:ext uri="{FF2B5EF4-FFF2-40B4-BE49-F238E27FC236}">
                <a16:creationId xmlns:a16="http://schemas.microsoft.com/office/drawing/2014/main" id="{BF59EBDC-D4EC-280D-7B3D-D89D8BAAF639}"/>
              </a:ext>
            </a:extLst>
          </p:cNvPr>
          <p:cNvPicPr>
            <a:picLocks noChangeAspect="1"/>
          </p:cNvPicPr>
          <p:nvPr/>
        </p:nvPicPr>
        <p:blipFill>
          <a:blip r:embed="rId3"/>
          <a:stretch>
            <a:fillRect/>
          </a:stretch>
        </p:blipFill>
        <p:spPr>
          <a:xfrm>
            <a:off x="325120" y="2560215"/>
            <a:ext cx="6096000" cy="3344200"/>
          </a:xfrm>
          <a:prstGeom prst="rect">
            <a:avLst/>
          </a:prstGeom>
        </p:spPr>
      </p:pic>
    </p:spTree>
    <p:extLst>
      <p:ext uri="{BB962C8B-B14F-4D97-AF65-F5344CB8AC3E}">
        <p14:creationId xmlns:p14="http://schemas.microsoft.com/office/powerpoint/2010/main" val="13323162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9C0C1-C98E-5E56-0830-FBD0A43F91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E14909-8E9A-E942-B473-A08DF0A94DBA}"/>
              </a:ext>
            </a:extLst>
          </p:cNvPr>
          <p:cNvSpPr>
            <a:spLocks noGrp="1"/>
          </p:cNvSpPr>
          <p:nvPr>
            <p:ph type="title"/>
          </p:nvPr>
        </p:nvSpPr>
        <p:spPr>
          <a:xfrm>
            <a:off x="0" y="-428625"/>
            <a:ext cx="5786438" cy="1325563"/>
          </a:xfrm>
        </p:spPr>
        <p:txBody>
          <a:bodyPr>
            <a:normAutofit/>
          </a:bodyPr>
          <a:lstStyle/>
          <a:p>
            <a:r>
              <a:rPr lang="en-US" sz="3200" dirty="0"/>
              <a:t>Burned Area Datasets</a:t>
            </a:r>
          </a:p>
        </p:txBody>
      </p:sp>
      <p:graphicFrame>
        <p:nvGraphicFramePr>
          <p:cNvPr id="4" name="Table 3">
            <a:extLst>
              <a:ext uri="{FF2B5EF4-FFF2-40B4-BE49-F238E27FC236}">
                <a16:creationId xmlns:a16="http://schemas.microsoft.com/office/drawing/2014/main" id="{773E9C0D-D70F-73F8-9A00-5820344C48B8}"/>
              </a:ext>
            </a:extLst>
          </p:cNvPr>
          <p:cNvGraphicFramePr>
            <a:graphicFrameLocks noGrp="1"/>
          </p:cNvGraphicFramePr>
          <p:nvPr/>
        </p:nvGraphicFramePr>
        <p:xfrm>
          <a:off x="6579117" y="3931920"/>
          <a:ext cx="5681664" cy="2926080"/>
        </p:xfrm>
        <a:graphic>
          <a:graphicData uri="http://schemas.openxmlformats.org/drawingml/2006/table">
            <a:tbl>
              <a:tblPr firstRow="1" bandRow="1">
                <a:tableStyleId>{5C22544A-7EE6-4342-B048-85BDC9FD1C3A}</a:tableStyleId>
              </a:tblPr>
              <a:tblGrid>
                <a:gridCol w="1420416">
                  <a:extLst>
                    <a:ext uri="{9D8B030D-6E8A-4147-A177-3AD203B41FA5}">
                      <a16:colId xmlns:a16="http://schemas.microsoft.com/office/drawing/2014/main" val="1771770966"/>
                    </a:ext>
                  </a:extLst>
                </a:gridCol>
                <a:gridCol w="1420416">
                  <a:extLst>
                    <a:ext uri="{9D8B030D-6E8A-4147-A177-3AD203B41FA5}">
                      <a16:colId xmlns:a16="http://schemas.microsoft.com/office/drawing/2014/main" val="3089676828"/>
                    </a:ext>
                  </a:extLst>
                </a:gridCol>
                <a:gridCol w="1420416">
                  <a:extLst>
                    <a:ext uri="{9D8B030D-6E8A-4147-A177-3AD203B41FA5}">
                      <a16:colId xmlns:a16="http://schemas.microsoft.com/office/drawing/2014/main" val="3161646855"/>
                    </a:ext>
                  </a:extLst>
                </a:gridCol>
                <a:gridCol w="1420416">
                  <a:extLst>
                    <a:ext uri="{9D8B030D-6E8A-4147-A177-3AD203B41FA5}">
                      <a16:colId xmlns:a16="http://schemas.microsoft.com/office/drawing/2014/main" val="748354975"/>
                    </a:ext>
                  </a:extLst>
                </a:gridCol>
              </a:tblGrid>
              <a:tr h="0">
                <a:tc>
                  <a:txBody>
                    <a:bodyPr/>
                    <a:lstStyle/>
                    <a:p>
                      <a:r>
                        <a:rPr lang="en-US" dirty="0"/>
                        <a:t>Product</a:t>
                      </a:r>
                    </a:p>
                  </a:txBody>
                  <a:tcPr/>
                </a:tc>
                <a:tc>
                  <a:txBody>
                    <a:bodyPr/>
                    <a:lstStyle/>
                    <a:p>
                      <a:r>
                        <a:rPr lang="en-US" dirty="0"/>
                        <a:t>Spatial Resolution</a:t>
                      </a:r>
                    </a:p>
                  </a:txBody>
                  <a:tcPr/>
                </a:tc>
                <a:tc>
                  <a:txBody>
                    <a:bodyPr/>
                    <a:lstStyle/>
                    <a:p>
                      <a:r>
                        <a:rPr lang="en-US" dirty="0"/>
                        <a:t>Temporal Coverage</a:t>
                      </a:r>
                    </a:p>
                  </a:txBody>
                  <a:tcPr/>
                </a:tc>
                <a:tc>
                  <a:txBody>
                    <a:bodyPr/>
                    <a:lstStyle/>
                    <a:p>
                      <a:r>
                        <a:rPr lang="en-US" dirty="0"/>
                        <a:t>Data Update Frequency</a:t>
                      </a:r>
                    </a:p>
                  </a:txBody>
                  <a:tcPr/>
                </a:tc>
                <a:extLst>
                  <a:ext uri="{0D108BD9-81ED-4DB2-BD59-A6C34878D82A}">
                    <a16:rowId xmlns:a16="http://schemas.microsoft.com/office/drawing/2014/main" val="2855813642"/>
                  </a:ext>
                </a:extLst>
              </a:tr>
              <a:tr h="524280">
                <a:tc>
                  <a:txBody>
                    <a:bodyPr/>
                    <a:lstStyle/>
                    <a:p>
                      <a:r>
                        <a:rPr lang="en-US" dirty="0"/>
                        <a:t>MODIS MCD64A1</a:t>
                      </a:r>
                    </a:p>
                  </a:txBody>
                  <a:tcPr/>
                </a:tc>
                <a:tc>
                  <a:txBody>
                    <a:bodyPr/>
                    <a:lstStyle/>
                    <a:p>
                      <a:r>
                        <a:rPr lang="en-US" dirty="0"/>
                        <a:t>500 m</a:t>
                      </a:r>
                    </a:p>
                  </a:txBody>
                  <a:tcPr/>
                </a:tc>
                <a:tc>
                  <a:txBody>
                    <a:bodyPr/>
                    <a:lstStyle/>
                    <a:p>
                      <a:r>
                        <a:rPr lang="en-US" dirty="0"/>
                        <a:t>Nov 2000 - present</a:t>
                      </a:r>
                    </a:p>
                  </a:txBody>
                  <a:tcPr/>
                </a:tc>
                <a:tc>
                  <a:txBody>
                    <a:bodyPr/>
                    <a:lstStyle/>
                    <a:p>
                      <a:r>
                        <a:rPr lang="en-US" dirty="0"/>
                        <a:t>Monthly</a:t>
                      </a:r>
                    </a:p>
                  </a:txBody>
                  <a:tcPr/>
                </a:tc>
                <a:extLst>
                  <a:ext uri="{0D108BD9-81ED-4DB2-BD59-A6C34878D82A}">
                    <a16:rowId xmlns:a16="http://schemas.microsoft.com/office/drawing/2014/main" val="3464984154"/>
                  </a:ext>
                </a:extLst>
              </a:tr>
              <a:tr h="299589">
                <a:tc>
                  <a:txBody>
                    <a:bodyPr/>
                    <a:lstStyle/>
                    <a:p>
                      <a:r>
                        <a:rPr lang="en-US" dirty="0"/>
                        <a:t>FireCCI51</a:t>
                      </a:r>
                    </a:p>
                  </a:txBody>
                  <a:tcPr/>
                </a:tc>
                <a:tc>
                  <a:txBody>
                    <a:bodyPr/>
                    <a:lstStyle/>
                    <a:p>
                      <a:r>
                        <a:rPr lang="en-US" dirty="0"/>
                        <a:t>250 m</a:t>
                      </a:r>
                    </a:p>
                  </a:txBody>
                  <a:tcPr/>
                </a:tc>
                <a:tc>
                  <a:txBody>
                    <a:bodyPr/>
                    <a:lstStyle/>
                    <a:p>
                      <a:r>
                        <a:rPr lang="en-US" dirty="0"/>
                        <a:t>2001-2020</a:t>
                      </a:r>
                    </a:p>
                  </a:txBody>
                  <a:tcPr/>
                </a:tc>
                <a:tc>
                  <a:txBody>
                    <a:bodyPr/>
                    <a:lstStyle/>
                    <a:p>
                      <a:r>
                        <a:rPr lang="en-US" dirty="0"/>
                        <a:t>Monthly</a:t>
                      </a:r>
                    </a:p>
                  </a:txBody>
                  <a:tcPr/>
                </a:tc>
                <a:extLst>
                  <a:ext uri="{0D108BD9-81ED-4DB2-BD59-A6C34878D82A}">
                    <a16:rowId xmlns:a16="http://schemas.microsoft.com/office/drawing/2014/main" val="729374592"/>
                  </a:ext>
                </a:extLst>
              </a:tr>
              <a:tr h="524280">
                <a:tc>
                  <a:txBody>
                    <a:bodyPr/>
                    <a:lstStyle/>
                    <a:p>
                      <a:r>
                        <a:rPr lang="en-US" dirty="0"/>
                        <a:t>FireCCIS311 (Sentinel-3)</a:t>
                      </a:r>
                    </a:p>
                  </a:txBody>
                  <a:tcPr/>
                </a:tc>
                <a:tc>
                  <a:txBody>
                    <a:bodyPr/>
                    <a:lstStyle/>
                    <a:p>
                      <a:r>
                        <a:rPr lang="en-US" dirty="0"/>
                        <a:t>300 m</a:t>
                      </a:r>
                    </a:p>
                  </a:txBody>
                  <a:tcPr/>
                </a:tc>
                <a:tc>
                  <a:txBody>
                    <a:bodyPr/>
                    <a:lstStyle/>
                    <a:p>
                      <a:r>
                        <a:rPr lang="en-US" dirty="0"/>
                        <a:t>~2019-present</a:t>
                      </a:r>
                    </a:p>
                  </a:txBody>
                  <a:tcPr/>
                </a:tc>
                <a:tc>
                  <a:txBody>
                    <a:bodyPr/>
                    <a:lstStyle/>
                    <a:p>
                      <a:r>
                        <a:rPr lang="en-US" dirty="0"/>
                        <a:t>Monthly</a:t>
                      </a:r>
                    </a:p>
                  </a:txBody>
                  <a:tcPr/>
                </a:tc>
                <a:extLst>
                  <a:ext uri="{0D108BD9-81ED-4DB2-BD59-A6C34878D82A}">
                    <a16:rowId xmlns:a16="http://schemas.microsoft.com/office/drawing/2014/main" val="3959075759"/>
                  </a:ext>
                </a:extLst>
              </a:tr>
              <a:tr h="299589">
                <a:tc>
                  <a:txBody>
                    <a:bodyPr/>
                    <a:lstStyle/>
                    <a:p>
                      <a:r>
                        <a:rPr lang="en-US" dirty="0">
                          <a:solidFill>
                            <a:schemeClr val="tx1"/>
                          </a:solidFill>
                        </a:rPr>
                        <a:t>GABAM</a:t>
                      </a:r>
                    </a:p>
                  </a:txBody>
                  <a:tcPr/>
                </a:tc>
                <a:tc>
                  <a:txBody>
                    <a:bodyPr/>
                    <a:lstStyle/>
                    <a:p>
                      <a:r>
                        <a:rPr lang="en-US" dirty="0">
                          <a:solidFill>
                            <a:schemeClr val="tx1"/>
                          </a:solidFill>
                        </a:rPr>
                        <a:t>30 m</a:t>
                      </a:r>
                    </a:p>
                  </a:txBody>
                  <a:tcPr/>
                </a:tc>
                <a:tc>
                  <a:txBody>
                    <a:bodyPr/>
                    <a:lstStyle/>
                    <a:p>
                      <a:r>
                        <a:rPr lang="en-US" dirty="0">
                          <a:solidFill>
                            <a:schemeClr val="tx1"/>
                          </a:solidFill>
                        </a:rPr>
                        <a:t>1985-2021</a:t>
                      </a:r>
                    </a:p>
                  </a:txBody>
                  <a:tcPr/>
                </a:tc>
                <a:tc>
                  <a:txBody>
                    <a:bodyPr/>
                    <a:lstStyle/>
                    <a:p>
                      <a:r>
                        <a:rPr lang="en-US" dirty="0">
                          <a:solidFill>
                            <a:schemeClr val="tx1"/>
                          </a:solidFill>
                        </a:rPr>
                        <a:t>Annual</a:t>
                      </a:r>
                    </a:p>
                  </a:txBody>
                  <a:tcPr/>
                </a:tc>
                <a:extLst>
                  <a:ext uri="{0D108BD9-81ED-4DB2-BD59-A6C34878D82A}">
                    <a16:rowId xmlns:a16="http://schemas.microsoft.com/office/drawing/2014/main" val="1263148468"/>
                  </a:ext>
                </a:extLst>
              </a:tr>
            </a:tbl>
          </a:graphicData>
        </a:graphic>
      </p:graphicFrame>
      <p:pic>
        <p:nvPicPr>
          <p:cNvPr id="10" name="Picture 9">
            <a:extLst>
              <a:ext uri="{FF2B5EF4-FFF2-40B4-BE49-F238E27FC236}">
                <a16:creationId xmlns:a16="http://schemas.microsoft.com/office/drawing/2014/main" id="{17A3BECB-A05C-0B7C-8D18-F115BE7D172C}"/>
              </a:ext>
            </a:extLst>
          </p:cNvPr>
          <p:cNvPicPr>
            <a:picLocks noChangeAspect="1"/>
          </p:cNvPicPr>
          <p:nvPr/>
        </p:nvPicPr>
        <p:blipFill>
          <a:blip r:embed="rId3"/>
          <a:stretch>
            <a:fillRect/>
          </a:stretch>
        </p:blipFill>
        <p:spPr>
          <a:xfrm>
            <a:off x="142964" y="3840480"/>
            <a:ext cx="5500509" cy="3017520"/>
          </a:xfrm>
          <a:prstGeom prst="rect">
            <a:avLst/>
          </a:prstGeom>
        </p:spPr>
      </p:pic>
      <p:pic>
        <p:nvPicPr>
          <p:cNvPr id="16" name="Picture 15">
            <a:extLst>
              <a:ext uri="{FF2B5EF4-FFF2-40B4-BE49-F238E27FC236}">
                <a16:creationId xmlns:a16="http://schemas.microsoft.com/office/drawing/2014/main" id="{56297B46-3548-6707-9538-D40E5B6BB3A4}"/>
              </a:ext>
            </a:extLst>
          </p:cNvPr>
          <p:cNvPicPr>
            <a:picLocks noChangeAspect="1"/>
          </p:cNvPicPr>
          <p:nvPr/>
        </p:nvPicPr>
        <p:blipFill>
          <a:blip r:embed="rId4"/>
          <a:stretch>
            <a:fillRect/>
          </a:stretch>
        </p:blipFill>
        <p:spPr>
          <a:xfrm>
            <a:off x="7187458" y="81628"/>
            <a:ext cx="4464981" cy="3767328"/>
          </a:xfrm>
          <a:prstGeom prst="rect">
            <a:avLst/>
          </a:prstGeom>
        </p:spPr>
      </p:pic>
      <p:pic>
        <p:nvPicPr>
          <p:cNvPr id="18" name="Picture 17">
            <a:extLst>
              <a:ext uri="{FF2B5EF4-FFF2-40B4-BE49-F238E27FC236}">
                <a16:creationId xmlns:a16="http://schemas.microsoft.com/office/drawing/2014/main" id="{30CB25B6-35EB-BF3E-18EE-36485EB364CA}"/>
              </a:ext>
            </a:extLst>
          </p:cNvPr>
          <p:cNvPicPr>
            <a:picLocks noChangeAspect="1"/>
          </p:cNvPicPr>
          <p:nvPr/>
        </p:nvPicPr>
        <p:blipFill>
          <a:blip r:embed="rId5"/>
          <a:stretch>
            <a:fillRect/>
          </a:stretch>
        </p:blipFill>
        <p:spPr>
          <a:xfrm>
            <a:off x="142964" y="456532"/>
            <a:ext cx="5500509" cy="3017520"/>
          </a:xfrm>
          <a:prstGeom prst="rect">
            <a:avLst/>
          </a:prstGeom>
        </p:spPr>
      </p:pic>
    </p:spTree>
    <p:extLst>
      <p:ext uri="{BB962C8B-B14F-4D97-AF65-F5344CB8AC3E}">
        <p14:creationId xmlns:p14="http://schemas.microsoft.com/office/powerpoint/2010/main" val="5617460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A47D6-FCF1-2B7E-7582-B49DEA77080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88BD6A4-FCC9-6965-C33A-187D9EDD84F5}"/>
              </a:ext>
            </a:extLst>
          </p:cNvPr>
          <p:cNvPicPr>
            <a:picLocks noChangeAspect="1"/>
          </p:cNvPicPr>
          <p:nvPr/>
        </p:nvPicPr>
        <p:blipFill>
          <a:blip r:embed="rId4"/>
          <a:stretch>
            <a:fillRect/>
          </a:stretch>
        </p:blipFill>
        <p:spPr>
          <a:xfrm>
            <a:off x="7635481" y="0"/>
            <a:ext cx="4014797" cy="3530600"/>
          </a:xfrm>
          <a:prstGeom prst="rect">
            <a:avLst/>
          </a:prstGeom>
        </p:spPr>
      </p:pic>
      <p:pic>
        <p:nvPicPr>
          <p:cNvPr id="7" name="Picture 6">
            <a:extLst>
              <a:ext uri="{FF2B5EF4-FFF2-40B4-BE49-F238E27FC236}">
                <a16:creationId xmlns:a16="http://schemas.microsoft.com/office/drawing/2014/main" id="{D95F9788-BF73-A8A1-0E6D-64AF47361EE5}"/>
              </a:ext>
            </a:extLst>
          </p:cNvPr>
          <p:cNvPicPr>
            <a:picLocks noChangeAspect="1"/>
          </p:cNvPicPr>
          <p:nvPr/>
        </p:nvPicPr>
        <p:blipFill>
          <a:blip r:embed="rId5"/>
          <a:stretch>
            <a:fillRect/>
          </a:stretch>
        </p:blipFill>
        <p:spPr>
          <a:xfrm>
            <a:off x="7506739" y="3530600"/>
            <a:ext cx="4565228" cy="3011516"/>
          </a:xfrm>
          <a:prstGeom prst="rect">
            <a:avLst/>
          </a:prstGeom>
        </p:spPr>
      </p:pic>
      <p:pic>
        <p:nvPicPr>
          <p:cNvPr id="10" name="Picture 9">
            <a:extLst>
              <a:ext uri="{FF2B5EF4-FFF2-40B4-BE49-F238E27FC236}">
                <a16:creationId xmlns:a16="http://schemas.microsoft.com/office/drawing/2014/main" id="{6E0DCAEB-E7F2-D221-3897-520FC2EF6D2A}"/>
              </a:ext>
            </a:extLst>
          </p:cNvPr>
          <p:cNvPicPr>
            <a:picLocks noChangeAspect="1"/>
          </p:cNvPicPr>
          <p:nvPr/>
        </p:nvPicPr>
        <p:blipFill>
          <a:blip r:embed="rId6"/>
          <a:stretch>
            <a:fillRect/>
          </a:stretch>
        </p:blipFill>
        <p:spPr>
          <a:xfrm>
            <a:off x="170185" y="120650"/>
            <a:ext cx="4933950" cy="3289300"/>
          </a:xfrm>
          <a:prstGeom prst="rect">
            <a:avLst/>
          </a:prstGeom>
        </p:spPr>
      </p:pic>
    </p:spTree>
    <p:extLst>
      <p:ext uri="{BB962C8B-B14F-4D97-AF65-F5344CB8AC3E}">
        <p14:creationId xmlns:p14="http://schemas.microsoft.com/office/powerpoint/2010/main" val="2832635969"/>
      </p:ext>
    </p:extLst>
  </p:cSld>
  <p:clrMapOvr>
    <a:masterClrMapping/>
  </p:clrMapOvr>
  <p:extLst>
    <p:ext uri="{6950BFC3-D8DA-4A85-94F7-54DA5524770B}">
      <p188:commentRel xmlns:p188="http://schemas.microsoft.com/office/powerpoint/2018/8/main" r:id="rId3"/>
    </p:ext>
  </p:extLs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97DE1-1C5D-0E2F-C748-E2A11AE0A1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B4D445-C7AE-D366-910A-AA7111CEDAB0}"/>
              </a:ext>
            </a:extLst>
          </p:cNvPr>
          <p:cNvSpPr>
            <a:spLocks noGrp="1"/>
          </p:cNvSpPr>
          <p:nvPr>
            <p:ph type="ctrTitle"/>
          </p:nvPr>
        </p:nvSpPr>
        <p:spPr>
          <a:xfrm>
            <a:off x="1524000" y="0"/>
            <a:ext cx="9144000" cy="2387600"/>
          </a:xfrm>
        </p:spPr>
        <p:txBody>
          <a:bodyPr>
            <a:normAutofit fontScale="90000"/>
          </a:bodyPr>
          <a:lstStyle/>
          <a:p>
            <a:r>
              <a:rPr lang="en-US" dirty="0"/>
              <a:t>Reference vs burned area fire products (NC peatland &gt;80% histosol)</a:t>
            </a:r>
          </a:p>
        </p:txBody>
      </p:sp>
      <p:sp>
        <p:nvSpPr>
          <p:cNvPr id="4" name="TextBox 3">
            <a:extLst>
              <a:ext uri="{FF2B5EF4-FFF2-40B4-BE49-F238E27FC236}">
                <a16:creationId xmlns:a16="http://schemas.microsoft.com/office/drawing/2014/main" id="{BFCA68DE-9156-9541-CB63-BB0CB384B16C}"/>
              </a:ext>
            </a:extLst>
          </p:cNvPr>
          <p:cNvSpPr txBox="1"/>
          <p:nvPr/>
        </p:nvSpPr>
        <p:spPr>
          <a:xfrm>
            <a:off x="1" y="2654641"/>
            <a:ext cx="12192000" cy="3785652"/>
          </a:xfrm>
          <a:prstGeom prst="rect">
            <a:avLst/>
          </a:prstGeom>
          <a:noFill/>
        </p:spPr>
        <p:txBody>
          <a:bodyPr wrap="square" rtlCol="0">
            <a:spAutoFit/>
          </a:bodyPr>
          <a:lstStyle/>
          <a:p>
            <a:r>
              <a:rPr lang="en-US" sz="2000" dirty="0"/>
              <a:t>Reference polygons were rasterized to the same 500m, EPSG:5070 grid as the fire products</a:t>
            </a:r>
          </a:p>
          <a:p>
            <a:r>
              <a:rPr lang="en-US" sz="2000" dirty="0" err="1"/>
              <a:t>tp</a:t>
            </a:r>
            <a:r>
              <a:rPr lang="en-US" sz="2000" dirty="0"/>
              <a:t> = burned area within the fire perimeter polygon from reference dataset that the product detected, </a:t>
            </a:r>
          </a:p>
          <a:p>
            <a:r>
              <a:rPr lang="en-US" sz="2000" dirty="0" err="1"/>
              <a:t>fn</a:t>
            </a:r>
            <a:r>
              <a:rPr lang="en-US" sz="2000" dirty="0"/>
              <a:t> = burned area within fire perimeter polygon from reference dataset that didn’t get detected by the fire product</a:t>
            </a:r>
          </a:p>
          <a:p>
            <a:r>
              <a:rPr lang="en-US" sz="2000" dirty="0"/>
              <a:t>Recall = </a:t>
            </a:r>
            <a:r>
              <a:rPr lang="en-US" sz="2000" dirty="0" err="1"/>
              <a:t>tp</a:t>
            </a:r>
            <a:r>
              <a:rPr lang="en-US" sz="2000" dirty="0"/>
              <a:t> / (</a:t>
            </a:r>
            <a:r>
              <a:rPr lang="en-US" sz="2000" dirty="0" err="1"/>
              <a:t>tp</a:t>
            </a:r>
            <a:r>
              <a:rPr lang="en-US" sz="2000" dirty="0"/>
              <a:t> + </a:t>
            </a:r>
            <a:r>
              <a:rPr lang="en-US" sz="2000" dirty="0" err="1"/>
              <a:t>fn</a:t>
            </a:r>
            <a:r>
              <a:rPr lang="en-US" sz="2000" dirty="0"/>
              <a:t>) per fire event from reference dataset</a:t>
            </a:r>
          </a:p>
          <a:p>
            <a:r>
              <a:rPr lang="en-US" sz="2000" dirty="0" err="1"/>
              <a:t>Recall_pooled</a:t>
            </a:r>
            <a:r>
              <a:rPr lang="en-US" sz="2000" dirty="0"/>
              <a:t> = sum of </a:t>
            </a:r>
            <a:r>
              <a:rPr lang="en-US" sz="2000" dirty="0" err="1"/>
              <a:t>tp</a:t>
            </a:r>
            <a:r>
              <a:rPr lang="en-US" sz="2000" dirty="0"/>
              <a:t> across all events / sum of </a:t>
            </a:r>
            <a:r>
              <a:rPr lang="en-US" sz="2000" dirty="0" err="1"/>
              <a:t>tp</a:t>
            </a:r>
            <a:r>
              <a:rPr lang="en-US" sz="2000" dirty="0"/>
              <a:t> + </a:t>
            </a:r>
            <a:r>
              <a:rPr lang="en-US" sz="2000" dirty="0" err="1"/>
              <a:t>fn</a:t>
            </a:r>
            <a:r>
              <a:rPr lang="en-US" sz="2000" dirty="0"/>
              <a:t> across all events. Dominated by big fires.</a:t>
            </a:r>
          </a:p>
          <a:p>
            <a:r>
              <a:rPr lang="en-US" sz="2000" dirty="0" err="1"/>
              <a:t>Recall_mean_event</a:t>
            </a:r>
            <a:r>
              <a:rPr lang="en-US" sz="2000" dirty="0"/>
              <a:t> = mean recall across all events. Counts each fire equally regardless of size.</a:t>
            </a:r>
          </a:p>
          <a:p>
            <a:r>
              <a:rPr lang="en-US" sz="2000" dirty="0" err="1"/>
              <a:t>Detection_rate</a:t>
            </a:r>
            <a:r>
              <a:rPr lang="en-US" sz="2000" dirty="0"/>
              <a:t> = fraction of fire events the product caught at all (aka had any detected pixel within the fire perimeter)</a:t>
            </a:r>
          </a:p>
          <a:p>
            <a:endParaRPr lang="en-US" sz="2000" dirty="0"/>
          </a:p>
          <a:p>
            <a:r>
              <a:rPr lang="en-US" sz="2000" dirty="0"/>
              <a:t>Skipped severity comparison because fire perimeters don’t have severity info</a:t>
            </a:r>
          </a:p>
          <a:p>
            <a:endParaRPr lang="en-US" sz="2000" dirty="0"/>
          </a:p>
        </p:txBody>
      </p:sp>
    </p:spTree>
    <p:extLst>
      <p:ext uri="{BB962C8B-B14F-4D97-AF65-F5344CB8AC3E}">
        <p14:creationId xmlns:p14="http://schemas.microsoft.com/office/powerpoint/2010/main" val="207576129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8AED9-B0DA-391F-150D-1C995E2E2B6E}"/>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C1D42F23-946A-3218-2D4B-F078D06B5436}"/>
              </a:ext>
            </a:extLst>
          </p:cNvPr>
          <p:cNvSpPr txBox="1"/>
          <p:nvPr/>
        </p:nvSpPr>
        <p:spPr>
          <a:xfrm>
            <a:off x="-47859" y="0"/>
            <a:ext cx="4191147" cy="369332"/>
          </a:xfrm>
          <a:prstGeom prst="rect">
            <a:avLst/>
          </a:prstGeom>
          <a:noFill/>
        </p:spPr>
        <p:txBody>
          <a:bodyPr wrap="none" rtlCol="0">
            <a:spAutoFit/>
          </a:bodyPr>
          <a:lstStyle/>
          <a:p>
            <a:r>
              <a:rPr lang="en-US" dirty="0"/>
              <a:t>NIFC_IPFH (skipping fires of &lt; 100 acres)</a:t>
            </a:r>
          </a:p>
        </p:txBody>
      </p:sp>
      <p:sp>
        <p:nvSpPr>
          <p:cNvPr id="21" name="TextBox 20">
            <a:extLst>
              <a:ext uri="{FF2B5EF4-FFF2-40B4-BE49-F238E27FC236}">
                <a16:creationId xmlns:a16="http://schemas.microsoft.com/office/drawing/2014/main" id="{9F6DBE99-DFCB-AD34-54EA-AAC6AF96232B}"/>
              </a:ext>
            </a:extLst>
          </p:cNvPr>
          <p:cNvSpPr txBox="1"/>
          <p:nvPr/>
        </p:nvSpPr>
        <p:spPr>
          <a:xfrm>
            <a:off x="-47860" y="1720811"/>
            <a:ext cx="4036361" cy="369332"/>
          </a:xfrm>
          <a:prstGeom prst="rect">
            <a:avLst/>
          </a:prstGeom>
          <a:noFill/>
        </p:spPr>
        <p:txBody>
          <a:bodyPr wrap="none" rtlCol="0">
            <a:spAutoFit/>
          </a:bodyPr>
          <a:lstStyle/>
          <a:p>
            <a:r>
              <a:rPr lang="en-US" dirty="0"/>
              <a:t>GEOMAC (skipping fires of &lt; 100 acres)</a:t>
            </a:r>
          </a:p>
        </p:txBody>
      </p:sp>
      <p:sp>
        <p:nvSpPr>
          <p:cNvPr id="26" name="TextBox 25">
            <a:extLst>
              <a:ext uri="{FF2B5EF4-FFF2-40B4-BE49-F238E27FC236}">
                <a16:creationId xmlns:a16="http://schemas.microsoft.com/office/drawing/2014/main" id="{34056C62-4694-CDA1-C4AF-0CADCAC0FD73}"/>
              </a:ext>
            </a:extLst>
          </p:cNvPr>
          <p:cNvSpPr txBox="1"/>
          <p:nvPr/>
        </p:nvSpPr>
        <p:spPr>
          <a:xfrm>
            <a:off x="-47860" y="6398594"/>
            <a:ext cx="4994701" cy="369332"/>
          </a:xfrm>
          <a:prstGeom prst="rect">
            <a:avLst/>
          </a:prstGeom>
          <a:noFill/>
        </p:spPr>
        <p:txBody>
          <a:bodyPr wrap="none" rtlCol="0">
            <a:spAutoFit/>
          </a:bodyPr>
          <a:lstStyle/>
          <a:p>
            <a:r>
              <a:rPr lang="en-US" dirty="0"/>
              <a:t>TNC Sandhills has no overlap with &gt;80% histosol</a:t>
            </a:r>
          </a:p>
        </p:txBody>
      </p:sp>
      <p:sp>
        <p:nvSpPr>
          <p:cNvPr id="27" name="TextBox 26">
            <a:extLst>
              <a:ext uri="{FF2B5EF4-FFF2-40B4-BE49-F238E27FC236}">
                <a16:creationId xmlns:a16="http://schemas.microsoft.com/office/drawing/2014/main" id="{73CDC199-BBC0-0C3D-E5C0-5134F6D0B2E1}"/>
              </a:ext>
            </a:extLst>
          </p:cNvPr>
          <p:cNvSpPr txBox="1"/>
          <p:nvPr/>
        </p:nvSpPr>
        <p:spPr>
          <a:xfrm>
            <a:off x="-47860" y="3875036"/>
            <a:ext cx="2099614" cy="369332"/>
          </a:xfrm>
          <a:prstGeom prst="rect">
            <a:avLst/>
          </a:prstGeom>
          <a:noFill/>
        </p:spPr>
        <p:txBody>
          <a:bodyPr wrap="none" rtlCol="0">
            <a:spAutoFit/>
          </a:bodyPr>
          <a:lstStyle/>
          <a:p>
            <a:r>
              <a:rPr lang="en-US" dirty="0"/>
              <a:t>TNC Coastal Plains</a:t>
            </a:r>
          </a:p>
        </p:txBody>
      </p:sp>
      <p:pic>
        <p:nvPicPr>
          <p:cNvPr id="2" name="Picture 1">
            <a:extLst>
              <a:ext uri="{FF2B5EF4-FFF2-40B4-BE49-F238E27FC236}">
                <a16:creationId xmlns:a16="http://schemas.microsoft.com/office/drawing/2014/main" id="{51BBA9AC-7856-21AC-F995-91F2BB10F3A3}"/>
              </a:ext>
            </a:extLst>
          </p:cNvPr>
          <p:cNvPicPr>
            <a:picLocks noChangeAspect="1"/>
          </p:cNvPicPr>
          <p:nvPr/>
        </p:nvPicPr>
        <p:blipFill>
          <a:blip r:embed="rId3"/>
          <a:stretch>
            <a:fillRect/>
          </a:stretch>
        </p:blipFill>
        <p:spPr>
          <a:xfrm>
            <a:off x="2754063" y="2021388"/>
            <a:ext cx="5975158" cy="1318165"/>
          </a:xfrm>
          <a:prstGeom prst="rect">
            <a:avLst/>
          </a:prstGeom>
        </p:spPr>
      </p:pic>
      <p:pic>
        <p:nvPicPr>
          <p:cNvPr id="3" name="Picture 2">
            <a:extLst>
              <a:ext uri="{FF2B5EF4-FFF2-40B4-BE49-F238E27FC236}">
                <a16:creationId xmlns:a16="http://schemas.microsoft.com/office/drawing/2014/main" id="{536208C8-EB12-6B2B-D500-DE0D92AF0E86}"/>
              </a:ext>
            </a:extLst>
          </p:cNvPr>
          <p:cNvPicPr>
            <a:picLocks noChangeAspect="1"/>
          </p:cNvPicPr>
          <p:nvPr/>
        </p:nvPicPr>
        <p:blipFill>
          <a:blip r:embed="rId4"/>
          <a:stretch>
            <a:fillRect/>
          </a:stretch>
        </p:blipFill>
        <p:spPr>
          <a:xfrm>
            <a:off x="2754063" y="274740"/>
            <a:ext cx="5908387" cy="1490472"/>
          </a:xfrm>
          <a:prstGeom prst="rect">
            <a:avLst/>
          </a:prstGeom>
        </p:spPr>
      </p:pic>
      <p:pic>
        <p:nvPicPr>
          <p:cNvPr id="5" name="Picture 4">
            <a:extLst>
              <a:ext uri="{FF2B5EF4-FFF2-40B4-BE49-F238E27FC236}">
                <a16:creationId xmlns:a16="http://schemas.microsoft.com/office/drawing/2014/main" id="{21D63108-34E5-6970-29E2-9B5B91236E62}"/>
              </a:ext>
            </a:extLst>
          </p:cNvPr>
          <p:cNvPicPr>
            <a:picLocks noChangeAspect="1"/>
          </p:cNvPicPr>
          <p:nvPr/>
        </p:nvPicPr>
        <p:blipFill>
          <a:blip r:embed="rId5"/>
          <a:stretch>
            <a:fillRect/>
          </a:stretch>
        </p:blipFill>
        <p:spPr>
          <a:xfrm>
            <a:off x="2674399" y="4402322"/>
            <a:ext cx="5988051" cy="1510568"/>
          </a:xfrm>
          <a:prstGeom prst="rect">
            <a:avLst/>
          </a:prstGeom>
        </p:spPr>
      </p:pic>
    </p:spTree>
    <p:extLst>
      <p:ext uri="{BB962C8B-B14F-4D97-AF65-F5344CB8AC3E}">
        <p14:creationId xmlns:p14="http://schemas.microsoft.com/office/powerpoint/2010/main" val="331172812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20449-29C4-081E-D564-A3D56977EC5E}"/>
              </a:ext>
            </a:extLst>
          </p:cNvPr>
          <p:cNvSpPr>
            <a:spLocks noGrp="1"/>
          </p:cNvSpPr>
          <p:nvPr>
            <p:ph type="ctrTitle"/>
          </p:nvPr>
        </p:nvSpPr>
        <p:spPr/>
        <p:txBody>
          <a:bodyPr/>
          <a:lstStyle/>
          <a:p>
            <a:r>
              <a:rPr lang="en-US" dirty="0"/>
              <a:t>Peat restoration site exploration</a:t>
            </a:r>
          </a:p>
        </p:txBody>
      </p:sp>
      <p:sp>
        <p:nvSpPr>
          <p:cNvPr id="3" name="Subtitle 2">
            <a:extLst>
              <a:ext uri="{FF2B5EF4-FFF2-40B4-BE49-F238E27FC236}">
                <a16:creationId xmlns:a16="http://schemas.microsoft.com/office/drawing/2014/main" id="{DF6C9765-CD80-2C10-843C-E263A185374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79994020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608DD-E64B-510F-1701-2568EDC38506}"/>
              </a:ext>
            </a:extLst>
          </p:cNvPr>
          <p:cNvSpPr>
            <a:spLocks noGrp="1"/>
          </p:cNvSpPr>
          <p:nvPr>
            <p:ph type="title"/>
          </p:nvPr>
        </p:nvSpPr>
        <p:spPr/>
        <p:txBody>
          <a:bodyPr/>
          <a:lstStyle/>
          <a:p>
            <a:r>
              <a:rPr lang="en-US" dirty="0"/>
              <a:t>Peat restoration sites</a:t>
            </a:r>
          </a:p>
        </p:txBody>
      </p:sp>
      <p:pic>
        <p:nvPicPr>
          <p:cNvPr id="5" name="Picture 4">
            <a:extLst>
              <a:ext uri="{FF2B5EF4-FFF2-40B4-BE49-F238E27FC236}">
                <a16:creationId xmlns:a16="http://schemas.microsoft.com/office/drawing/2014/main" id="{CD669936-C4D5-C469-1C15-B8E0561446F7}"/>
              </a:ext>
            </a:extLst>
          </p:cNvPr>
          <p:cNvPicPr>
            <a:picLocks noChangeAspect="1"/>
          </p:cNvPicPr>
          <p:nvPr/>
        </p:nvPicPr>
        <p:blipFill>
          <a:blip r:embed="rId2"/>
          <a:srcRect t="20766" b="20808"/>
          <a:stretch>
            <a:fillRect/>
          </a:stretch>
        </p:blipFill>
        <p:spPr>
          <a:xfrm>
            <a:off x="1406287" y="1690688"/>
            <a:ext cx="9379426" cy="4110086"/>
          </a:xfrm>
          <a:prstGeom prst="rect">
            <a:avLst/>
          </a:prstGeom>
        </p:spPr>
      </p:pic>
    </p:spTree>
    <p:extLst>
      <p:ext uri="{BB962C8B-B14F-4D97-AF65-F5344CB8AC3E}">
        <p14:creationId xmlns:p14="http://schemas.microsoft.com/office/powerpoint/2010/main" val="229929117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AF758A9-43C5-6234-FB63-5E151AD5934A}"/>
              </a:ext>
            </a:extLst>
          </p:cNvPr>
          <p:cNvPicPr>
            <a:picLocks noChangeAspect="1"/>
          </p:cNvPicPr>
          <p:nvPr/>
        </p:nvPicPr>
        <p:blipFill>
          <a:blip r:embed="rId2"/>
          <a:stretch>
            <a:fillRect/>
          </a:stretch>
        </p:blipFill>
        <p:spPr>
          <a:xfrm>
            <a:off x="0" y="1760548"/>
            <a:ext cx="12192000" cy="3600425"/>
          </a:xfrm>
          <a:prstGeom prst="rect">
            <a:avLst/>
          </a:prstGeom>
        </p:spPr>
      </p:pic>
      <p:sp>
        <p:nvSpPr>
          <p:cNvPr id="7" name="Title 1">
            <a:extLst>
              <a:ext uri="{FF2B5EF4-FFF2-40B4-BE49-F238E27FC236}">
                <a16:creationId xmlns:a16="http://schemas.microsoft.com/office/drawing/2014/main" id="{B7701BCB-2F82-FB80-5D27-281A1069C50F}"/>
              </a:ext>
            </a:extLst>
          </p:cNvPr>
          <p:cNvSpPr>
            <a:spLocks noGrp="1"/>
          </p:cNvSpPr>
          <p:nvPr>
            <p:ph type="title"/>
          </p:nvPr>
        </p:nvSpPr>
        <p:spPr>
          <a:xfrm>
            <a:off x="838200" y="365125"/>
            <a:ext cx="10515600" cy="1325563"/>
          </a:xfrm>
        </p:spPr>
        <p:txBody>
          <a:bodyPr/>
          <a:lstStyle/>
          <a:p>
            <a:r>
              <a:rPr lang="en-US" dirty="0"/>
              <a:t>What to do with non-completed sites? Also why do some sites not have end years?</a:t>
            </a:r>
          </a:p>
        </p:txBody>
      </p:sp>
    </p:spTree>
    <p:extLst>
      <p:ext uri="{BB962C8B-B14F-4D97-AF65-F5344CB8AC3E}">
        <p14:creationId xmlns:p14="http://schemas.microsoft.com/office/powerpoint/2010/main" val="345041935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51E123A-0E58-E054-07CC-C65927FA5134}"/>
              </a:ext>
            </a:extLst>
          </p:cNvPr>
          <p:cNvPicPr>
            <a:picLocks noChangeAspect="1"/>
          </p:cNvPicPr>
          <p:nvPr/>
        </p:nvPicPr>
        <p:blipFill>
          <a:blip r:embed="rId2"/>
          <a:stretch>
            <a:fillRect/>
          </a:stretch>
        </p:blipFill>
        <p:spPr>
          <a:xfrm>
            <a:off x="3554451" y="2101850"/>
            <a:ext cx="3692601" cy="1828800"/>
          </a:xfrm>
          <a:prstGeom prst="rect">
            <a:avLst/>
          </a:prstGeom>
        </p:spPr>
      </p:pic>
      <p:pic>
        <p:nvPicPr>
          <p:cNvPr id="7" name="Picture 6">
            <a:extLst>
              <a:ext uri="{FF2B5EF4-FFF2-40B4-BE49-F238E27FC236}">
                <a16:creationId xmlns:a16="http://schemas.microsoft.com/office/drawing/2014/main" id="{F1EB4602-3253-1FC6-F3F4-9D85D999E0D3}"/>
              </a:ext>
            </a:extLst>
          </p:cNvPr>
          <p:cNvPicPr>
            <a:picLocks noChangeAspect="1"/>
          </p:cNvPicPr>
          <p:nvPr/>
        </p:nvPicPr>
        <p:blipFill>
          <a:blip r:embed="rId3"/>
          <a:stretch>
            <a:fillRect/>
          </a:stretch>
        </p:blipFill>
        <p:spPr>
          <a:xfrm>
            <a:off x="0" y="3930650"/>
            <a:ext cx="3692601" cy="1828800"/>
          </a:xfrm>
          <a:prstGeom prst="rect">
            <a:avLst/>
          </a:prstGeom>
        </p:spPr>
      </p:pic>
      <p:pic>
        <p:nvPicPr>
          <p:cNvPr id="9" name="Picture 8">
            <a:extLst>
              <a:ext uri="{FF2B5EF4-FFF2-40B4-BE49-F238E27FC236}">
                <a16:creationId xmlns:a16="http://schemas.microsoft.com/office/drawing/2014/main" id="{08FF97A8-0165-20F5-21AD-A870395559FE}"/>
              </a:ext>
            </a:extLst>
          </p:cNvPr>
          <p:cNvPicPr>
            <a:picLocks noChangeAspect="1"/>
          </p:cNvPicPr>
          <p:nvPr/>
        </p:nvPicPr>
        <p:blipFill>
          <a:blip r:embed="rId4"/>
          <a:stretch>
            <a:fillRect/>
          </a:stretch>
        </p:blipFill>
        <p:spPr>
          <a:xfrm>
            <a:off x="7272914" y="2101850"/>
            <a:ext cx="3692601" cy="1828800"/>
          </a:xfrm>
          <a:prstGeom prst="rect">
            <a:avLst/>
          </a:prstGeom>
        </p:spPr>
      </p:pic>
      <p:pic>
        <p:nvPicPr>
          <p:cNvPr id="11" name="Picture 10">
            <a:extLst>
              <a:ext uri="{FF2B5EF4-FFF2-40B4-BE49-F238E27FC236}">
                <a16:creationId xmlns:a16="http://schemas.microsoft.com/office/drawing/2014/main" id="{FB9A9D92-2416-1892-4024-B963C43BFD2F}"/>
              </a:ext>
            </a:extLst>
          </p:cNvPr>
          <p:cNvPicPr>
            <a:picLocks noChangeAspect="1"/>
          </p:cNvPicPr>
          <p:nvPr/>
        </p:nvPicPr>
        <p:blipFill>
          <a:blip r:embed="rId5"/>
          <a:stretch>
            <a:fillRect/>
          </a:stretch>
        </p:blipFill>
        <p:spPr>
          <a:xfrm>
            <a:off x="0" y="2101850"/>
            <a:ext cx="3692601" cy="1828800"/>
          </a:xfrm>
          <a:prstGeom prst="rect">
            <a:avLst/>
          </a:prstGeom>
        </p:spPr>
      </p:pic>
      <p:pic>
        <p:nvPicPr>
          <p:cNvPr id="13" name="Picture 12">
            <a:extLst>
              <a:ext uri="{FF2B5EF4-FFF2-40B4-BE49-F238E27FC236}">
                <a16:creationId xmlns:a16="http://schemas.microsoft.com/office/drawing/2014/main" id="{1FE709F2-5C52-C855-B051-E700EB44B674}"/>
              </a:ext>
            </a:extLst>
          </p:cNvPr>
          <p:cNvPicPr>
            <a:picLocks noChangeAspect="1"/>
          </p:cNvPicPr>
          <p:nvPr/>
        </p:nvPicPr>
        <p:blipFill>
          <a:blip r:embed="rId6"/>
          <a:stretch>
            <a:fillRect/>
          </a:stretch>
        </p:blipFill>
        <p:spPr>
          <a:xfrm>
            <a:off x="7272915" y="0"/>
            <a:ext cx="3692601" cy="1828800"/>
          </a:xfrm>
          <a:prstGeom prst="rect">
            <a:avLst/>
          </a:prstGeom>
        </p:spPr>
      </p:pic>
      <p:pic>
        <p:nvPicPr>
          <p:cNvPr id="15" name="Picture 14">
            <a:extLst>
              <a:ext uri="{FF2B5EF4-FFF2-40B4-BE49-F238E27FC236}">
                <a16:creationId xmlns:a16="http://schemas.microsoft.com/office/drawing/2014/main" id="{F45847DF-8661-771F-89E4-A279FA1D878D}"/>
              </a:ext>
            </a:extLst>
          </p:cNvPr>
          <p:cNvPicPr>
            <a:picLocks noChangeAspect="1"/>
          </p:cNvPicPr>
          <p:nvPr/>
        </p:nvPicPr>
        <p:blipFill>
          <a:blip r:embed="rId7"/>
          <a:stretch>
            <a:fillRect/>
          </a:stretch>
        </p:blipFill>
        <p:spPr>
          <a:xfrm>
            <a:off x="7272914" y="4006312"/>
            <a:ext cx="3692601" cy="1828800"/>
          </a:xfrm>
          <a:prstGeom prst="rect">
            <a:avLst/>
          </a:prstGeom>
        </p:spPr>
      </p:pic>
      <p:pic>
        <p:nvPicPr>
          <p:cNvPr id="17" name="Picture 16">
            <a:extLst>
              <a:ext uri="{FF2B5EF4-FFF2-40B4-BE49-F238E27FC236}">
                <a16:creationId xmlns:a16="http://schemas.microsoft.com/office/drawing/2014/main" id="{6D4899A8-C9A0-5C78-E9DB-46CC0A57D225}"/>
              </a:ext>
            </a:extLst>
          </p:cNvPr>
          <p:cNvPicPr>
            <a:picLocks noChangeAspect="1"/>
          </p:cNvPicPr>
          <p:nvPr/>
        </p:nvPicPr>
        <p:blipFill>
          <a:blip r:embed="rId8"/>
          <a:stretch>
            <a:fillRect/>
          </a:stretch>
        </p:blipFill>
        <p:spPr>
          <a:xfrm>
            <a:off x="3554451" y="4006312"/>
            <a:ext cx="3692601" cy="1828800"/>
          </a:xfrm>
          <a:prstGeom prst="rect">
            <a:avLst/>
          </a:prstGeom>
        </p:spPr>
      </p:pic>
      <p:sp>
        <p:nvSpPr>
          <p:cNvPr id="18" name="Title 1">
            <a:extLst>
              <a:ext uri="{FF2B5EF4-FFF2-40B4-BE49-F238E27FC236}">
                <a16:creationId xmlns:a16="http://schemas.microsoft.com/office/drawing/2014/main" id="{DBBD4931-AD36-458A-9A47-EBAFA3555C73}"/>
              </a:ext>
            </a:extLst>
          </p:cNvPr>
          <p:cNvSpPr>
            <a:spLocks noGrp="1"/>
          </p:cNvSpPr>
          <p:nvPr>
            <p:ph type="title"/>
          </p:nvPr>
        </p:nvSpPr>
        <p:spPr>
          <a:xfrm>
            <a:off x="838200" y="365125"/>
            <a:ext cx="10515600" cy="1325563"/>
          </a:xfrm>
        </p:spPr>
        <p:txBody>
          <a:bodyPr/>
          <a:lstStyle/>
          <a:p>
            <a:r>
              <a:rPr lang="en-US" dirty="0"/>
              <a:t>Completed sites</a:t>
            </a:r>
          </a:p>
        </p:txBody>
      </p:sp>
    </p:spTree>
    <p:extLst>
      <p:ext uri="{BB962C8B-B14F-4D97-AF65-F5344CB8AC3E}">
        <p14:creationId xmlns:p14="http://schemas.microsoft.com/office/powerpoint/2010/main" val="418228463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C208B-F62A-594E-2613-BE77816D3B83}"/>
              </a:ext>
            </a:extLst>
          </p:cNvPr>
          <p:cNvSpPr>
            <a:spLocks noGrp="1"/>
          </p:cNvSpPr>
          <p:nvPr>
            <p:ph type="title"/>
          </p:nvPr>
        </p:nvSpPr>
        <p:spPr/>
        <p:txBody>
          <a:bodyPr>
            <a:normAutofit/>
          </a:bodyPr>
          <a:lstStyle/>
          <a:p>
            <a:r>
              <a:rPr lang="en-US" dirty="0"/>
              <a:t>Burned area and fire counts before and after start yr of treatment in completed sites</a:t>
            </a:r>
          </a:p>
        </p:txBody>
      </p:sp>
      <p:pic>
        <p:nvPicPr>
          <p:cNvPr id="5" name="Content Placeholder 4">
            <a:extLst>
              <a:ext uri="{FF2B5EF4-FFF2-40B4-BE49-F238E27FC236}">
                <a16:creationId xmlns:a16="http://schemas.microsoft.com/office/drawing/2014/main" id="{A4C93C39-F9C4-9C8A-6897-70287C8FAEE9}"/>
              </a:ext>
            </a:extLst>
          </p:cNvPr>
          <p:cNvPicPr>
            <a:picLocks noGrp="1" noChangeAspect="1"/>
          </p:cNvPicPr>
          <p:nvPr>
            <p:ph idx="1"/>
          </p:nvPr>
        </p:nvPicPr>
        <p:blipFill>
          <a:blip r:embed="rId2"/>
          <a:stretch>
            <a:fillRect/>
          </a:stretch>
        </p:blipFill>
        <p:spPr>
          <a:xfrm>
            <a:off x="390841" y="2431342"/>
            <a:ext cx="5245462" cy="4061533"/>
          </a:xfrm>
          <a:prstGeom prst="rect">
            <a:avLst/>
          </a:prstGeom>
        </p:spPr>
      </p:pic>
      <p:sp>
        <p:nvSpPr>
          <p:cNvPr id="6" name="TextBox 5">
            <a:extLst>
              <a:ext uri="{FF2B5EF4-FFF2-40B4-BE49-F238E27FC236}">
                <a16:creationId xmlns:a16="http://schemas.microsoft.com/office/drawing/2014/main" id="{D03BC482-6B5B-DBED-2A48-E3D44BDFCDBA}"/>
              </a:ext>
            </a:extLst>
          </p:cNvPr>
          <p:cNvSpPr txBox="1"/>
          <p:nvPr/>
        </p:nvSpPr>
        <p:spPr>
          <a:xfrm>
            <a:off x="838200" y="1690688"/>
            <a:ext cx="11246975" cy="369332"/>
          </a:xfrm>
          <a:prstGeom prst="rect">
            <a:avLst/>
          </a:prstGeom>
          <a:noFill/>
        </p:spPr>
        <p:txBody>
          <a:bodyPr wrap="square" rtlCol="0">
            <a:spAutoFit/>
          </a:bodyPr>
          <a:lstStyle/>
          <a:p>
            <a:r>
              <a:rPr lang="en-US" dirty="0"/>
              <a:t>Weird. Add buffer zone? Is “Start Yr” the right column? </a:t>
            </a:r>
          </a:p>
        </p:txBody>
      </p:sp>
      <p:pic>
        <p:nvPicPr>
          <p:cNvPr id="8" name="Picture 7">
            <a:extLst>
              <a:ext uri="{FF2B5EF4-FFF2-40B4-BE49-F238E27FC236}">
                <a16:creationId xmlns:a16="http://schemas.microsoft.com/office/drawing/2014/main" id="{EEAA4FD5-BC00-6D0F-6302-1F7775D07B40}"/>
              </a:ext>
            </a:extLst>
          </p:cNvPr>
          <p:cNvPicPr>
            <a:picLocks noChangeAspect="1"/>
          </p:cNvPicPr>
          <p:nvPr/>
        </p:nvPicPr>
        <p:blipFill>
          <a:blip r:embed="rId3"/>
          <a:stretch>
            <a:fillRect/>
          </a:stretch>
        </p:blipFill>
        <p:spPr>
          <a:xfrm>
            <a:off x="6461687" y="2431342"/>
            <a:ext cx="5009573" cy="3878885"/>
          </a:xfrm>
          <a:prstGeom prst="rect">
            <a:avLst/>
          </a:prstGeom>
        </p:spPr>
      </p:pic>
    </p:spTree>
    <p:extLst>
      <p:ext uri="{BB962C8B-B14F-4D97-AF65-F5344CB8AC3E}">
        <p14:creationId xmlns:p14="http://schemas.microsoft.com/office/powerpoint/2010/main" val="104785011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A14442D-2D37-52B6-54A4-E72ADBAB91C8}"/>
              </a:ext>
            </a:extLst>
          </p:cNvPr>
          <p:cNvPicPr>
            <a:picLocks noChangeAspect="1"/>
          </p:cNvPicPr>
          <p:nvPr/>
        </p:nvPicPr>
        <p:blipFill>
          <a:blip r:embed="rId2"/>
          <a:stretch>
            <a:fillRect/>
          </a:stretch>
        </p:blipFill>
        <p:spPr>
          <a:xfrm>
            <a:off x="2089150" y="292100"/>
            <a:ext cx="7772400" cy="6084890"/>
          </a:xfrm>
          <a:prstGeom prst="rect">
            <a:avLst/>
          </a:prstGeom>
        </p:spPr>
      </p:pic>
    </p:spTree>
    <p:extLst>
      <p:ext uri="{BB962C8B-B14F-4D97-AF65-F5344CB8AC3E}">
        <p14:creationId xmlns:p14="http://schemas.microsoft.com/office/powerpoint/2010/main" val="150562876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07FABDB-0C0A-0BFD-84DD-1B649CDFED02}"/>
              </a:ext>
            </a:extLst>
          </p:cNvPr>
          <p:cNvPicPr>
            <a:picLocks noChangeAspect="1"/>
          </p:cNvPicPr>
          <p:nvPr/>
        </p:nvPicPr>
        <p:blipFill>
          <a:blip r:embed="rId2"/>
          <a:stretch>
            <a:fillRect/>
          </a:stretch>
        </p:blipFill>
        <p:spPr>
          <a:xfrm>
            <a:off x="2089150" y="292100"/>
            <a:ext cx="7772400" cy="6084890"/>
          </a:xfrm>
          <a:prstGeom prst="rect">
            <a:avLst/>
          </a:prstGeom>
        </p:spPr>
      </p:pic>
    </p:spTree>
    <p:extLst>
      <p:ext uri="{BB962C8B-B14F-4D97-AF65-F5344CB8AC3E}">
        <p14:creationId xmlns:p14="http://schemas.microsoft.com/office/powerpoint/2010/main" val="272913213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E31CFC2-0478-92AA-C5C1-181A4F7BD627}"/>
              </a:ext>
            </a:extLst>
          </p:cNvPr>
          <p:cNvPicPr>
            <a:picLocks noChangeAspect="1"/>
          </p:cNvPicPr>
          <p:nvPr/>
        </p:nvPicPr>
        <p:blipFill>
          <a:blip r:embed="rId2"/>
          <a:stretch>
            <a:fillRect/>
          </a:stretch>
        </p:blipFill>
        <p:spPr>
          <a:xfrm>
            <a:off x="2089150" y="292100"/>
            <a:ext cx="7772400" cy="6084890"/>
          </a:xfrm>
          <a:prstGeom prst="rect">
            <a:avLst/>
          </a:prstGeom>
        </p:spPr>
      </p:pic>
    </p:spTree>
    <p:extLst>
      <p:ext uri="{BB962C8B-B14F-4D97-AF65-F5344CB8AC3E}">
        <p14:creationId xmlns:p14="http://schemas.microsoft.com/office/powerpoint/2010/main" val="138686130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910EF37-86F4-6CBC-B392-E649D1BEE6E4}"/>
              </a:ext>
            </a:extLst>
          </p:cNvPr>
          <p:cNvPicPr>
            <a:picLocks noChangeAspect="1"/>
          </p:cNvPicPr>
          <p:nvPr/>
        </p:nvPicPr>
        <p:blipFill>
          <a:blip r:embed="rId2"/>
          <a:stretch>
            <a:fillRect/>
          </a:stretch>
        </p:blipFill>
        <p:spPr>
          <a:xfrm>
            <a:off x="2089150" y="292100"/>
            <a:ext cx="7772400" cy="6084890"/>
          </a:xfrm>
          <a:prstGeom prst="rect">
            <a:avLst/>
          </a:prstGeom>
        </p:spPr>
      </p:pic>
    </p:spTree>
    <p:extLst>
      <p:ext uri="{BB962C8B-B14F-4D97-AF65-F5344CB8AC3E}">
        <p14:creationId xmlns:p14="http://schemas.microsoft.com/office/powerpoint/2010/main" val="220271199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8B312F2-A1B5-05CC-BCC9-5E51273233B6}"/>
              </a:ext>
            </a:extLst>
          </p:cNvPr>
          <p:cNvPicPr>
            <a:picLocks noChangeAspect="1"/>
          </p:cNvPicPr>
          <p:nvPr/>
        </p:nvPicPr>
        <p:blipFill>
          <a:blip r:embed="rId2"/>
          <a:stretch>
            <a:fillRect/>
          </a:stretch>
        </p:blipFill>
        <p:spPr>
          <a:xfrm>
            <a:off x="2089150" y="292100"/>
            <a:ext cx="7772400" cy="6084890"/>
          </a:xfrm>
          <a:prstGeom prst="rect">
            <a:avLst/>
          </a:prstGeom>
        </p:spPr>
      </p:pic>
    </p:spTree>
    <p:extLst>
      <p:ext uri="{BB962C8B-B14F-4D97-AF65-F5344CB8AC3E}">
        <p14:creationId xmlns:p14="http://schemas.microsoft.com/office/powerpoint/2010/main" val="137916156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2EBC849-9B75-D902-5123-E5BE3C370522}"/>
              </a:ext>
            </a:extLst>
          </p:cNvPr>
          <p:cNvPicPr>
            <a:picLocks noChangeAspect="1"/>
          </p:cNvPicPr>
          <p:nvPr/>
        </p:nvPicPr>
        <p:blipFill>
          <a:blip r:embed="rId2"/>
          <a:stretch>
            <a:fillRect/>
          </a:stretch>
        </p:blipFill>
        <p:spPr>
          <a:xfrm>
            <a:off x="2044700" y="292100"/>
            <a:ext cx="7772400" cy="6018127"/>
          </a:xfrm>
          <a:prstGeom prst="rect">
            <a:avLst/>
          </a:prstGeom>
        </p:spPr>
      </p:pic>
    </p:spTree>
    <p:extLst>
      <p:ext uri="{BB962C8B-B14F-4D97-AF65-F5344CB8AC3E}">
        <p14:creationId xmlns:p14="http://schemas.microsoft.com/office/powerpoint/2010/main" val="229490913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CADBF-B0B6-5184-E531-65E492F735D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564517-288C-04C9-E378-39EDC2E8B6F1}"/>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0E9C401F-A3FD-B3C5-E866-AD40A524FD2B}"/>
              </a:ext>
            </a:extLst>
          </p:cNvPr>
          <p:cNvPicPr>
            <a:picLocks noChangeAspect="1"/>
          </p:cNvPicPr>
          <p:nvPr/>
        </p:nvPicPr>
        <p:blipFill>
          <a:blip r:embed="rId2"/>
          <a:stretch>
            <a:fillRect/>
          </a:stretch>
        </p:blipFill>
        <p:spPr>
          <a:xfrm>
            <a:off x="2089150" y="292100"/>
            <a:ext cx="7772400" cy="6084890"/>
          </a:xfrm>
          <a:prstGeom prst="rect">
            <a:avLst/>
          </a:prstGeom>
        </p:spPr>
      </p:pic>
    </p:spTree>
    <p:extLst>
      <p:ext uri="{BB962C8B-B14F-4D97-AF65-F5344CB8AC3E}">
        <p14:creationId xmlns:p14="http://schemas.microsoft.com/office/powerpoint/2010/main" val="267876907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81132-0611-99D8-61D7-D9C0CB3F534B}"/>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642C6A94-7905-A635-45F1-0018D9A6516C}"/>
              </a:ext>
            </a:extLst>
          </p:cNvPr>
          <p:cNvPicPr>
            <a:picLocks noGrp="1" noChangeAspect="1"/>
          </p:cNvPicPr>
          <p:nvPr>
            <p:ph idx="1"/>
          </p:nvPr>
        </p:nvPicPr>
        <p:blipFill>
          <a:blip r:embed="rId2"/>
          <a:stretch>
            <a:fillRect/>
          </a:stretch>
        </p:blipFill>
        <p:spPr>
          <a:xfrm>
            <a:off x="3179064" y="26420"/>
            <a:ext cx="5833872" cy="3200400"/>
          </a:xfrm>
          <a:prstGeom prst="rect">
            <a:avLst/>
          </a:prstGeom>
        </p:spPr>
      </p:pic>
      <p:pic>
        <p:nvPicPr>
          <p:cNvPr id="7" name="Picture 6">
            <a:extLst>
              <a:ext uri="{FF2B5EF4-FFF2-40B4-BE49-F238E27FC236}">
                <a16:creationId xmlns:a16="http://schemas.microsoft.com/office/drawing/2014/main" id="{4251906B-1208-AEE8-C1F4-D9F1569898EC}"/>
              </a:ext>
            </a:extLst>
          </p:cNvPr>
          <p:cNvPicPr>
            <a:picLocks noChangeAspect="1"/>
          </p:cNvPicPr>
          <p:nvPr/>
        </p:nvPicPr>
        <p:blipFill>
          <a:blip r:embed="rId3"/>
          <a:stretch>
            <a:fillRect/>
          </a:stretch>
        </p:blipFill>
        <p:spPr>
          <a:xfrm>
            <a:off x="3179062" y="3657600"/>
            <a:ext cx="5833874" cy="3200400"/>
          </a:xfrm>
          <a:prstGeom prst="rect">
            <a:avLst/>
          </a:prstGeom>
        </p:spPr>
      </p:pic>
    </p:spTree>
    <p:extLst>
      <p:ext uri="{BB962C8B-B14F-4D97-AF65-F5344CB8AC3E}">
        <p14:creationId xmlns:p14="http://schemas.microsoft.com/office/powerpoint/2010/main" val="1181824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88D2E-519D-5F5D-5F83-F64E1C18F268}"/>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CEAB8AF8-1C83-9C6A-53E1-229085FC0F86}"/>
              </a:ext>
            </a:extLst>
          </p:cNvPr>
          <p:cNvSpPr>
            <a:spLocks noGrp="1"/>
          </p:cNvSpPr>
          <p:nvPr>
            <p:ph idx="1"/>
          </p:nvPr>
        </p:nvSpPr>
        <p:spPr/>
        <p:txBody>
          <a:bodyPr/>
          <a:lstStyle/>
          <a:p>
            <a:r>
              <a:rPr lang="en-US" dirty="0"/>
              <a:t>Find matching control peat pixels for each treatment site based on environmental covariates, land cover, histosol %, distance to coast, drainage</a:t>
            </a:r>
          </a:p>
        </p:txBody>
      </p:sp>
    </p:spTree>
    <p:extLst>
      <p:ext uri="{BB962C8B-B14F-4D97-AF65-F5344CB8AC3E}">
        <p14:creationId xmlns:p14="http://schemas.microsoft.com/office/powerpoint/2010/main" val="359672058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6DD2E-722C-A1F0-B615-BB5C6C9131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A18E4C-64CA-9AC2-D7A8-E082A85C173A}"/>
              </a:ext>
            </a:extLst>
          </p:cNvPr>
          <p:cNvSpPr>
            <a:spLocks noGrp="1"/>
          </p:cNvSpPr>
          <p:nvPr>
            <p:ph type="ctrTitle"/>
          </p:nvPr>
        </p:nvSpPr>
        <p:spPr/>
        <p:txBody>
          <a:bodyPr/>
          <a:lstStyle/>
          <a:p>
            <a:r>
              <a:rPr lang="en-US" dirty="0"/>
              <a:t>6/24/26</a:t>
            </a:r>
          </a:p>
        </p:txBody>
      </p:sp>
      <p:sp>
        <p:nvSpPr>
          <p:cNvPr id="3" name="Subtitle 2">
            <a:extLst>
              <a:ext uri="{FF2B5EF4-FFF2-40B4-BE49-F238E27FC236}">
                <a16:creationId xmlns:a16="http://schemas.microsoft.com/office/drawing/2014/main" id="{E0A401D6-D3AB-EFD9-EA0E-4772DDCBCD8E}"/>
              </a:ext>
            </a:extLst>
          </p:cNvPr>
          <p:cNvSpPr>
            <a:spLocks noGrp="1"/>
          </p:cNvSpPr>
          <p:nvPr>
            <p:ph type="subTitle" idx="1"/>
          </p:nvPr>
        </p:nvSpPr>
        <p:spPr/>
        <p:txBody>
          <a:bodyPr>
            <a:normAutofit/>
          </a:bodyPr>
          <a:lstStyle/>
          <a:p>
            <a:r>
              <a:rPr lang="en-US" dirty="0"/>
              <a:t>Fire Product Comparison and validation against “ground truth” in NC and NC peatlands</a:t>
            </a:r>
          </a:p>
        </p:txBody>
      </p:sp>
    </p:spTree>
    <p:extLst>
      <p:ext uri="{BB962C8B-B14F-4D97-AF65-F5344CB8AC3E}">
        <p14:creationId xmlns:p14="http://schemas.microsoft.com/office/powerpoint/2010/main" val="25348289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EE01D-3055-7E77-8A33-85A25FD0A1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73B88A-012C-0F4D-DACF-A9FE14FF1DBB}"/>
              </a:ext>
            </a:extLst>
          </p:cNvPr>
          <p:cNvSpPr>
            <a:spLocks noGrp="1"/>
          </p:cNvSpPr>
          <p:nvPr>
            <p:ph type="ctrTitle"/>
          </p:nvPr>
        </p:nvSpPr>
        <p:spPr/>
        <p:txBody>
          <a:bodyPr/>
          <a:lstStyle/>
          <a:p>
            <a:r>
              <a:rPr lang="en-US" dirty="0"/>
              <a:t>Fire Product Comparison</a:t>
            </a:r>
          </a:p>
        </p:txBody>
      </p:sp>
      <p:sp>
        <p:nvSpPr>
          <p:cNvPr id="3" name="Subtitle 2">
            <a:extLst>
              <a:ext uri="{FF2B5EF4-FFF2-40B4-BE49-F238E27FC236}">
                <a16:creationId xmlns:a16="http://schemas.microsoft.com/office/drawing/2014/main" id="{B411AA19-529F-FDD4-D692-42083B53F602}"/>
              </a:ext>
            </a:extLst>
          </p:cNvPr>
          <p:cNvSpPr>
            <a:spLocks noGrp="1"/>
          </p:cNvSpPr>
          <p:nvPr>
            <p:ph type="subTitle" idx="1"/>
          </p:nvPr>
        </p:nvSpPr>
        <p:spPr/>
        <p:txBody>
          <a:bodyPr/>
          <a:lstStyle/>
          <a:p>
            <a:r>
              <a:rPr lang="en-US" dirty="0"/>
              <a:t>Comparison of fire products in NC peatlands</a:t>
            </a:r>
          </a:p>
        </p:txBody>
      </p:sp>
    </p:spTree>
    <p:extLst>
      <p:ext uri="{BB962C8B-B14F-4D97-AF65-F5344CB8AC3E}">
        <p14:creationId xmlns:p14="http://schemas.microsoft.com/office/powerpoint/2010/main" val="154798653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D804A-A7AD-E43E-1D19-F231E9CF36CF}"/>
              </a:ext>
            </a:extLst>
          </p:cNvPr>
          <p:cNvSpPr>
            <a:spLocks noGrp="1"/>
          </p:cNvSpPr>
          <p:nvPr>
            <p:ph type="title"/>
          </p:nvPr>
        </p:nvSpPr>
        <p:spPr/>
        <p:txBody>
          <a:bodyPr/>
          <a:lstStyle/>
          <a:p>
            <a:r>
              <a:rPr lang="en-US" dirty="0"/>
              <a:t>NC peatland extent</a:t>
            </a:r>
          </a:p>
        </p:txBody>
      </p:sp>
      <p:pic>
        <p:nvPicPr>
          <p:cNvPr id="5" name="Content Placeholder 4">
            <a:extLst>
              <a:ext uri="{FF2B5EF4-FFF2-40B4-BE49-F238E27FC236}">
                <a16:creationId xmlns:a16="http://schemas.microsoft.com/office/drawing/2014/main" id="{6E43E6ED-C485-5B42-27FC-00DEB598923E}"/>
              </a:ext>
            </a:extLst>
          </p:cNvPr>
          <p:cNvPicPr>
            <a:picLocks noGrp="1" noChangeAspect="1"/>
          </p:cNvPicPr>
          <p:nvPr>
            <p:ph idx="1"/>
          </p:nvPr>
        </p:nvPicPr>
        <p:blipFill>
          <a:blip r:embed="rId2"/>
          <a:stretch>
            <a:fillRect/>
          </a:stretch>
        </p:blipFill>
        <p:spPr>
          <a:xfrm>
            <a:off x="214746" y="1660184"/>
            <a:ext cx="5715000" cy="4254500"/>
          </a:xfrm>
          <a:prstGeom prst="rect">
            <a:avLst/>
          </a:prstGeom>
        </p:spPr>
      </p:pic>
      <p:sp>
        <p:nvSpPr>
          <p:cNvPr id="10" name="TextBox 9">
            <a:extLst>
              <a:ext uri="{FF2B5EF4-FFF2-40B4-BE49-F238E27FC236}">
                <a16:creationId xmlns:a16="http://schemas.microsoft.com/office/drawing/2014/main" id="{504C5D58-26AE-44DE-28AA-888C20F99CDF}"/>
              </a:ext>
            </a:extLst>
          </p:cNvPr>
          <p:cNvSpPr txBox="1"/>
          <p:nvPr/>
        </p:nvSpPr>
        <p:spPr>
          <a:xfrm>
            <a:off x="214746" y="1321356"/>
            <a:ext cx="5703869" cy="369332"/>
          </a:xfrm>
          <a:prstGeom prst="rect">
            <a:avLst/>
          </a:prstGeom>
          <a:noFill/>
        </p:spPr>
        <p:txBody>
          <a:bodyPr wrap="none" rtlCol="0">
            <a:spAutoFit/>
          </a:bodyPr>
          <a:lstStyle/>
          <a:p>
            <a:r>
              <a:rPr lang="en-US" dirty="0"/>
              <a:t>Original </a:t>
            </a:r>
            <a:r>
              <a:rPr lang="en-US" dirty="0" err="1"/>
              <a:t>lilleskov</a:t>
            </a:r>
            <a:r>
              <a:rPr lang="en-US" dirty="0"/>
              <a:t> et al 2025 data is in terms of histosol %</a:t>
            </a:r>
          </a:p>
        </p:txBody>
      </p:sp>
      <p:sp>
        <p:nvSpPr>
          <p:cNvPr id="11" name="TextBox 10">
            <a:extLst>
              <a:ext uri="{FF2B5EF4-FFF2-40B4-BE49-F238E27FC236}">
                <a16:creationId xmlns:a16="http://schemas.microsoft.com/office/drawing/2014/main" id="{A2A4D291-7D21-F763-5E66-63F56EE614FE}"/>
              </a:ext>
            </a:extLst>
          </p:cNvPr>
          <p:cNvSpPr txBox="1"/>
          <p:nvPr/>
        </p:nvSpPr>
        <p:spPr>
          <a:xfrm>
            <a:off x="6268136" y="1182856"/>
            <a:ext cx="5923864" cy="646331"/>
          </a:xfrm>
          <a:prstGeom prst="rect">
            <a:avLst/>
          </a:prstGeom>
          <a:noFill/>
        </p:spPr>
        <p:txBody>
          <a:bodyPr wrap="square" rtlCol="0">
            <a:spAutoFit/>
          </a:bodyPr>
          <a:lstStyle/>
          <a:p>
            <a:r>
              <a:rPr lang="en-US" dirty="0"/>
              <a:t>Make a binary peat extent mask of where histosol % &gt; 0, merging adjacent peat pixels into contiguous blobs</a:t>
            </a:r>
          </a:p>
        </p:txBody>
      </p:sp>
      <p:grpSp>
        <p:nvGrpSpPr>
          <p:cNvPr id="4" name="Group 3">
            <a:extLst>
              <a:ext uri="{FF2B5EF4-FFF2-40B4-BE49-F238E27FC236}">
                <a16:creationId xmlns:a16="http://schemas.microsoft.com/office/drawing/2014/main" id="{D667D3B5-1107-488C-8D6D-4D78912039CA}"/>
              </a:ext>
            </a:extLst>
          </p:cNvPr>
          <p:cNvGrpSpPr/>
          <p:nvPr/>
        </p:nvGrpSpPr>
        <p:grpSpPr>
          <a:xfrm>
            <a:off x="6708912" y="2151403"/>
            <a:ext cx="5102087" cy="2480232"/>
            <a:chOff x="6708912" y="2151403"/>
            <a:chExt cx="5102087" cy="2480232"/>
          </a:xfrm>
        </p:grpSpPr>
        <p:pic>
          <p:nvPicPr>
            <p:cNvPr id="9" name="Picture 8">
              <a:extLst>
                <a:ext uri="{FF2B5EF4-FFF2-40B4-BE49-F238E27FC236}">
                  <a16:creationId xmlns:a16="http://schemas.microsoft.com/office/drawing/2014/main" id="{0CDA542F-3EFA-4612-A622-5857F6A20A2A}"/>
                </a:ext>
              </a:extLst>
            </p:cNvPr>
            <p:cNvPicPr>
              <a:picLocks noChangeAspect="1"/>
            </p:cNvPicPr>
            <p:nvPr/>
          </p:nvPicPr>
          <p:blipFill>
            <a:blip r:embed="rId3"/>
            <a:srcRect l="10724" b="18965"/>
            <a:stretch>
              <a:fillRect/>
            </a:stretch>
          </p:blipFill>
          <p:spPr>
            <a:xfrm>
              <a:off x="6708912" y="2151403"/>
              <a:ext cx="5102087" cy="2480232"/>
            </a:xfrm>
            <a:prstGeom prst="rect">
              <a:avLst/>
            </a:prstGeom>
          </p:spPr>
        </p:pic>
        <p:sp>
          <p:nvSpPr>
            <p:cNvPr id="3" name="Rectangle 2">
              <a:extLst>
                <a:ext uri="{FF2B5EF4-FFF2-40B4-BE49-F238E27FC236}">
                  <a16:creationId xmlns:a16="http://schemas.microsoft.com/office/drawing/2014/main" id="{C5264BC5-FB08-32D6-D21E-37BF7B11E711}"/>
                </a:ext>
              </a:extLst>
            </p:cNvPr>
            <p:cNvSpPr/>
            <p:nvPr/>
          </p:nvSpPr>
          <p:spPr>
            <a:xfrm>
              <a:off x="6708912" y="2151403"/>
              <a:ext cx="308114" cy="35701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Tree>
    <p:extLst>
      <p:ext uri="{BB962C8B-B14F-4D97-AF65-F5344CB8AC3E}">
        <p14:creationId xmlns:p14="http://schemas.microsoft.com/office/powerpoint/2010/main" val="258143763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C05D2-F37D-728E-B98C-E94A11FE5D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0327D0-8A34-935D-1F63-4AC684F2221F}"/>
              </a:ext>
            </a:extLst>
          </p:cNvPr>
          <p:cNvSpPr>
            <a:spLocks noGrp="1"/>
          </p:cNvSpPr>
          <p:nvPr>
            <p:ph type="title"/>
          </p:nvPr>
        </p:nvSpPr>
        <p:spPr>
          <a:xfrm>
            <a:off x="0" y="18255"/>
            <a:ext cx="10515600" cy="1325563"/>
          </a:xfrm>
        </p:spPr>
        <p:txBody>
          <a:bodyPr/>
          <a:lstStyle/>
          <a:p>
            <a:r>
              <a:rPr lang="en-US" dirty="0"/>
              <a:t>Occurrence Dataset (VIIRS) in NC peat</a:t>
            </a:r>
          </a:p>
        </p:txBody>
      </p:sp>
      <p:sp>
        <p:nvSpPr>
          <p:cNvPr id="3" name="Content Placeholder 2">
            <a:extLst>
              <a:ext uri="{FF2B5EF4-FFF2-40B4-BE49-F238E27FC236}">
                <a16:creationId xmlns:a16="http://schemas.microsoft.com/office/drawing/2014/main" id="{C878BA89-3647-65DE-2AB6-E346A11D4283}"/>
              </a:ext>
            </a:extLst>
          </p:cNvPr>
          <p:cNvSpPr>
            <a:spLocks noGrp="1"/>
          </p:cNvSpPr>
          <p:nvPr>
            <p:ph idx="1"/>
          </p:nvPr>
        </p:nvSpPr>
        <p:spPr>
          <a:xfrm>
            <a:off x="0" y="1021292"/>
            <a:ext cx="10515600" cy="4351338"/>
          </a:xfrm>
        </p:spPr>
        <p:txBody>
          <a:bodyPr/>
          <a:lstStyle/>
          <a:p>
            <a:r>
              <a:rPr lang="en-US" dirty="0"/>
              <a:t>Active-fire detections, 375m, 2012-present, data updates near real time</a:t>
            </a:r>
          </a:p>
        </p:txBody>
      </p:sp>
      <p:pic>
        <p:nvPicPr>
          <p:cNvPr id="6" name="Picture 5">
            <a:extLst>
              <a:ext uri="{FF2B5EF4-FFF2-40B4-BE49-F238E27FC236}">
                <a16:creationId xmlns:a16="http://schemas.microsoft.com/office/drawing/2014/main" id="{2D1C00CA-93D5-DF85-691F-0C9DE16461D8}"/>
              </a:ext>
            </a:extLst>
          </p:cNvPr>
          <p:cNvPicPr>
            <a:picLocks noChangeAspect="1"/>
          </p:cNvPicPr>
          <p:nvPr/>
        </p:nvPicPr>
        <p:blipFill>
          <a:blip r:embed="rId3"/>
          <a:stretch>
            <a:fillRect/>
          </a:stretch>
        </p:blipFill>
        <p:spPr>
          <a:xfrm>
            <a:off x="109220" y="2243785"/>
            <a:ext cx="6283915" cy="3447288"/>
          </a:xfrm>
          <a:prstGeom prst="rect">
            <a:avLst/>
          </a:prstGeom>
        </p:spPr>
      </p:pic>
      <p:pic>
        <p:nvPicPr>
          <p:cNvPr id="9" name="Picture 8">
            <a:extLst>
              <a:ext uri="{FF2B5EF4-FFF2-40B4-BE49-F238E27FC236}">
                <a16:creationId xmlns:a16="http://schemas.microsoft.com/office/drawing/2014/main" id="{34D73186-0B1D-B12E-51C1-08083EAD6E76}"/>
              </a:ext>
            </a:extLst>
          </p:cNvPr>
          <p:cNvPicPr>
            <a:picLocks noChangeAspect="1"/>
          </p:cNvPicPr>
          <p:nvPr/>
        </p:nvPicPr>
        <p:blipFill>
          <a:blip r:embed="rId4"/>
          <a:stretch>
            <a:fillRect/>
          </a:stretch>
        </p:blipFill>
        <p:spPr>
          <a:xfrm>
            <a:off x="6582156" y="1951177"/>
            <a:ext cx="5609844" cy="3739896"/>
          </a:xfrm>
          <a:prstGeom prst="rect">
            <a:avLst/>
          </a:prstGeom>
        </p:spPr>
      </p:pic>
    </p:spTree>
    <p:extLst>
      <p:ext uri="{BB962C8B-B14F-4D97-AF65-F5344CB8AC3E}">
        <p14:creationId xmlns:p14="http://schemas.microsoft.com/office/powerpoint/2010/main" val="245134387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A1D30-8314-91F9-6B0E-82A01A203D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833685-88D6-E390-1C7C-E8AC5E8879B9}"/>
              </a:ext>
            </a:extLst>
          </p:cNvPr>
          <p:cNvSpPr>
            <a:spLocks noGrp="1"/>
          </p:cNvSpPr>
          <p:nvPr>
            <p:ph type="title"/>
          </p:nvPr>
        </p:nvSpPr>
        <p:spPr>
          <a:xfrm>
            <a:off x="0" y="-428625"/>
            <a:ext cx="5786438" cy="1325563"/>
          </a:xfrm>
        </p:spPr>
        <p:txBody>
          <a:bodyPr>
            <a:normAutofit/>
          </a:bodyPr>
          <a:lstStyle/>
          <a:p>
            <a:r>
              <a:rPr lang="en-US" sz="3200" dirty="0"/>
              <a:t>Burned Area Datasets</a:t>
            </a:r>
          </a:p>
        </p:txBody>
      </p:sp>
      <p:graphicFrame>
        <p:nvGraphicFramePr>
          <p:cNvPr id="4" name="Table 3">
            <a:extLst>
              <a:ext uri="{FF2B5EF4-FFF2-40B4-BE49-F238E27FC236}">
                <a16:creationId xmlns:a16="http://schemas.microsoft.com/office/drawing/2014/main" id="{471C2EAF-B3E8-F341-C9E3-2D9EB55C1882}"/>
              </a:ext>
            </a:extLst>
          </p:cNvPr>
          <p:cNvGraphicFramePr>
            <a:graphicFrameLocks noGrp="1"/>
          </p:cNvGraphicFramePr>
          <p:nvPr>
            <p:extLst>
              <p:ext uri="{D42A27DB-BD31-4B8C-83A1-F6EECF244321}">
                <p14:modId xmlns:p14="http://schemas.microsoft.com/office/powerpoint/2010/main" val="1604881183"/>
              </p:ext>
            </p:extLst>
          </p:nvPr>
        </p:nvGraphicFramePr>
        <p:xfrm>
          <a:off x="6579117" y="3931920"/>
          <a:ext cx="5681664" cy="2926080"/>
        </p:xfrm>
        <a:graphic>
          <a:graphicData uri="http://schemas.openxmlformats.org/drawingml/2006/table">
            <a:tbl>
              <a:tblPr firstRow="1" bandRow="1">
                <a:tableStyleId>{5C22544A-7EE6-4342-B048-85BDC9FD1C3A}</a:tableStyleId>
              </a:tblPr>
              <a:tblGrid>
                <a:gridCol w="1420416">
                  <a:extLst>
                    <a:ext uri="{9D8B030D-6E8A-4147-A177-3AD203B41FA5}">
                      <a16:colId xmlns:a16="http://schemas.microsoft.com/office/drawing/2014/main" val="1771770966"/>
                    </a:ext>
                  </a:extLst>
                </a:gridCol>
                <a:gridCol w="1420416">
                  <a:extLst>
                    <a:ext uri="{9D8B030D-6E8A-4147-A177-3AD203B41FA5}">
                      <a16:colId xmlns:a16="http://schemas.microsoft.com/office/drawing/2014/main" val="3089676828"/>
                    </a:ext>
                  </a:extLst>
                </a:gridCol>
                <a:gridCol w="1420416">
                  <a:extLst>
                    <a:ext uri="{9D8B030D-6E8A-4147-A177-3AD203B41FA5}">
                      <a16:colId xmlns:a16="http://schemas.microsoft.com/office/drawing/2014/main" val="3161646855"/>
                    </a:ext>
                  </a:extLst>
                </a:gridCol>
                <a:gridCol w="1420416">
                  <a:extLst>
                    <a:ext uri="{9D8B030D-6E8A-4147-A177-3AD203B41FA5}">
                      <a16:colId xmlns:a16="http://schemas.microsoft.com/office/drawing/2014/main" val="748354975"/>
                    </a:ext>
                  </a:extLst>
                </a:gridCol>
              </a:tblGrid>
              <a:tr h="0">
                <a:tc>
                  <a:txBody>
                    <a:bodyPr/>
                    <a:lstStyle/>
                    <a:p>
                      <a:r>
                        <a:rPr lang="en-US" dirty="0"/>
                        <a:t>Product</a:t>
                      </a:r>
                    </a:p>
                  </a:txBody>
                  <a:tcPr/>
                </a:tc>
                <a:tc>
                  <a:txBody>
                    <a:bodyPr/>
                    <a:lstStyle/>
                    <a:p>
                      <a:r>
                        <a:rPr lang="en-US" dirty="0"/>
                        <a:t>Spatial Resolution</a:t>
                      </a:r>
                    </a:p>
                  </a:txBody>
                  <a:tcPr/>
                </a:tc>
                <a:tc>
                  <a:txBody>
                    <a:bodyPr/>
                    <a:lstStyle/>
                    <a:p>
                      <a:r>
                        <a:rPr lang="en-US" dirty="0"/>
                        <a:t>Temporal Coverage</a:t>
                      </a:r>
                    </a:p>
                  </a:txBody>
                  <a:tcPr/>
                </a:tc>
                <a:tc>
                  <a:txBody>
                    <a:bodyPr/>
                    <a:lstStyle/>
                    <a:p>
                      <a:r>
                        <a:rPr lang="en-US" dirty="0"/>
                        <a:t>Data Update Frequency</a:t>
                      </a:r>
                    </a:p>
                  </a:txBody>
                  <a:tcPr/>
                </a:tc>
                <a:extLst>
                  <a:ext uri="{0D108BD9-81ED-4DB2-BD59-A6C34878D82A}">
                    <a16:rowId xmlns:a16="http://schemas.microsoft.com/office/drawing/2014/main" val="2855813642"/>
                  </a:ext>
                </a:extLst>
              </a:tr>
              <a:tr h="524280">
                <a:tc>
                  <a:txBody>
                    <a:bodyPr/>
                    <a:lstStyle/>
                    <a:p>
                      <a:r>
                        <a:rPr lang="en-US" dirty="0"/>
                        <a:t>MODIS MCD64A1</a:t>
                      </a:r>
                    </a:p>
                  </a:txBody>
                  <a:tcPr/>
                </a:tc>
                <a:tc>
                  <a:txBody>
                    <a:bodyPr/>
                    <a:lstStyle/>
                    <a:p>
                      <a:r>
                        <a:rPr lang="en-US" dirty="0"/>
                        <a:t>500 m</a:t>
                      </a:r>
                    </a:p>
                  </a:txBody>
                  <a:tcPr/>
                </a:tc>
                <a:tc>
                  <a:txBody>
                    <a:bodyPr/>
                    <a:lstStyle/>
                    <a:p>
                      <a:r>
                        <a:rPr lang="en-US" dirty="0"/>
                        <a:t>Nov 2000 - present</a:t>
                      </a:r>
                    </a:p>
                  </a:txBody>
                  <a:tcPr/>
                </a:tc>
                <a:tc>
                  <a:txBody>
                    <a:bodyPr/>
                    <a:lstStyle/>
                    <a:p>
                      <a:r>
                        <a:rPr lang="en-US" dirty="0"/>
                        <a:t>Monthly</a:t>
                      </a:r>
                    </a:p>
                  </a:txBody>
                  <a:tcPr/>
                </a:tc>
                <a:extLst>
                  <a:ext uri="{0D108BD9-81ED-4DB2-BD59-A6C34878D82A}">
                    <a16:rowId xmlns:a16="http://schemas.microsoft.com/office/drawing/2014/main" val="3464984154"/>
                  </a:ext>
                </a:extLst>
              </a:tr>
              <a:tr h="299589">
                <a:tc>
                  <a:txBody>
                    <a:bodyPr/>
                    <a:lstStyle/>
                    <a:p>
                      <a:r>
                        <a:rPr lang="en-US" dirty="0"/>
                        <a:t>FireCCI51</a:t>
                      </a:r>
                    </a:p>
                  </a:txBody>
                  <a:tcPr/>
                </a:tc>
                <a:tc>
                  <a:txBody>
                    <a:bodyPr/>
                    <a:lstStyle/>
                    <a:p>
                      <a:r>
                        <a:rPr lang="en-US" dirty="0"/>
                        <a:t>250 m</a:t>
                      </a:r>
                    </a:p>
                  </a:txBody>
                  <a:tcPr/>
                </a:tc>
                <a:tc>
                  <a:txBody>
                    <a:bodyPr/>
                    <a:lstStyle/>
                    <a:p>
                      <a:r>
                        <a:rPr lang="en-US" dirty="0"/>
                        <a:t>2001-2020</a:t>
                      </a:r>
                    </a:p>
                  </a:txBody>
                  <a:tcPr/>
                </a:tc>
                <a:tc>
                  <a:txBody>
                    <a:bodyPr/>
                    <a:lstStyle/>
                    <a:p>
                      <a:r>
                        <a:rPr lang="en-US" dirty="0"/>
                        <a:t>Monthly</a:t>
                      </a:r>
                    </a:p>
                  </a:txBody>
                  <a:tcPr/>
                </a:tc>
                <a:extLst>
                  <a:ext uri="{0D108BD9-81ED-4DB2-BD59-A6C34878D82A}">
                    <a16:rowId xmlns:a16="http://schemas.microsoft.com/office/drawing/2014/main" val="729374592"/>
                  </a:ext>
                </a:extLst>
              </a:tr>
              <a:tr h="524280">
                <a:tc>
                  <a:txBody>
                    <a:bodyPr/>
                    <a:lstStyle/>
                    <a:p>
                      <a:r>
                        <a:rPr lang="en-US" dirty="0"/>
                        <a:t>FireCCIS311 (Sentinel-3)</a:t>
                      </a:r>
                    </a:p>
                  </a:txBody>
                  <a:tcPr/>
                </a:tc>
                <a:tc>
                  <a:txBody>
                    <a:bodyPr/>
                    <a:lstStyle/>
                    <a:p>
                      <a:r>
                        <a:rPr lang="en-US" dirty="0"/>
                        <a:t>300 m</a:t>
                      </a:r>
                    </a:p>
                  </a:txBody>
                  <a:tcPr/>
                </a:tc>
                <a:tc>
                  <a:txBody>
                    <a:bodyPr/>
                    <a:lstStyle/>
                    <a:p>
                      <a:r>
                        <a:rPr lang="en-US" dirty="0"/>
                        <a:t>~2019-present</a:t>
                      </a:r>
                    </a:p>
                  </a:txBody>
                  <a:tcPr/>
                </a:tc>
                <a:tc>
                  <a:txBody>
                    <a:bodyPr/>
                    <a:lstStyle/>
                    <a:p>
                      <a:r>
                        <a:rPr lang="en-US" dirty="0"/>
                        <a:t>Monthly</a:t>
                      </a:r>
                    </a:p>
                  </a:txBody>
                  <a:tcPr/>
                </a:tc>
                <a:extLst>
                  <a:ext uri="{0D108BD9-81ED-4DB2-BD59-A6C34878D82A}">
                    <a16:rowId xmlns:a16="http://schemas.microsoft.com/office/drawing/2014/main" val="3959075759"/>
                  </a:ext>
                </a:extLst>
              </a:tr>
              <a:tr h="299589">
                <a:tc>
                  <a:txBody>
                    <a:bodyPr/>
                    <a:lstStyle/>
                    <a:p>
                      <a:r>
                        <a:rPr lang="en-US" dirty="0">
                          <a:solidFill>
                            <a:schemeClr val="tx1"/>
                          </a:solidFill>
                        </a:rPr>
                        <a:t>GABAM</a:t>
                      </a:r>
                    </a:p>
                  </a:txBody>
                  <a:tcPr/>
                </a:tc>
                <a:tc>
                  <a:txBody>
                    <a:bodyPr/>
                    <a:lstStyle/>
                    <a:p>
                      <a:r>
                        <a:rPr lang="en-US" dirty="0">
                          <a:solidFill>
                            <a:schemeClr val="tx1"/>
                          </a:solidFill>
                        </a:rPr>
                        <a:t>30 m</a:t>
                      </a:r>
                    </a:p>
                  </a:txBody>
                  <a:tcPr/>
                </a:tc>
                <a:tc>
                  <a:txBody>
                    <a:bodyPr/>
                    <a:lstStyle/>
                    <a:p>
                      <a:r>
                        <a:rPr lang="en-US" dirty="0">
                          <a:solidFill>
                            <a:schemeClr val="tx1"/>
                          </a:solidFill>
                        </a:rPr>
                        <a:t>1985-2021</a:t>
                      </a:r>
                    </a:p>
                  </a:txBody>
                  <a:tcPr/>
                </a:tc>
                <a:tc>
                  <a:txBody>
                    <a:bodyPr/>
                    <a:lstStyle/>
                    <a:p>
                      <a:r>
                        <a:rPr lang="en-US" dirty="0">
                          <a:solidFill>
                            <a:schemeClr val="tx1"/>
                          </a:solidFill>
                        </a:rPr>
                        <a:t>Annual</a:t>
                      </a:r>
                    </a:p>
                  </a:txBody>
                  <a:tcPr/>
                </a:tc>
                <a:extLst>
                  <a:ext uri="{0D108BD9-81ED-4DB2-BD59-A6C34878D82A}">
                    <a16:rowId xmlns:a16="http://schemas.microsoft.com/office/drawing/2014/main" val="1263148468"/>
                  </a:ext>
                </a:extLst>
              </a:tr>
            </a:tbl>
          </a:graphicData>
        </a:graphic>
      </p:graphicFrame>
      <p:pic>
        <p:nvPicPr>
          <p:cNvPr id="9" name="Picture 8">
            <a:extLst>
              <a:ext uri="{FF2B5EF4-FFF2-40B4-BE49-F238E27FC236}">
                <a16:creationId xmlns:a16="http://schemas.microsoft.com/office/drawing/2014/main" id="{029A730A-EE1C-292B-A3CE-FC038FB240E0}"/>
              </a:ext>
            </a:extLst>
          </p:cNvPr>
          <p:cNvPicPr>
            <a:picLocks noChangeAspect="1"/>
          </p:cNvPicPr>
          <p:nvPr/>
        </p:nvPicPr>
        <p:blipFill>
          <a:blip r:embed="rId3"/>
          <a:stretch>
            <a:fillRect/>
          </a:stretch>
        </p:blipFill>
        <p:spPr>
          <a:xfrm>
            <a:off x="104773" y="3840480"/>
            <a:ext cx="5500509" cy="3017520"/>
          </a:xfrm>
          <a:prstGeom prst="rect">
            <a:avLst/>
          </a:prstGeom>
        </p:spPr>
      </p:pic>
      <p:pic>
        <p:nvPicPr>
          <p:cNvPr id="11" name="Picture 10">
            <a:extLst>
              <a:ext uri="{FF2B5EF4-FFF2-40B4-BE49-F238E27FC236}">
                <a16:creationId xmlns:a16="http://schemas.microsoft.com/office/drawing/2014/main" id="{ACDCED23-1FD6-B3AC-E72F-B46136A2DCCF}"/>
              </a:ext>
            </a:extLst>
          </p:cNvPr>
          <p:cNvPicPr>
            <a:picLocks noChangeAspect="1"/>
          </p:cNvPicPr>
          <p:nvPr/>
        </p:nvPicPr>
        <p:blipFill>
          <a:blip r:embed="rId4"/>
          <a:stretch>
            <a:fillRect/>
          </a:stretch>
        </p:blipFill>
        <p:spPr>
          <a:xfrm>
            <a:off x="104773" y="631914"/>
            <a:ext cx="5500509" cy="3017520"/>
          </a:xfrm>
          <a:prstGeom prst="rect">
            <a:avLst/>
          </a:prstGeom>
        </p:spPr>
      </p:pic>
      <p:pic>
        <p:nvPicPr>
          <p:cNvPr id="13" name="Picture 12">
            <a:extLst>
              <a:ext uri="{FF2B5EF4-FFF2-40B4-BE49-F238E27FC236}">
                <a16:creationId xmlns:a16="http://schemas.microsoft.com/office/drawing/2014/main" id="{92029F67-E5E7-BF5F-FB91-D3B282670F55}"/>
              </a:ext>
            </a:extLst>
          </p:cNvPr>
          <p:cNvPicPr>
            <a:picLocks noChangeAspect="1"/>
          </p:cNvPicPr>
          <p:nvPr/>
        </p:nvPicPr>
        <p:blipFill>
          <a:blip r:embed="rId5"/>
          <a:stretch>
            <a:fillRect/>
          </a:stretch>
        </p:blipFill>
        <p:spPr>
          <a:xfrm>
            <a:off x="6579117" y="81420"/>
            <a:ext cx="4441308" cy="3767745"/>
          </a:xfrm>
          <a:prstGeom prst="rect">
            <a:avLst/>
          </a:prstGeom>
        </p:spPr>
      </p:pic>
    </p:spTree>
    <p:extLst>
      <p:ext uri="{BB962C8B-B14F-4D97-AF65-F5344CB8AC3E}">
        <p14:creationId xmlns:p14="http://schemas.microsoft.com/office/powerpoint/2010/main" val="191852982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43B82-5949-2354-A2E9-D8A45CA141F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C3AFAEC-8CC7-D765-A87C-616EE9AF9B36}"/>
              </a:ext>
            </a:extLst>
          </p:cNvPr>
          <p:cNvPicPr>
            <a:picLocks noChangeAspect="1"/>
          </p:cNvPicPr>
          <p:nvPr/>
        </p:nvPicPr>
        <p:blipFill>
          <a:blip r:embed="rId3"/>
          <a:stretch>
            <a:fillRect/>
          </a:stretch>
        </p:blipFill>
        <p:spPr>
          <a:xfrm>
            <a:off x="7256703" y="0"/>
            <a:ext cx="4146638" cy="3657600"/>
          </a:xfrm>
          <a:prstGeom prst="rect">
            <a:avLst/>
          </a:prstGeom>
        </p:spPr>
      </p:pic>
      <p:pic>
        <p:nvPicPr>
          <p:cNvPr id="5" name="Picture 4">
            <a:extLst>
              <a:ext uri="{FF2B5EF4-FFF2-40B4-BE49-F238E27FC236}">
                <a16:creationId xmlns:a16="http://schemas.microsoft.com/office/drawing/2014/main" id="{2BD4890D-6CB6-D250-0B6E-62CDC94FDE5E}"/>
              </a:ext>
            </a:extLst>
          </p:cNvPr>
          <p:cNvPicPr>
            <a:picLocks noChangeAspect="1"/>
          </p:cNvPicPr>
          <p:nvPr/>
        </p:nvPicPr>
        <p:blipFill>
          <a:blip r:embed="rId4"/>
          <a:stretch>
            <a:fillRect/>
          </a:stretch>
        </p:blipFill>
        <p:spPr>
          <a:xfrm>
            <a:off x="7349247" y="3657600"/>
            <a:ext cx="4851562" cy="3200400"/>
          </a:xfrm>
          <a:prstGeom prst="rect">
            <a:avLst/>
          </a:prstGeom>
        </p:spPr>
      </p:pic>
      <p:pic>
        <p:nvPicPr>
          <p:cNvPr id="8" name="Picture 7">
            <a:extLst>
              <a:ext uri="{FF2B5EF4-FFF2-40B4-BE49-F238E27FC236}">
                <a16:creationId xmlns:a16="http://schemas.microsoft.com/office/drawing/2014/main" id="{E93BA5BC-318C-17F1-D880-6D718F5123E4}"/>
              </a:ext>
            </a:extLst>
          </p:cNvPr>
          <p:cNvPicPr>
            <a:picLocks noChangeAspect="1"/>
          </p:cNvPicPr>
          <p:nvPr/>
        </p:nvPicPr>
        <p:blipFill>
          <a:blip r:embed="rId5"/>
          <a:stretch>
            <a:fillRect/>
          </a:stretch>
        </p:blipFill>
        <p:spPr>
          <a:xfrm>
            <a:off x="-51719" y="0"/>
            <a:ext cx="4987017" cy="3324678"/>
          </a:xfrm>
          <a:prstGeom prst="rect">
            <a:avLst/>
          </a:prstGeom>
        </p:spPr>
      </p:pic>
      <p:pic>
        <p:nvPicPr>
          <p:cNvPr id="11" name="Picture 10">
            <a:extLst>
              <a:ext uri="{FF2B5EF4-FFF2-40B4-BE49-F238E27FC236}">
                <a16:creationId xmlns:a16="http://schemas.microsoft.com/office/drawing/2014/main" id="{CD4D7613-EAA0-170C-09B0-A4DCF8C6B9CB}"/>
              </a:ext>
            </a:extLst>
          </p:cNvPr>
          <p:cNvPicPr>
            <a:picLocks noChangeAspect="1"/>
          </p:cNvPicPr>
          <p:nvPr/>
        </p:nvPicPr>
        <p:blipFill>
          <a:blip r:embed="rId6"/>
          <a:stretch>
            <a:fillRect/>
          </a:stretch>
        </p:blipFill>
        <p:spPr>
          <a:xfrm>
            <a:off x="0" y="3324678"/>
            <a:ext cx="4992624" cy="3328416"/>
          </a:xfrm>
          <a:prstGeom prst="rect">
            <a:avLst/>
          </a:prstGeom>
        </p:spPr>
      </p:pic>
      <p:pic>
        <p:nvPicPr>
          <p:cNvPr id="18" name="Picture 17">
            <a:extLst>
              <a:ext uri="{FF2B5EF4-FFF2-40B4-BE49-F238E27FC236}">
                <a16:creationId xmlns:a16="http://schemas.microsoft.com/office/drawing/2014/main" id="{7A281A4B-6898-4D17-5591-4369E07C6EEE}"/>
              </a:ext>
            </a:extLst>
          </p:cNvPr>
          <p:cNvPicPr>
            <a:picLocks noChangeAspect="1"/>
          </p:cNvPicPr>
          <p:nvPr/>
        </p:nvPicPr>
        <p:blipFill>
          <a:blip r:embed="rId7"/>
          <a:stretch>
            <a:fillRect/>
          </a:stretch>
        </p:blipFill>
        <p:spPr>
          <a:xfrm>
            <a:off x="0" y="6858000"/>
            <a:ext cx="4992624" cy="3328416"/>
          </a:xfrm>
          <a:prstGeom prst="rect">
            <a:avLst/>
          </a:prstGeom>
        </p:spPr>
      </p:pic>
    </p:spTree>
    <p:extLst>
      <p:ext uri="{BB962C8B-B14F-4D97-AF65-F5344CB8AC3E}">
        <p14:creationId xmlns:p14="http://schemas.microsoft.com/office/powerpoint/2010/main" val="414999778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915F49-2C72-2F06-1EE3-CA170CFEB15E}"/>
              </a:ext>
            </a:extLst>
          </p:cNvPr>
          <p:cNvPicPr>
            <a:picLocks noChangeAspect="1"/>
          </p:cNvPicPr>
          <p:nvPr/>
        </p:nvPicPr>
        <p:blipFill>
          <a:blip r:embed="rId3"/>
          <a:stretch>
            <a:fillRect/>
          </a:stretch>
        </p:blipFill>
        <p:spPr>
          <a:xfrm>
            <a:off x="187017" y="100584"/>
            <a:ext cx="4992624" cy="3328416"/>
          </a:xfrm>
          <a:prstGeom prst="rect">
            <a:avLst/>
          </a:prstGeom>
        </p:spPr>
      </p:pic>
      <p:pic>
        <p:nvPicPr>
          <p:cNvPr id="6" name="Picture 5">
            <a:extLst>
              <a:ext uri="{FF2B5EF4-FFF2-40B4-BE49-F238E27FC236}">
                <a16:creationId xmlns:a16="http://schemas.microsoft.com/office/drawing/2014/main" id="{B4476A9F-1056-709C-3D96-BEEE4577BC13}"/>
              </a:ext>
            </a:extLst>
          </p:cNvPr>
          <p:cNvPicPr>
            <a:picLocks noChangeAspect="1"/>
          </p:cNvPicPr>
          <p:nvPr/>
        </p:nvPicPr>
        <p:blipFill>
          <a:blip r:embed="rId4"/>
          <a:stretch>
            <a:fillRect/>
          </a:stretch>
        </p:blipFill>
        <p:spPr>
          <a:xfrm>
            <a:off x="187017" y="3249385"/>
            <a:ext cx="4992624" cy="3328416"/>
          </a:xfrm>
          <a:prstGeom prst="rect">
            <a:avLst/>
          </a:prstGeom>
        </p:spPr>
      </p:pic>
      <p:pic>
        <p:nvPicPr>
          <p:cNvPr id="10" name="Picture 9">
            <a:extLst>
              <a:ext uri="{FF2B5EF4-FFF2-40B4-BE49-F238E27FC236}">
                <a16:creationId xmlns:a16="http://schemas.microsoft.com/office/drawing/2014/main" id="{67408658-3F12-8BC7-4C86-21C54847644D}"/>
              </a:ext>
            </a:extLst>
          </p:cNvPr>
          <p:cNvPicPr>
            <a:picLocks noChangeAspect="1"/>
          </p:cNvPicPr>
          <p:nvPr/>
        </p:nvPicPr>
        <p:blipFill>
          <a:blip r:embed="rId5"/>
          <a:stretch>
            <a:fillRect/>
          </a:stretch>
        </p:blipFill>
        <p:spPr>
          <a:xfrm>
            <a:off x="5426765" y="3249385"/>
            <a:ext cx="4992624" cy="3328416"/>
          </a:xfrm>
          <a:prstGeom prst="rect">
            <a:avLst/>
          </a:prstGeom>
        </p:spPr>
      </p:pic>
    </p:spTree>
    <p:extLst>
      <p:ext uri="{BB962C8B-B14F-4D97-AF65-F5344CB8AC3E}">
        <p14:creationId xmlns:p14="http://schemas.microsoft.com/office/powerpoint/2010/main" val="404319624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613C9-E5C5-E7F2-F578-742E8C2DAA9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E8B35BD-4520-7D7E-3569-167444D9338E}"/>
              </a:ext>
            </a:extLst>
          </p:cNvPr>
          <p:cNvSpPr txBox="1">
            <a:spLocks/>
          </p:cNvSpPr>
          <p:nvPr/>
        </p:nvSpPr>
        <p:spPr>
          <a:xfrm>
            <a:off x="0" y="0"/>
            <a:ext cx="373075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Severity Datasets</a:t>
            </a:r>
          </a:p>
        </p:txBody>
      </p:sp>
      <p:graphicFrame>
        <p:nvGraphicFramePr>
          <p:cNvPr id="5" name="Table 4">
            <a:extLst>
              <a:ext uri="{FF2B5EF4-FFF2-40B4-BE49-F238E27FC236}">
                <a16:creationId xmlns:a16="http://schemas.microsoft.com/office/drawing/2014/main" id="{5BE55ED4-BE83-2C52-F4C3-EC20995D1BCE}"/>
              </a:ext>
            </a:extLst>
          </p:cNvPr>
          <p:cNvGraphicFramePr>
            <a:graphicFrameLocks noGrp="1"/>
          </p:cNvGraphicFramePr>
          <p:nvPr>
            <p:extLst>
              <p:ext uri="{D42A27DB-BD31-4B8C-83A1-F6EECF244321}">
                <p14:modId xmlns:p14="http://schemas.microsoft.com/office/powerpoint/2010/main" val="2580618101"/>
              </p:ext>
            </p:extLst>
          </p:nvPr>
        </p:nvGraphicFramePr>
        <p:xfrm>
          <a:off x="3227004" y="0"/>
          <a:ext cx="7610633" cy="2291080"/>
        </p:xfrm>
        <a:graphic>
          <a:graphicData uri="http://schemas.openxmlformats.org/drawingml/2006/table">
            <a:tbl>
              <a:tblPr firstRow="1" bandRow="1">
                <a:tableStyleId>{5C22544A-7EE6-4342-B048-85BDC9FD1C3A}</a:tableStyleId>
              </a:tblPr>
              <a:tblGrid>
                <a:gridCol w="1327277">
                  <a:extLst>
                    <a:ext uri="{9D8B030D-6E8A-4147-A177-3AD203B41FA5}">
                      <a16:colId xmlns:a16="http://schemas.microsoft.com/office/drawing/2014/main" val="1771770966"/>
                    </a:ext>
                  </a:extLst>
                </a:gridCol>
                <a:gridCol w="2094452">
                  <a:extLst>
                    <a:ext uri="{9D8B030D-6E8A-4147-A177-3AD203B41FA5}">
                      <a16:colId xmlns:a16="http://schemas.microsoft.com/office/drawing/2014/main" val="3089676828"/>
                    </a:ext>
                  </a:extLst>
                </a:gridCol>
                <a:gridCol w="2094452">
                  <a:extLst>
                    <a:ext uri="{9D8B030D-6E8A-4147-A177-3AD203B41FA5}">
                      <a16:colId xmlns:a16="http://schemas.microsoft.com/office/drawing/2014/main" val="3161646855"/>
                    </a:ext>
                  </a:extLst>
                </a:gridCol>
                <a:gridCol w="2094452">
                  <a:extLst>
                    <a:ext uri="{9D8B030D-6E8A-4147-A177-3AD203B41FA5}">
                      <a16:colId xmlns:a16="http://schemas.microsoft.com/office/drawing/2014/main" val="748354975"/>
                    </a:ext>
                  </a:extLst>
                </a:gridCol>
              </a:tblGrid>
              <a:tr h="0">
                <a:tc>
                  <a:txBody>
                    <a:bodyPr/>
                    <a:lstStyle/>
                    <a:p>
                      <a:r>
                        <a:rPr lang="en-US" dirty="0"/>
                        <a:t>Product</a:t>
                      </a:r>
                    </a:p>
                  </a:txBody>
                  <a:tcPr/>
                </a:tc>
                <a:tc>
                  <a:txBody>
                    <a:bodyPr/>
                    <a:lstStyle/>
                    <a:p>
                      <a:r>
                        <a:rPr lang="en-US" dirty="0"/>
                        <a:t>Spatial Resolution</a:t>
                      </a:r>
                    </a:p>
                  </a:txBody>
                  <a:tcPr/>
                </a:tc>
                <a:tc>
                  <a:txBody>
                    <a:bodyPr/>
                    <a:lstStyle/>
                    <a:p>
                      <a:r>
                        <a:rPr lang="en-US" dirty="0"/>
                        <a:t>Temporal Coverage</a:t>
                      </a:r>
                    </a:p>
                  </a:txBody>
                  <a:tcPr/>
                </a:tc>
                <a:tc>
                  <a:txBody>
                    <a:bodyPr/>
                    <a:lstStyle/>
                    <a:p>
                      <a:r>
                        <a:rPr lang="en-US" dirty="0"/>
                        <a:t>Data Update Frequency</a:t>
                      </a:r>
                    </a:p>
                  </a:txBody>
                  <a:tcPr/>
                </a:tc>
                <a:extLst>
                  <a:ext uri="{0D108BD9-81ED-4DB2-BD59-A6C34878D82A}">
                    <a16:rowId xmlns:a16="http://schemas.microsoft.com/office/drawing/2014/main" val="2855813642"/>
                  </a:ext>
                </a:extLst>
              </a:tr>
              <a:tr h="370840">
                <a:tc>
                  <a:txBody>
                    <a:bodyPr/>
                    <a:lstStyle/>
                    <a:p>
                      <a:r>
                        <a:rPr lang="en-US" dirty="0"/>
                        <a:t>MODIS MOSEV </a:t>
                      </a:r>
                    </a:p>
                  </a:txBody>
                  <a:tcPr/>
                </a:tc>
                <a:tc>
                  <a:txBody>
                    <a:bodyPr/>
                    <a:lstStyle/>
                    <a:p>
                      <a:r>
                        <a:rPr lang="en-US" dirty="0"/>
                        <a:t>500 m</a:t>
                      </a:r>
                    </a:p>
                  </a:txBody>
                  <a:tcPr/>
                </a:tc>
                <a:tc>
                  <a:txBody>
                    <a:bodyPr/>
                    <a:lstStyle/>
                    <a:p>
                      <a:r>
                        <a:rPr lang="en-US" dirty="0"/>
                        <a:t>Nov 2000 - present</a:t>
                      </a:r>
                    </a:p>
                  </a:txBody>
                  <a:tcPr/>
                </a:tc>
                <a:tc>
                  <a:txBody>
                    <a:bodyPr/>
                    <a:lstStyle/>
                    <a:p>
                      <a:r>
                        <a:rPr lang="en-US" dirty="0"/>
                        <a:t>Monthly</a:t>
                      </a:r>
                    </a:p>
                  </a:txBody>
                  <a:tcPr/>
                </a:tc>
                <a:extLst>
                  <a:ext uri="{0D108BD9-81ED-4DB2-BD59-A6C34878D82A}">
                    <a16:rowId xmlns:a16="http://schemas.microsoft.com/office/drawing/2014/main" val="3464984154"/>
                  </a:ext>
                </a:extLst>
              </a:tr>
              <a:tr h="370840">
                <a:tc>
                  <a:txBody>
                    <a:bodyPr/>
                    <a:lstStyle/>
                    <a:p>
                      <a:r>
                        <a:rPr lang="en-US" dirty="0">
                          <a:solidFill>
                            <a:schemeClr val="tx1"/>
                          </a:solidFill>
                        </a:rPr>
                        <a:t>MTBS</a:t>
                      </a:r>
                    </a:p>
                  </a:txBody>
                  <a:tcPr/>
                </a:tc>
                <a:tc>
                  <a:txBody>
                    <a:bodyPr/>
                    <a:lstStyle/>
                    <a:p>
                      <a:r>
                        <a:rPr lang="en-US" dirty="0">
                          <a:solidFill>
                            <a:schemeClr val="tx1"/>
                          </a:solidFill>
                        </a:rPr>
                        <a:t>30 m</a:t>
                      </a:r>
                    </a:p>
                  </a:txBody>
                  <a:tcPr/>
                </a:tc>
                <a:tc>
                  <a:txBody>
                    <a:bodyPr/>
                    <a:lstStyle/>
                    <a:p>
                      <a:r>
                        <a:rPr lang="en-US" dirty="0">
                          <a:solidFill>
                            <a:schemeClr val="tx1"/>
                          </a:solidFill>
                        </a:rPr>
                        <a:t>1984-present</a:t>
                      </a:r>
                    </a:p>
                  </a:txBody>
                  <a:tcPr/>
                </a:tc>
                <a:tc>
                  <a:txBody>
                    <a:bodyPr/>
                    <a:lstStyle/>
                    <a:p>
                      <a:r>
                        <a:rPr lang="en-US" dirty="0">
                          <a:solidFill>
                            <a:schemeClr val="tx1"/>
                          </a:solidFill>
                        </a:rPr>
                        <a:t>Annual</a:t>
                      </a:r>
                    </a:p>
                  </a:txBody>
                  <a:tcPr/>
                </a:tc>
                <a:extLst>
                  <a:ext uri="{0D108BD9-81ED-4DB2-BD59-A6C34878D82A}">
                    <a16:rowId xmlns:a16="http://schemas.microsoft.com/office/drawing/2014/main" val="729374592"/>
                  </a:ext>
                </a:extLst>
              </a:tr>
              <a:tr h="370840">
                <a:tc>
                  <a:txBody>
                    <a:bodyPr/>
                    <a:lstStyle/>
                    <a:p>
                      <a:r>
                        <a:rPr lang="en-US" dirty="0">
                          <a:solidFill>
                            <a:schemeClr val="tx1"/>
                          </a:solidFill>
                        </a:rPr>
                        <a:t>SE </a:t>
                      </a:r>
                      <a:r>
                        <a:rPr lang="en-US" dirty="0" err="1">
                          <a:solidFill>
                            <a:schemeClr val="tx1"/>
                          </a:solidFill>
                        </a:rPr>
                        <a:t>FireMap</a:t>
                      </a:r>
                      <a:endParaRPr lang="en-US" dirty="0">
                        <a:solidFill>
                          <a:schemeClr val="tx1"/>
                        </a:solidFill>
                      </a:endParaRPr>
                    </a:p>
                  </a:txBody>
                  <a:tcPr/>
                </a:tc>
                <a:tc>
                  <a:txBody>
                    <a:bodyPr/>
                    <a:lstStyle/>
                    <a:p>
                      <a:r>
                        <a:rPr lang="en-US" dirty="0">
                          <a:solidFill>
                            <a:schemeClr val="tx1"/>
                          </a:solidFill>
                        </a:rPr>
                        <a:t>30 m (designed for small SE fires)</a:t>
                      </a:r>
                    </a:p>
                  </a:txBody>
                  <a:tcPr/>
                </a:tc>
                <a:tc>
                  <a:txBody>
                    <a:bodyPr/>
                    <a:lstStyle/>
                    <a:p>
                      <a:r>
                        <a:rPr lang="en-US" dirty="0">
                          <a:solidFill>
                            <a:schemeClr val="tx1"/>
                          </a:solidFill>
                        </a:rPr>
                        <a:t>2000-2022</a:t>
                      </a:r>
                    </a:p>
                  </a:txBody>
                  <a:tcPr/>
                </a:tc>
                <a:tc>
                  <a:txBody>
                    <a:bodyPr/>
                    <a:lstStyle/>
                    <a:p>
                      <a:r>
                        <a:rPr lang="en-US" dirty="0">
                          <a:solidFill>
                            <a:schemeClr val="tx1"/>
                          </a:solidFill>
                        </a:rPr>
                        <a:t>Annual</a:t>
                      </a:r>
                    </a:p>
                  </a:txBody>
                  <a:tcPr/>
                </a:tc>
                <a:extLst>
                  <a:ext uri="{0D108BD9-81ED-4DB2-BD59-A6C34878D82A}">
                    <a16:rowId xmlns:a16="http://schemas.microsoft.com/office/drawing/2014/main" val="3959075759"/>
                  </a:ext>
                </a:extLst>
              </a:tr>
            </a:tbl>
          </a:graphicData>
        </a:graphic>
      </p:graphicFrame>
      <p:pic>
        <p:nvPicPr>
          <p:cNvPr id="3" name="Picture 2">
            <a:extLst>
              <a:ext uri="{FF2B5EF4-FFF2-40B4-BE49-F238E27FC236}">
                <a16:creationId xmlns:a16="http://schemas.microsoft.com/office/drawing/2014/main" id="{93D84DDE-1D18-8804-9D08-966626C3B638}"/>
              </a:ext>
            </a:extLst>
          </p:cNvPr>
          <p:cNvPicPr>
            <a:picLocks noChangeAspect="1"/>
          </p:cNvPicPr>
          <p:nvPr/>
        </p:nvPicPr>
        <p:blipFill>
          <a:blip r:embed="rId2"/>
          <a:stretch>
            <a:fillRect/>
          </a:stretch>
        </p:blipFill>
        <p:spPr>
          <a:xfrm>
            <a:off x="3422650" y="2293621"/>
            <a:ext cx="5346700" cy="4546600"/>
          </a:xfrm>
          <a:prstGeom prst="rect">
            <a:avLst/>
          </a:prstGeom>
        </p:spPr>
      </p:pic>
    </p:spTree>
    <p:extLst>
      <p:ext uri="{BB962C8B-B14F-4D97-AF65-F5344CB8AC3E}">
        <p14:creationId xmlns:p14="http://schemas.microsoft.com/office/powerpoint/2010/main" val="149511907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811E2-7587-5D17-6B91-AC84E6AF8DB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EFA0ECA-115A-927B-51A7-95DC21DD0BDA}"/>
              </a:ext>
            </a:extLst>
          </p:cNvPr>
          <p:cNvPicPr>
            <a:picLocks noChangeAspect="1"/>
          </p:cNvPicPr>
          <p:nvPr/>
        </p:nvPicPr>
        <p:blipFill>
          <a:blip r:embed="rId3"/>
          <a:stretch>
            <a:fillRect/>
          </a:stretch>
        </p:blipFill>
        <p:spPr>
          <a:xfrm>
            <a:off x="311728" y="103909"/>
            <a:ext cx="4937111" cy="3200400"/>
          </a:xfrm>
          <a:prstGeom prst="rect">
            <a:avLst/>
          </a:prstGeom>
        </p:spPr>
      </p:pic>
      <p:sp>
        <p:nvSpPr>
          <p:cNvPr id="7" name="Rectangle 6">
            <a:extLst>
              <a:ext uri="{FF2B5EF4-FFF2-40B4-BE49-F238E27FC236}">
                <a16:creationId xmlns:a16="http://schemas.microsoft.com/office/drawing/2014/main" id="{5483726D-FC42-2864-708D-D431703AFBFE}"/>
              </a:ext>
            </a:extLst>
          </p:cNvPr>
          <p:cNvSpPr/>
          <p:nvPr/>
        </p:nvSpPr>
        <p:spPr>
          <a:xfrm rot="16200000">
            <a:off x="4388227" y="1381380"/>
            <a:ext cx="1277471" cy="6454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err="1">
                <a:solidFill>
                  <a:schemeClr val="tx1"/>
                </a:solidFill>
              </a:rPr>
              <a:t>dNBR</a:t>
            </a:r>
            <a:endParaRPr lang="en-US" sz="1100" dirty="0">
              <a:solidFill>
                <a:schemeClr val="tx1"/>
              </a:solidFill>
            </a:endParaRPr>
          </a:p>
        </p:txBody>
      </p:sp>
      <p:sp>
        <p:nvSpPr>
          <p:cNvPr id="9" name="Rectangle 8">
            <a:extLst>
              <a:ext uri="{FF2B5EF4-FFF2-40B4-BE49-F238E27FC236}">
                <a16:creationId xmlns:a16="http://schemas.microsoft.com/office/drawing/2014/main" id="{072D2569-EB0F-A406-9205-210A1C4A022B}"/>
              </a:ext>
            </a:extLst>
          </p:cNvPr>
          <p:cNvSpPr/>
          <p:nvPr/>
        </p:nvSpPr>
        <p:spPr>
          <a:xfrm>
            <a:off x="10602686" y="3229429"/>
            <a:ext cx="297543" cy="4717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B89056D5-C6A3-8EA4-5E35-B8545EA8387E}"/>
              </a:ext>
            </a:extLst>
          </p:cNvPr>
          <p:cNvPicPr>
            <a:picLocks noChangeAspect="1"/>
          </p:cNvPicPr>
          <p:nvPr/>
        </p:nvPicPr>
        <p:blipFill>
          <a:blip r:embed="rId4"/>
          <a:stretch>
            <a:fillRect/>
          </a:stretch>
        </p:blipFill>
        <p:spPr>
          <a:xfrm>
            <a:off x="311728" y="3553692"/>
            <a:ext cx="4702010" cy="3200400"/>
          </a:xfrm>
          <a:prstGeom prst="rect">
            <a:avLst/>
          </a:prstGeom>
        </p:spPr>
      </p:pic>
      <p:pic>
        <p:nvPicPr>
          <p:cNvPr id="13" name="Picture 12">
            <a:extLst>
              <a:ext uri="{FF2B5EF4-FFF2-40B4-BE49-F238E27FC236}">
                <a16:creationId xmlns:a16="http://schemas.microsoft.com/office/drawing/2014/main" id="{026A34A0-2AE9-3922-CFB1-6DE3FD186FF0}"/>
              </a:ext>
            </a:extLst>
          </p:cNvPr>
          <p:cNvPicPr>
            <a:picLocks noChangeAspect="1"/>
          </p:cNvPicPr>
          <p:nvPr/>
        </p:nvPicPr>
        <p:blipFill>
          <a:blip r:embed="rId5"/>
          <a:stretch>
            <a:fillRect/>
          </a:stretch>
        </p:blipFill>
        <p:spPr>
          <a:xfrm>
            <a:off x="5917870" y="1960470"/>
            <a:ext cx="4648922" cy="3200400"/>
          </a:xfrm>
          <a:prstGeom prst="rect">
            <a:avLst/>
          </a:prstGeom>
        </p:spPr>
      </p:pic>
      <p:sp>
        <p:nvSpPr>
          <p:cNvPr id="14" name="Rectangle 13">
            <a:extLst>
              <a:ext uri="{FF2B5EF4-FFF2-40B4-BE49-F238E27FC236}">
                <a16:creationId xmlns:a16="http://schemas.microsoft.com/office/drawing/2014/main" id="{CFA501D4-B855-E58F-DDA2-32180F05D614}"/>
              </a:ext>
            </a:extLst>
          </p:cNvPr>
          <p:cNvSpPr/>
          <p:nvPr/>
        </p:nvSpPr>
        <p:spPr>
          <a:xfrm rot="16200000">
            <a:off x="10112721" y="3230963"/>
            <a:ext cx="1277471" cy="6454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CBI</a:t>
            </a:r>
          </a:p>
        </p:txBody>
      </p:sp>
    </p:spTree>
    <p:extLst>
      <p:ext uri="{BB962C8B-B14F-4D97-AF65-F5344CB8AC3E}">
        <p14:creationId xmlns:p14="http://schemas.microsoft.com/office/powerpoint/2010/main" val="158483364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AA6EC-9784-6AAC-7E36-8AB3458B44DC}"/>
              </a:ext>
            </a:extLst>
          </p:cNvPr>
          <p:cNvSpPr>
            <a:spLocks noGrp="1"/>
          </p:cNvSpPr>
          <p:nvPr>
            <p:ph type="ctrTitle"/>
          </p:nvPr>
        </p:nvSpPr>
        <p:spPr/>
        <p:txBody>
          <a:bodyPr>
            <a:normAutofit fontScale="90000"/>
          </a:bodyPr>
          <a:lstStyle/>
          <a:p>
            <a:r>
              <a:rPr lang="en-US" dirty="0"/>
              <a:t>Validation of fire products against “ground truth” reference datasets</a:t>
            </a:r>
          </a:p>
        </p:txBody>
      </p:sp>
      <p:sp>
        <p:nvSpPr>
          <p:cNvPr id="3" name="Subtitle 2">
            <a:extLst>
              <a:ext uri="{FF2B5EF4-FFF2-40B4-BE49-F238E27FC236}">
                <a16:creationId xmlns:a16="http://schemas.microsoft.com/office/drawing/2014/main" id="{FF96FB81-DE06-0200-578B-BD8C3E09F82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64337460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531CC-05CC-745C-F529-14EF9439F7F7}"/>
              </a:ext>
            </a:extLst>
          </p:cNvPr>
          <p:cNvSpPr>
            <a:spLocks noGrp="1"/>
          </p:cNvSpPr>
          <p:nvPr>
            <p:ph type="title"/>
          </p:nvPr>
        </p:nvSpPr>
        <p:spPr/>
        <p:txBody>
          <a:bodyPr/>
          <a:lstStyle/>
          <a:p>
            <a:r>
              <a:rPr lang="en-US" dirty="0"/>
              <a:t>Ground truth (reference) per-fire-event datasets – fire perimeter polygons</a:t>
            </a:r>
          </a:p>
        </p:txBody>
      </p:sp>
      <p:graphicFrame>
        <p:nvGraphicFramePr>
          <p:cNvPr id="4" name="Table 3">
            <a:extLst>
              <a:ext uri="{FF2B5EF4-FFF2-40B4-BE49-F238E27FC236}">
                <a16:creationId xmlns:a16="http://schemas.microsoft.com/office/drawing/2014/main" id="{326A968C-004D-6107-A532-B5234E4E3F71}"/>
              </a:ext>
            </a:extLst>
          </p:cNvPr>
          <p:cNvGraphicFramePr>
            <a:graphicFrameLocks noGrp="1"/>
          </p:cNvGraphicFramePr>
          <p:nvPr>
            <p:extLst>
              <p:ext uri="{D42A27DB-BD31-4B8C-83A1-F6EECF244321}">
                <p14:modId xmlns:p14="http://schemas.microsoft.com/office/powerpoint/2010/main" val="3827749020"/>
              </p:ext>
            </p:extLst>
          </p:nvPr>
        </p:nvGraphicFramePr>
        <p:xfrm>
          <a:off x="967698" y="1690688"/>
          <a:ext cx="8910819" cy="3573677"/>
        </p:xfrm>
        <a:graphic>
          <a:graphicData uri="http://schemas.openxmlformats.org/drawingml/2006/table">
            <a:tbl>
              <a:tblPr firstRow="1" bandRow="1">
                <a:tableStyleId>{5C22544A-7EE6-4342-B048-85BDC9FD1C3A}</a:tableStyleId>
              </a:tblPr>
              <a:tblGrid>
                <a:gridCol w="2970273">
                  <a:extLst>
                    <a:ext uri="{9D8B030D-6E8A-4147-A177-3AD203B41FA5}">
                      <a16:colId xmlns:a16="http://schemas.microsoft.com/office/drawing/2014/main" val="547612440"/>
                    </a:ext>
                  </a:extLst>
                </a:gridCol>
                <a:gridCol w="2970273">
                  <a:extLst>
                    <a:ext uri="{9D8B030D-6E8A-4147-A177-3AD203B41FA5}">
                      <a16:colId xmlns:a16="http://schemas.microsoft.com/office/drawing/2014/main" val="354493247"/>
                    </a:ext>
                  </a:extLst>
                </a:gridCol>
                <a:gridCol w="2970273">
                  <a:extLst>
                    <a:ext uri="{9D8B030D-6E8A-4147-A177-3AD203B41FA5}">
                      <a16:colId xmlns:a16="http://schemas.microsoft.com/office/drawing/2014/main" val="3698301481"/>
                    </a:ext>
                  </a:extLst>
                </a:gridCol>
              </a:tblGrid>
              <a:tr h="453543">
                <a:tc>
                  <a:txBody>
                    <a:bodyPr/>
                    <a:lstStyle/>
                    <a:p>
                      <a:r>
                        <a:rPr lang="en-US" dirty="0"/>
                        <a:t>Name</a:t>
                      </a:r>
                    </a:p>
                  </a:txBody>
                  <a:tcPr/>
                </a:tc>
                <a:tc>
                  <a:txBody>
                    <a:bodyPr/>
                    <a:lstStyle/>
                    <a:p>
                      <a:r>
                        <a:rPr lang="en-US" dirty="0"/>
                        <a:t>Description</a:t>
                      </a:r>
                    </a:p>
                  </a:txBody>
                  <a:tcPr/>
                </a:tc>
                <a:tc>
                  <a:txBody>
                    <a:bodyPr/>
                    <a:lstStyle/>
                    <a:p>
                      <a:r>
                        <a:rPr lang="en-US" dirty="0"/>
                        <a:t>Temporal extent</a:t>
                      </a:r>
                    </a:p>
                  </a:txBody>
                  <a:tcPr/>
                </a:tc>
                <a:extLst>
                  <a:ext uri="{0D108BD9-81ED-4DB2-BD59-A6C34878D82A}">
                    <a16:rowId xmlns:a16="http://schemas.microsoft.com/office/drawing/2014/main" val="1384724145"/>
                  </a:ext>
                </a:extLst>
              </a:tr>
              <a:tr h="4535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NIFC_IFPH</a:t>
                      </a:r>
                    </a:p>
                  </a:txBody>
                  <a:tcPr/>
                </a:tc>
                <a:tc>
                  <a:txBody>
                    <a:bodyPr/>
                    <a:lstStyle/>
                    <a:p>
                      <a:r>
                        <a:rPr lang="en-US" dirty="0"/>
                        <a:t>Interagency Wildland Fire Perimeter History (IFPH)</a:t>
                      </a:r>
                    </a:p>
                  </a:txBody>
                  <a:tcPr/>
                </a:tc>
                <a:tc>
                  <a:txBody>
                    <a:bodyPr/>
                    <a:lstStyle/>
                    <a:p>
                      <a:r>
                        <a:rPr lang="en-US" dirty="0"/>
                        <a:t>1980-present</a:t>
                      </a:r>
                    </a:p>
                  </a:txBody>
                  <a:tcPr/>
                </a:tc>
                <a:extLst>
                  <a:ext uri="{0D108BD9-81ED-4DB2-BD59-A6C34878D82A}">
                    <a16:rowId xmlns:a16="http://schemas.microsoft.com/office/drawing/2014/main" val="727319536"/>
                  </a:ext>
                </a:extLst>
              </a:tr>
              <a:tr h="453543">
                <a:tc>
                  <a:txBody>
                    <a:bodyPr/>
                    <a:lstStyle/>
                    <a:p>
                      <a:r>
                        <a:rPr lang="en-US" dirty="0"/>
                        <a:t>GEOMAC</a:t>
                      </a:r>
                    </a:p>
                  </a:txBody>
                  <a:tcPr/>
                </a:tc>
                <a:tc>
                  <a:txBody>
                    <a:bodyPr/>
                    <a:lstStyle/>
                    <a:p>
                      <a:r>
                        <a:rPr lang="en-US" dirty="0"/>
                        <a:t>Historic Perimeters Combined 2000-2018 </a:t>
                      </a:r>
                      <a:r>
                        <a:rPr lang="en-US" dirty="0" err="1"/>
                        <a:t>GeoMAC</a:t>
                      </a:r>
                      <a:endParaRPr lang="en-US" dirty="0"/>
                    </a:p>
                  </a:txBody>
                  <a:tcPr/>
                </a:tc>
                <a:tc>
                  <a:txBody>
                    <a:bodyPr/>
                    <a:lstStyle/>
                    <a:p>
                      <a:r>
                        <a:rPr lang="en-US" dirty="0"/>
                        <a:t>2000-2018</a:t>
                      </a:r>
                    </a:p>
                  </a:txBody>
                  <a:tcPr/>
                </a:tc>
                <a:extLst>
                  <a:ext uri="{0D108BD9-81ED-4DB2-BD59-A6C34878D82A}">
                    <a16:rowId xmlns:a16="http://schemas.microsoft.com/office/drawing/2014/main" val="929651052"/>
                  </a:ext>
                </a:extLst>
              </a:tr>
              <a:tr h="78282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TNC_SANDHILLS</a:t>
                      </a:r>
                    </a:p>
                    <a:p>
                      <a:endParaRPr lang="en-US" dirty="0"/>
                    </a:p>
                  </a:txBody>
                  <a:tcPr/>
                </a:tc>
                <a:tc>
                  <a:txBody>
                    <a:bodyPr/>
                    <a:lstStyle/>
                    <a:p>
                      <a:r>
                        <a:rPr lang="en-US" dirty="0"/>
                        <a:t>TNC burn history for SE sandhills preserves</a:t>
                      </a:r>
                    </a:p>
                  </a:txBody>
                  <a:tcPr/>
                </a:tc>
                <a:tc>
                  <a:txBody>
                    <a:bodyPr/>
                    <a:lstStyle/>
                    <a:p>
                      <a:r>
                        <a:rPr lang="en-US" dirty="0"/>
                        <a:t>2025</a:t>
                      </a:r>
                    </a:p>
                  </a:txBody>
                  <a:tcPr/>
                </a:tc>
                <a:extLst>
                  <a:ext uri="{0D108BD9-81ED-4DB2-BD59-A6C34878D82A}">
                    <a16:rowId xmlns:a16="http://schemas.microsoft.com/office/drawing/2014/main" val="2800782273"/>
                  </a:ext>
                </a:extLst>
              </a:tr>
              <a:tr h="78282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TNC_COASTAL_PLAIN</a:t>
                      </a:r>
                    </a:p>
                    <a:p>
                      <a:endParaRPr lang="en-US" dirty="0"/>
                    </a:p>
                  </a:txBody>
                  <a:tcPr/>
                </a:tc>
                <a:tc>
                  <a:txBody>
                    <a:bodyPr/>
                    <a:lstStyle/>
                    <a:p>
                      <a:r>
                        <a:rPr lang="en-US" dirty="0"/>
                        <a:t>TNC burn history for SE coastal plain preserves</a:t>
                      </a:r>
                    </a:p>
                  </a:txBody>
                  <a:tcPr/>
                </a:tc>
                <a:tc>
                  <a:txBody>
                    <a:bodyPr/>
                    <a:lstStyle/>
                    <a:p>
                      <a:r>
                        <a:rPr lang="en-US" dirty="0"/>
                        <a:t>2025</a:t>
                      </a:r>
                    </a:p>
                  </a:txBody>
                  <a:tcPr/>
                </a:tc>
                <a:extLst>
                  <a:ext uri="{0D108BD9-81ED-4DB2-BD59-A6C34878D82A}">
                    <a16:rowId xmlns:a16="http://schemas.microsoft.com/office/drawing/2014/main" val="2004647066"/>
                  </a:ext>
                </a:extLst>
              </a:tr>
            </a:tbl>
          </a:graphicData>
        </a:graphic>
      </p:graphicFrame>
    </p:spTree>
    <p:extLst>
      <p:ext uri="{BB962C8B-B14F-4D97-AF65-F5344CB8AC3E}">
        <p14:creationId xmlns:p14="http://schemas.microsoft.com/office/powerpoint/2010/main" val="121417285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F2F91-53AD-EE4D-CDDB-ADEA726F5E9F}"/>
              </a:ext>
            </a:extLst>
          </p:cNvPr>
          <p:cNvSpPr>
            <a:spLocks noGrp="1"/>
          </p:cNvSpPr>
          <p:nvPr>
            <p:ph type="title"/>
          </p:nvPr>
        </p:nvSpPr>
        <p:spPr>
          <a:xfrm>
            <a:off x="0" y="0"/>
            <a:ext cx="10515600" cy="1325563"/>
          </a:xfrm>
        </p:spPr>
        <p:txBody>
          <a:bodyPr/>
          <a:lstStyle/>
          <a:p>
            <a:r>
              <a:rPr lang="en-US" dirty="0"/>
              <a:t>Some example fire perimeters</a:t>
            </a:r>
          </a:p>
        </p:txBody>
      </p:sp>
      <p:pic>
        <p:nvPicPr>
          <p:cNvPr id="5" name="Picture 4">
            <a:extLst>
              <a:ext uri="{FF2B5EF4-FFF2-40B4-BE49-F238E27FC236}">
                <a16:creationId xmlns:a16="http://schemas.microsoft.com/office/drawing/2014/main" id="{1245A05F-BB12-AF5E-03CA-B86CDB363373}"/>
              </a:ext>
            </a:extLst>
          </p:cNvPr>
          <p:cNvPicPr>
            <a:picLocks noChangeAspect="1"/>
          </p:cNvPicPr>
          <p:nvPr/>
        </p:nvPicPr>
        <p:blipFill>
          <a:blip r:embed="rId2"/>
          <a:stretch>
            <a:fillRect/>
          </a:stretch>
        </p:blipFill>
        <p:spPr>
          <a:xfrm>
            <a:off x="0" y="1325563"/>
            <a:ext cx="5538487" cy="2743200"/>
          </a:xfrm>
          <a:prstGeom prst="rect">
            <a:avLst/>
          </a:prstGeom>
        </p:spPr>
      </p:pic>
      <p:pic>
        <p:nvPicPr>
          <p:cNvPr id="9" name="Picture 8">
            <a:extLst>
              <a:ext uri="{FF2B5EF4-FFF2-40B4-BE49-F238E27FC236}">
                <a16:creationId xmlns:a16="http://schemas.microsoft.com/office/drawing/2014/main" id="{A5937356-F200-5726-9A23-01E03319F4C0}"/>
              </a:ext>
            </a:extLst>
          </p:cNvPr>
          <p:cNvPicPr>
            <a:picLocks noChangeAspect="1"/>
          </p:cNvPicPr>
          <p:nvPr/>
        </p:nvPicPr>
        <p:blipFill>
          <a:blip r:embed="rId3"/>
          <a:stretch>
            <a:fillRect/>
          </a:stretch>
        </p:blipFill>
        <p:spPr>
          <a:xfrm>
            <a:off x="6096000" y="1325563"/>
            <a:ext cx="5538487" cy="2743200"/>
          </a:xfrm>
          <a:prstGeom prst="rect">
            <a:avLst/>
          </a:prstGeom>
        </p:spPr>
      </p:pic>
      <p:pic>
        <p:nvPicPr>
          <p:cNvPr id="13" name="Picture 12">
            <a:extLst>
              <a:ext uri="{FF2B5EF4-FFF2-40B4-BE49-F238E27FC236}">
                <a16:creationId xmlns:a16="http://schemas.microsoft.com/office/drawing/2014/main" id="{B415A2AC-2E63-E26B-DA0E-8E19B14C64CD}"/>
              </a:ext>
            </a:extLst>
          </p:cNvPr>
          <p:cNvPicPr>
            <a:picLocks noChangeAspect="1"/>
          </p:cNvPicPr>
          <p:nvPr/>
        </p:nvPicPr>
        <p:blipFill>
          <a:blip r:embed="rId4"/>
          <a:stretch>
            <a:fillRect/>
          </a:stretch>
        </p:blipFill>
        <p:spPr>
          <a:xfrm>
            <a:off x="0" y="4160837"/>
            <a:ext cx="5538487" cy="2743200"/>
          </a:xfrm>
          <a:prstGeom prst="rect">
            <a:avLst/>
          </a:prstGeom>
        </p:spPr>
      </p:pic>
      <p:sp>
        <p:nvSpPr>
          <p:cNvPr id="14" name="Rectangle 13">
            <a:extLst>
              <a:ext uri="{FF2B5EF4-FFF2-40B4-BE49-F238E27FC236}">
                <a16:creationId xmlns:a16="http://schemas.microsoft.com/office/drawing/2014/main" id="{F16971AF-3021-740C-7203-F7573FA04AA7}"/>
              </a:ext>
            </a:extLst>
          </p:cNvPr>
          <p:cNvSpPr/>
          <p:nvPr/>
        </p:nvSpPr>
        <p:spPr>
          <a:xfrm>
            <a:off x="505158" y="3593656"/>
            <a:ext cx="530736" cy="703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D888B81-676F-3641-E43F-A6FC3E68442D}"/>
              </a:ext>
            </a:extLst>
          </p:cNvPr>
          <p:cNvSpPr/>
          <p:nvPr/>
        </p:nvSpPr>
        <p:spPr>
          <a:xfrm>
            <a:off x="505158" y="6425311"/>
            <a:ext cx="530736" cy="703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379A119-314A-7633-6315-9958AF02A696}"/>
              </a:ext>
            </a:extLst>
          </p:cNvPr>
          <p:cNvSpPr/>
          <p:nvPr/>
        </p:nvSpPr>
        <p:spPr>
          <a:xfrm>
            <a:off x="6595514" y="3593656"/>
            <a:ext cx="530736" cy="703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6ABC2118-BFB2-6989-D04D-F99B056ED869}"/>
              </a:ext>
            </a:extLst>
          </p:cNvPr>
          <p:cNvPicPr>
            <a:picLocks noChangeAspect="1"/>
          </p:cNvPicPr>
          <p:nvPr/>
        </p:nvPicPr>
        <p:blipFill>
          <a:blip r:embed="rId5"/>
          <a:stretch>
            <a:fillRect/>
          </a:stretch>
        </p:blipFill>
        <p:spPr>
          <a:xfrm>
            <a:off x="6096000" y="4160837"/>
            <a:ext cx="5538487" cy="2743200"/>
          </a:xfrm>
          <a:prstGeom prst="rect">
            <a:avLst/>
          </a:prstGeom>
        </p:spPr>
      </p:pic>
    </p:spTree>
    <p:extLst>
      <p:ext uri="{BB962C8B-B14F-4D97-AF65-F5344CB8AC3E}">
        <p14:creationId xmlns:p14="http://schemas.microsoft.com/office/powerpoint/2010/main" val="315547906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2D8D367-6C40-3395-3602-4DB81BD24BCC}"/>
              </a:ext>
            </a:extLst>
          </p:cNvPr>
          <p:cNvSpPr>
            <a:spLocks noGrp="1"/>
          </p:cNvSpPr>
          <p:nvPr>
            <p:ph type="title"/>
          </p:nvPr>
        </p:nvSpPr>
        <p:spPr>
          <a:xfrm>
            <a:off x="0" y="0"/>
            <a:ext cx="10515600" cy="1325563"/>
          </a:xfrm>
        </p:spPr>
        <p:txBody>
          <a:bodyPr/>
          <a:lstStyle/>
          <a:p>
            <a:r>
              <a:rPr lang="en-US" dirty="0"/>
              <a:t>Example comparison of Pains Bay fire perimeter vs burned area products</a:t>
            </a:r>
          </a:p>
        </p:txBody>
      </p:sp>
      <p:grpSp>
        <p:nvGrpSpPr>
          <p:cNvPr id="14" name="Group 13">
            <a:extLst>
              <a:ext uri="{FF2B5EF4-FFF2-40B4-BE49-F238E27FC236}">
                <a16:creationId xmlns:a16="http://schemas.microsoft.com/office/drawing/2014/main" id="{6C4C4A8C-ED3C-7959-C863-543BE1E51469}"/>
              </a:ext>
            </a:extLst>
          </p:cNvPr>
          <p:cNvGrpSpPr/>
          <p:nvPr/>
        </p:nvGrpSpPr>
        <p:grpSpPr>
          <a:xfrm>
            <a:off x="0" y="2128818"/>
            <a:ext cx="3492921" cy="3657600"/>
            <a:chOff x="0" y="1328718"/>
            <a:chExt cx="3492921" cy="3657600"/>
          </a:xfrm>
        </p:grpSpPr>
        <p:pic>
          <p:nvPicPr>
            <p:cNvPr id="7" name="Picture 6">
              <a:extLst>
                <a:ext uri="{FF2B5EF4-FFF2-40B4-BE49-F238E27FC236}">
                  <a16:creationId xmlns:a16="http://schemas.microsoft.com/office/drawing/2014/main" id="{7EF3EDB9-5456-A1ED-2984-2707BBCF3284}"/>
                </a:ext>
              </a:extLst>
            </p:cNvPr>
            <p:cNvPicPr>
              <a:picLocks noChangeAspect="1"/>
            </p:cNvPicPr>
            <p:nvPr/>
          </p:nvPicPr>
          <p:blipFill>
            <a:blip r:embed="rId2"/>
            <a:stretch>
              <a:fillRect/>
            </a:stretch>
          </p:blipFill>
          <p:spPr>
            <a:xfrm>
              <a:off x="0" y="1328718"/>
              <a:ext cx="3492921" cy="3657600"/>
            </a:xfrm>
            <a:prstGeom prst="rect">
              <a:avLst/>
            </a:prstGeom>
          </p:spPr>
        </p:pic>
        <p:sp>
          <p:nvSpPr>
            <p:cNvPr id="9" name="Rectangle 8">
              <a:extLst>
                <a:ext uri="{FF2B5EF4-FFF2-40B4-BE49-F238E27FC236}">
                  <a16:creationId xmlns:a16="http://schemas.microsoft.com/office/drawing/2014/main" id="{F8280191-0FDF-65A6-6CB6-4D623A6BD812}"/>
                </a:ext>
              </a:extLst>
            </p:cNvPr>
            <p:cNvSpPr/>
            <p:nvPr/>
          </p:nvSpPr>
          <p:spPr>
            <a:xfrm>
              <a:off x="572891" y="4516522"/>
              <a:ext cx="530736" cy="703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1" name="Picture 10">
            <a:extLst>
              <a:ext uri="{FF2B5EF4-FFF2-40B4-BE49-F238E27FC236}">
                <a16:creationId xmlns:a16="http://schemas.microsoft.com/office/drawing/2014/main" id="{C587FA24-9BB6-91E5-955C-F10A9227A3B3}"/>
              </a:ext>
            </a:extLst>
          </p:cNvPr>
          <p:cNvPicPr>
            <a:picLocks noChangeAspect="1"/>
          </p:cNvPicPr>
          <p:nvPr/>
        </p:nvPicPr>
        <p:blipFill>
          <a:blip r:embed="rId3"/>
          <a:stretch>
            <a:fillRect/>
          </a:stretch>
        </p:blipFill>
        <p:spPr>
          <a:xfrm>
            <a:off x="3943889" y="2143106"/>
            <a:ext cx="3588262" cy="3657600"/>
          </a:xfrm>
          <a:prstGeom prst="rect">
            <a:avLst/>
          </a:prstGeom>
        </p:spPr>
      </p:pic>
      <p:pic>
        <p:nvPicPr>
          <p:cNvPr id="13" name="Picture 12">
            <a:extLst>
              <a:ext uri="{FF2B5EF4-FFF2-40B4-BE49-F238E27FC236}">
                <a16:creationId xmlns:a16="http://schemas.microsoft.com/office/drawing/2014/main" id="{EA0EEDF9-FA03-9E2F-60CB-881D6C608878}"/>
              </a:ext>
            </a:extLst>
          </p:cNvPr>
          <p:cNvPicPr>
            <a:picLocks noChangeAspect="1"/>
          </p:cNvPicPr>
          <p:nvPr/>
        </p:nvPicPr>
        <p:blipFill>
          <a:blip r:embed="rId4"/>
          <a:stretch>
            <a:fillRect/>
          </a:stretch>
        </p:blipFill>
        <p:spPr>
          <a:xfrm>
            <a:off x="7983119" y="2128818"/>
            <a:ext cx="3492921" cy="3657600"/>
          </a:xfrm>
          <a:prstGeom prst="rect">
            <a:avLst/>
          </a:prstGeom>
        </p:spPr>
      </p:pic>
      <p:sp>
        <p:nvSpPr>
          <p:cNvPr id="15" name="Rectangle 14">
            <a:extLst>
              <a:ext uri="{FF2B5EF4-FFF2-40B4-BE49-F238E27FC236}">
                <a16:creationId xmlns:a16="http://schemas.microsoft.com/office/drawing/2014/main" id="{B2A83FDE-5611-36FA-7258-0D0B933D01E1}"/>
              </a:ext>
            </a:extLst>
          </p:cNvPr>
          <p:cNvSpPr/>
          <p:nvPr/>
        </p:nvSpPr>
        <p:spPr>
          <a:xfrm>
            <a:off x="4535291" y="5316622"/>
            <a:ext cx="530736" cy="703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B8A7D35-2E89-E7D9-41C8-A003980D5808}"/>
              </a:ext>
            </a:extLst>
          </p:cNvPr>
          <p:cNvSpPr/>
          <p:nvPr/>
        </p:nvSpPr>
        <p:spPr>
          <a:xfrm>
            <a:off x="8532947" y="5316622"/>
            <a:ext cx="530736" cy="703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2899613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034F0-9D77-A99D-8FF0-7E6D30C91EB2}"/>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7F44C7CB-3EFF-4EAB-9310-A84617BC0E7A}"/>
              </a:ext>
            </a:extLst>
          </p:cNvPr>
          <p:cNvSpPr>
            <a:spLocks noGrp="1"/>
          </p:cNvSpPr>
          <p:nvPr>
            <p:ph type="title"/>
          </p:nvPr>
        </p:nvSpPr>
        <p:spPr>
          <a:xfrm>
            <a:off x="0" y="0"/>
            <a:ext cx="10515600" cy="1325563"/>
          </a:xfrm>
        </p:spPr>
        <p:txBody>
          <a:bodyPr/>
          <a:lstStyle/>
          <a:p>
            <a:r>
              <a:rPr lang="en-US" dirty="0"/>
              <a:t>Example comparison of Shaken Creek fire perimeter vs burned area products</a:t>
            </a:r>
          </a:p>
        </p:txBody>
      </p:sp>
      <p:sp>
        <p:nvSpPr>
          <p:cNvPr id="15" name="Rectangle 14">
            <a:extLst>
              <a:ext uri="{FF2B5EF4-FFF2-40B4-BE49-F238E27FC236}">
                <a16:creationId xmlns:a16="http://schemas.microsoft.com/office/drawing/2014/main" id="{8198657B-AF50-5116-B544-AD5091700006}"/>
              </a:ext>
            </a:extLst>
          </p:cNvPr>
          <p:cNvSpPr/>
          <p:nvPr/>
        </p:nvSpPr>
        <p:spPr>
          <a:xfrm>
            <a:off x="4535291" y="5316622"/>
            <a:ext cx="530736" cy="703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A7866C8-7FDF-891F-AFA0-1F74F6F9C254}"/>
              </a:ext>
            </a:extLst>
          </p:cNvPr>
          <p:cNvSpPr/>
          <p:nvPr/>
        </p:nvSpPr>
        <p:spPr>
          <a:xfrm>
            <a:off x="8532947" y="5316622"/>
            <a:ext cx="530736" cy="703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CCC7CCAD-9FBF-391D-365B-D98694AD5E2A}"/>
              </a:ext>
            </a:extLst>
          </p:cNvPr>
          <p:cNvPicPr>
            <a:picLocks noChangeAspect="1"/>
          </p:cNvPicPr>
          <p:nvPr/>
        </p:nvPicPr>
        <p:blipFill>
          <a:blip r:embed="rId2"/>
          <a:stretch>
            <a:fillRect/>
          </a:stretch>
        </p:blipFill>
        <p:spPr>
          <a:xfrm>
            <a:off x="43877" y="2357418"/>
            <a:ext cx="3625098" cy="3200400"/>
          </a:xfrm>
          <a:prstGeom prst="rect">
            <a:avLst/>
          </a:prstGeom>
        </p:spPr>
      </p:pic>
      <p:pic>
        <p:nvPicPr>
          <p:cNvPr id="5" name="Picture 4">
            <a:extLst>
              <a:ext uri="{FF2B5EF4-FFF2-40B4-BE49-F238E27FC236}">
                <a16:creationId xmlns:a16="http://schemas.microsoft.com/office/drawing/2014/main" id="{42FDDB90-71BE-8E39-D0F1-706DF048F033}"/>
              </a:ext>
            </a:extLst>
          </p:cNvPr>
          <p:cNvPicPr>
            <a:picLocks noChangeAspect="1"/>
          </p:cNvPicPr>
          <p:nvPr/>
        </p:nvPicPr>
        <p:blipFill>
          <a:blip r:embed="rId3"/>
          <a:stretch>
            <a:fillRect/>
          </a:stretch>
        </p:blipFill>
        <p:spPr>
          <a:xfrm>
            <a:off x="4143778" y="2357418"/>
            <a:ext cx="3564427" cy="3200400"/>
          </a:xfrm>
          <a:prstGeom prst="rect">
            <a:avLst/>
          </a:prstGeom>
        </p:spPr>
      </p:pic>
      <p:pic>
        <p:nvPicPr>
          <p:cNvPr id="10" name="Picture 9">
            <a:extLst>
              <a:ext uri="{FF2B5EF4-FFF2-40B4-BE49-F238E27FC236}">
                <a16:creationId xmlns:a16="http://schemas.microsoft.com/office/drawing/2014/main" id="{5ECD6753-4BB6-6096-E947-1F69F35511C3}"/>
              </a:ext>
            </a:extLst>
          </p:cNvPr>
          <p:cNvPicPr>
            <a:picLocks noChangeAspect="1"/>
          </p:cNvPicPr>
          <p:nvPr/>
        </p:nvPicPr>
        <p:blipFill>
          <a:blip r:embed="rId4"/>
          <a:stretch>
            <a:fillRect/>
          </a:stretch>
        </p:blipFill>
        <p:spPr>
          <a:xfrm>
            <a:off x="8099718" y="2357418"/>
            <a:ext cx="3617514" cy="3200400"/>
          </a:xfrm>
          <a:prstGeom prst="rect">
            <a:avLst/>
          </a:prstGeom>
        </p:spPr>
      </p:pic>
    </p:spTree>
    <p:extLst>
      <p:ext uri="{BB962C8B-B14F-4D97-AF65-F5344CB8AC3E}">
        <p14:creationId xmlns:p14="http://schemas.microsoft.com/office/powerpoint/2010/main" val="278666026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A166C-8020-46D6-3763-4BB255067815}"/>
              </a:ext>
            </a:extLst>
          </p:cNvPr>
          <p:cNvSpPr>
            <a:spLocks noGrp="1"/>
          </p:cNvSpPr>
          <p:nvPr>
            <p:ph type="ctrTitle"/>
          </p:nvPr>
        </p:nvSpPr>
        <p:spPr>
          <a:xfrm>
            <a:off x="1524000" y="0"/>
            <a:ext cx="9144000" cy="2387600"/>
          </a:xfrm>
        </p:spPr>
        <p:txBody>
          <a:bodyPr>
            <a:normAutofit fontScale="90000"/>
          </a:bodyPr>
          <a:lstStyle/>
          <a:p>
            <a:r>
              <a:rPr lang="en-US" dirty="0"/>
              <a:t>Reference vs burned area fire products (all of North Carolina)</a:t>
            </a:r>
          </a:p>
        </p:txBody>
      </p:sp>
      <p:sp>
        <p:nvSpPr>
          <p:cNvPr id="4" name="TextBox 3">
            <a:extLst>
              <a:ext uri="{FF2B5EF4-FFF2-40B4-BE49-F238E27FC236}">
                <a16:creationId xmlns:a16="http://schemas.microsoft.com/office/drawing/2014/main" id="{DE41E9EB-3FA6-D6AD-03F2-A3EB6F6C404F}"/>
              </a:ext>
            </a:extLst>
          </p:cNvPr>
          <p:cNvSpPr txBox="1"/>
          <p:nvPr/>
        </p:nvSpPr>
        <p:spPr>
          <a:xfrm>
            <a:off x="1" y="2654641"/>
            <a:ext cx="12192000" cy="3785652"/>
          </a:xfrm>
          <a:prstGeom prst="rect">
            <a:avLst/>
          </a:prstGeom>
          <a:noFill/>
        </p:spPr>
        <p:txBody>
          <a:bodyPr wrap="square" rtlCol="0">
            <a:spAutoFit/>
          </a:bodyPr>
          <a:lstStyle/>
          <a:p>
            <a:r>
              <a:rPr lang="en-US" sz="2000" dirty="0"/>
              <a:t>Reference polygons were rasterized to the same 500m, EPSG:5070 grid as the fire products</a:t>
            </a:r>
          </a:p>
          <a:p>
            <a:r>
              <a:rPr lang="en-US" sz="2000" dirty="0" err="1"/>
              <a:t>tp</a:t>
            </a:r>
            <a:r>
              <a:rPr lang="en-US" sz="2000" dirty="0"/>
              <a:t> = burned area within the fire perimeter polygon from reference dataset that the product detected, </a:t>
            </a:r>
          </a:p>
          <a:p>
            <a:r>
              <a:rPr lang="en-US" sz="2000" dirty="0" err="1"/>
              <a:t>fn</a:t>
            </a:r>
            <a:r>
              <a:rPr lang="en-US" sz="2000" dirty="0"/>
              <a:t> = burned area within fire perimeter polygon from reference dataset that didn’t get detected by the fire product</a:t>
            </a:r>
          </a:p>
          <a:p>
            <a:r>
              <a:rPr lang="en-US" sz="2000" dirty="0"/>
              <a:t>Recall = </a:t>
            </a:r>
            <a:r>
              <a:rPr lang="en-US" sz="2000" dirty="0" err="1"/>
              <a:t>tp</a:t>
            </a:r>
            <a:r>
              <a:rPr lang="en-US" sz="2000" dirty="0"/>
              <a:t> / (</a:t>
            </a:r>
            <a:r>
              <a:rPr lang="en-US" sz="2000" dirty="0" err="1"/>
              <a:t>tp</a:t>
            </a:r>
            <a:r>
              <a:rPr lang="en-US" sz="2000" dirty="0"/>
              <a:t> + </a:t>
            </a:r>
            <a:r>
              <a:rPr lang="en-US" sz="2000" dirty="0" err="1"/>
              <a:t>fn</a:t>
            </a:r>
            <a:r>
              <a:rPr lang="en-US" sz="2000" dirty="0"/>
              <a:t>) per fire event from reference dataset</a:t>
            </a:r>
          </a:p>
          <a:p>
            <a:r>
              <a:rPr lang="en-US" sz="2000" dirty="0" err="1"/>
              <a:t>Recall_pooled</a:t>
            </a:r>
            <a:r>
              <a:rPr lang="en-US" sz="2000" dirty="0"/>
              <a:t> = sum of </a:t>
            </a:r>
            <a:r>
              <a:rPr lang="en-US" sz="2000" dirty="0" err="1"/>
              <a:t>tp</a:t>
            </a:r>
            <a:r>
              <a:rPr lang="en-US" sz="2000" dirty="0"/>
              <a:t> across all events / sum of </a:t>
            </a:r>
            <a:r>
              <a:rPr lang="en-US" sz="2000" dirty="0" err="1"/>
              <a:t>tp</a:t>
            </a:r>
            <a:r>
              <a:rPr lang="en-US" sz="2000" dirty="0"/>
              <a:t> + </a:t>
            </a:r>
            <a:r>
              <a:rPr lang="en-US" sz="2000" dirty="0" err="1"/>
              <a:t>fn</a:t>
            </a:r>
            <a:r>
              <a:rPr lang="en-US" sz="2000" dirty="0"/>
              <a:t> across all events. Dominated by big fires.</a:t>
            </a:r>
          </a:p>
          <a:p>
            <a:r>
              <a:rPr lang="en-US" sz="2000" dirty="0" err="1"/>
              <a:t>Recall_mean_event</a:t>
            </a:r>
            <a:r>
              <a:rPr lang="en-US" sz="2000" dirty="0"/>
              <a:t> = mean recall across all events. Counts each fire equally regardless of size.</a:t>
            </a:r>
          </a:p>
          <a:p>
            <a:r>
              <a:rPr lang="en-US" sz="2000" dirty="0" err="1"/>
              <a:t>Detection_rate</a:t>
            </a:r>
            <a:r>
              <a:rPr lang="en-US" sz="2000" dirty="0"/>
              <a:t> = fraction of fire events the product caught at all (aka had any detected pixel within the fire perimeter)</a:t>
            </a:r>
          </a:p>
          <a:p>
            <a:endParaRPr lang="en-US" sz="2000" dirty="0"/>
          </a:p>
          <a:p>
            <a:r>
              <a:rPr lang="en-US" sz="2000" dirty="0"/>
              <a:t>Skipped severity comparison because fire perimeters don’t have severity info</a:t>
            </a:r>
          </a:p>
          <a:p>
            <a:endParaRPr lang="en-US" sz="2000" dirty="0"/>
          </a:p>
        </p:txBody>
      </p:sp>
    </p:spTree>
    <p:extLst>
      <p:ext uri="{BB962C8B-B14F-4D97-AF65-F5344CB8AC3E}">
        <p14:creationId xmlns:p14="http://schemas.microsoft.com/office/powerpoint/2010/main" val="340088956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E9A153F5-8EEF-28A9-9D70-26E761332BBC}"/>
              </a:ext>
            </a:extLst>
          </p:cNvPr>
          <p:cNvSpPr txBox="1"/>
          <p:nvPr/>
        </p:nvSpPr>
        <p:spPr>
          <a:xfrm>
            <a:off x="-47859" y="0"/>
            <a:ext cx="4191147" cy="369332"/>
          </a:xfrm>
          <a:prstGeom prst="rect">
            <a:avLst/>
          </a:prstGeom>
          <a:noFill/>
        </p:spPr>
        <p:txBody>
          <a:bodyPr wrap="none" rtlCol="0">
            <a:spAutoFit/>
          </a:bodyPr>
          <a:lstStyle/>
          <a:p>
            <a:r>
              <a:rPr lang="en-US" dirty="0"/>
              <a:t>NIFC_IPFH (skipping fires of &lt; 100 acres)</a:t>
            </a:r>
          </a:p>
        </p:txBody>
      </p:sp>
      <p:pic>
        <p:nvPicPr>
          <p:cNvPr id="20" name="Picture 19">
            <a:extLst>
              <a:ext uri="{FF2B5EF4-FFF2-40B4-BE49-F238E27FC236}">
                <a16:creationId xmlns:a16="http://schemas.microsoft.com/office/drawing/2014/main" id="{4BDE72D5-6E75-F0BB-8AB6-1112D69D3742}"/>
              </a:ext>
            </a:extLst>
          </p:cNvPr>
          <p:cNvPicPr>
            <a:picLocks noChangeAspect="1"/>
          </p:cNvPicPr>
          <p:nvPr/>
        </p:nvPicPr>
        <p:blipFill>
          <a:blip r:embed="rId3"/>
          <a:stretch>
            <a:fillRect/>
          </a:stretch>
        </p:blipFill>
        <p:spPr>
          <a:xfrm>
            <a:off x="132633" y="2058627"/>
            <a:ext cx="11887212" cy="1325197"/>
          </a:xfrm>
          <a:prstGeom prst="rect">
            <a:avLst/>
          </a:prstGeom>
        </p:spPr>
      </p:pic>
      <p:sp>
        <p:nvSpPr>
          <p:cNvPr id="21" name="TextBox 20">
            <a:extLst>
              <a:ext uri="{FF2B5EF4-FFF2-40B4-BE49-F238E27FC236}">
                <a16:creationId xmlns:a16="http://schemas.microsoft.com/office/drawing/2014/main" id="{06D7FF14-9CE1-A1A5-0496-3246D47D7D72}"/>
              </a:ext>
            </a:extLst>
          </p:cNvPr>
          <p:cNvSpPr txBox="1"/>
          <p:nvPr/>
        </p:nvSpPr>
        <p:spPr>
          <a:xfrm>
            <a:off x="-47860" y="1775313"/>
            <a:ext cx="4036361" cy="369332"/>
          </a:xfrm>
          <a:prstGeom prst="rect">
            <a:avLst/>
          </a:prstGeom>
          <a:noFill/>
        </p:spPr>
        <p:txBody>
          <a:bodyPr wrap="none" rtlCol="0">
            <a:spAutoFit/>
          </a:bodyPr>
          <a:lstStyle/>
          <a:p>
            <a:r>
              <a:rPr lang="en-US" dirty="0"/>
              <a:t>GEOMAC (skipping fires of &lt; 100 acres)</a:t>
            </a:r>
          </a:p>
        </p:txBody>
      </p:sp>
      <p:sp>
        <p:nvSpPr>
          <p:cNvPr id="26" name="TextBox 25">
            <a:extLst>
              <a:ext uri="{FF2B5EF4-FFF2-40B4-BE49-F238E27FC236}">
                <a16:creationId xmlns:a16="http://schemas.microsoft.com/office/drawing/2014/main" id="{81EE5355-231A-5A45-1C34-F93E93F2922B}"/>
              </a:ext>
            </a:extLst>
          </p:cNvPr>
          <p:cNvSpPr txBox="1"/>
          <p:nvPr/>
        </p:nvSpPr>
        <p:spPr>
          <a:xfrm>
            <a:off x="-47860" y="3335440"/>
            <a:ext cx="1587294" cy="369332"/>
          </a:xfrm>
          <a:prstGeom prst="rect">
            <a:avLst/>
          </a:prstGeom>
          <a:noFill/>
        </p:spPr>
        <p:txBody>
          <a:bodyPr wrap="none" rtlCol="0">
            <a:spAutoFit/>
          </a:bodyPr>
          <a:lstStyle/>
          <a:p>
            <a:r>
              <a:rPr lang="en-US" dirty="0"/>
              <a:t>TNC Sandhills</a:t>
            </a:r>
          </a:p>
        </p:txBody>
      </p:sp>
      <p:sp>
        <p:nvSpPr>
          <p:cNvPr id="27" name="TextBox 26">
            <a:extLst>
              <a:ext uri="{FF2B5EF4-FFF2-40B4-BE49-F238E27FC236}">
                <a16:creationId xmlns:a16="http://schemas.microsoft.com/office/drawing/2014/main" id="{3C7FA15E-3259-CDFC-AC15-8F6868965F43}"/>
              </a:ext>
            </a:extLst>
          </p:cNvPr>
          <p:cNvSpPr txBox="1"/>
          <p:nvPr/>
        </p:nvSpPr>
        <p:spPr>
          <a:xfrm>
            <a:off x="-51900" y="5155786"/>
            <a:ext cx="2099614" cy="369332"/>
          </a:xfrm>
          <a:prstGeom prst="rect">
            <a:avLst/>
          </a:prstGeom>
          <a:noFill/>
        </p:spPr>
        <p:txBody>
          <a:bodyPr wrap="none" rtlCol="0">
            <a:spAutoFit/>
          </a:bodyPr>
          <a:lstStyle/>
          <a:p>
            <a:r>
              <a:rPr lang="en-US" dirty="0"/>
              <a:t>TNC Coastal Plains</a:t>
            </a:r>
          </a:p>
        </p:txBody>
      </p:sp>
      <p:pic>
        <p:nvPicPr>
          <p:cNvPr id="29" name="Picture 28">
            <a:extLst>
              <a:ext uri="{FF2B5EF4-FFF2-40B4-BE49-F238E27FC236}">
                <a16:creationId xmlns:a16="http://schemas.microsoft.com/office/drawing/2014/main" id="{26D02D4C-133B-FDB5-EE66-54BA48591C0C}"/>
              </a:ext>
            </a:extLst>
          </p:cNvPr>
          <p:cNvPicPr>
            <a:picLocks noChangeAspect="1"/>
          </p:cNvPicPr>
          <p:nvPr/>
        </p:nvPicPr>
        <p:blipFill>
          <a:blip r:embed="rId4"/>
          <a:stretch>
            <a:fillRect/>
          </a:stretch>
        </p:blipFill>
        <p:spPr>
          <a:xfrm>
            <a:off x="172152" y="282178"/>
            <a:ext cx="11867453" cy="1540202"/>
          </a:xfrm>
          <a:prstGeom prst="rect">
            <a:avLst/>
          </a:prstGeom>
        </p:spPr>
      </p:pic>
      <p:pic>
        <p:nvPicPr>
          <p:cNvPr id="33" name="Picture 32">
            <a:extLst>
              <a:ext uri="{FF2B5EF4-FFF2-40B4-BE49-F238E27FC236}">
                <a16:creationId xmlns:a16="http://schemas.microsoft.com/office/drawing/2014/main" id="{D0F3D233-2ADB-FAA2-3AB0-D345FF640F22}"/>
              </a:ext>
            </a:extLst>
          </p:cNvPr>
          <p:cNvPicPr>
            <a:picLocks noChangeAspect="1"/>
          </p:cNvPicPr>
          <p:nvPr/>
        </p:nvPicPr>
        <p:blipFill>
          <a:blip r:embed="rId5"/>
          <a:stretch>
            <a:fillRect/>
          </a:stretch>
        </p:blipFill>
        <p:spPr>
          <a:xfrm>
            <a:off x="132633" y="3648954"/>
            <a:ext cx="11867453" cy="1540202"/>
          </a:xfrm>
          <a:prstGeom prst="rect">
            <a:avLst/>
          </a:prstGeom>
        </p:spPr>
      </p:pic>
      <p:pic>
        <p:nvPicPr>
          <p:cNvPr id="35" name="Picture 34">
            <a:extLst>
              <a:ext uri="{FF2B5EF4-FFF2-40B4-BE49-F238E27FC236}">
                <a16:creationId xmlns:a16="http://schemas.microsoft.com/office/drawing/2014/main" id="{9B689C8C-4D3D-E9E3-6DF9-DD3D7BBD1C72}"/>
              </a:ext>
            </a:extLst>
          </p:cNvPr>
          <p:cNvPicPr>
            <a:picLocks noChangeAspect="1"/>
          </p:cNvPicPr>
          <p:nvPr/>
        </p:nvPicPr>
        <p:blipFill>
          <a:blip r:embed="rId6"/>
          <a:stretch>
            <a:fillRect/>
          </a:stretch>
        </p:blipFill>
        <p:spPr>
          <a:xfrm>
            <a:off x="132633" y="5435930"/>
            <a:ext cx="11867452" cy="1422070"/>
          </a:xfrm>
          <a:prstGeom prst="rect">
            <a:avLst/>
          </a:prstGeom>
        </p:spPr>
      </p:pic>
    </p:spTree>
    <p:extLst>
      <p:ext uri="{BB962C8B-B14F-4D97-AF65-F5344CB8AC3E}">
        <p14:creationId xmlns:p14="http://schemas.microsoft.com/office/powerpoint/2010/main" val="28048188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7AED504-34A7-B681-6FF3-DE71EF9B5593}"/>
              </a:ext>
            </a:extLst>
          </p:cNvPr>
          <p:cNvPicPr>
            <a:picLocks noChangeAspect="1"/>
          </p:cNvPicPr>
          <p:nvPr/>
        </p:nvPicPr>
        <p:blipFill>
          <a:blip r:embed="rId2"/>
          <a:stretch>
            <a:fillRect/>
          </a:stretch>
        </p:blipFill>
        <p:spPr>
          <a:xfrm>
            <a:off x="5250586" y="123402"/>
            <a:ext cx="1690827" cy="6734598"/>
          </a:xfrm>
          <a:prstGeom prst="rect">
            <a:avLst/>
          </a:prstGeom>
        </p:spPr>
      </p:pic>
    </p:spTree>
    <p:extLst>
      <p:ext uri="{BB962C8B-B14F-4D97-AF65-F5344CB8AC3E}">
        <p14:creationId xmlns:p14="http://schemas.microsoft.com/office/powerpoint/2010/main" val="71719038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30C68-8DF4-4490-1ECC-EAB43E744B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EF73BB-ECC0-921E-E181-5373FB140ED9}"/>
              </a:ext>
            </a:extLst>
          </p:cNvPr>
          <p:cNvSpPr>
            <a:spLocks noGrp="1"/>
          </p:cNvSpPr>
          <p:nvPr>
            <p:ph type="ctrTitle"/>
          </p:nvPr>
        </p:nvSpPr>
        <p:spPr>
          <a:xfrm>
            <a:off x="1524000" y="2235200"/>
            <a:ext cx="9144000" cy="2387600"/>
          </a:xfrm>
        </p:spPr>
        <p:txBody>
          <a:bodyPr>
            <a:normAutofit fontScale="90000"/>
          </a:bodyPr>
          <a:lstStyle/>
          <a:p>
            <a:r>
              <a:rPr lang="en-US" dirty="0"/>
              <a:t>Reference vs burned area fire products (just North Carolina peatlands)</a:t>
            </a:r>
          </a:p>
        </p:txBody>
      </p:sp>
    </p:spTree>
    <p:extLst>
      <p:ext uri="{BB962C8B-B14F-4D97-AF65-F5344CB8AC3E}">
        <p14:creationId xmlns:p14="http://schemas.microsoft.com/office/powerpoint/2010/main" val="191861982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B6604-8727-BFF6-807E-A2EB1164B4D9}"/>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DBFF9E26-493A-9FA5-67D6-568F0FDBC251}"/>
              </a:ext>
            </a:extLst>
          </p:cNvPr>
          <p:cNvSpPr txBox="1"/>
          <p:nvPr/>
        </p:nvSpPr>
        <p:spPr>
          <a:xfrm>
            <a:off x="-47859" y="0"/>
            <a:ext cx="4191147" cy="369332"/>
          </a:xfrm>
          <a:prstGeom prst="rect">
            <a:avLst/>
          </a:prstGeom>
          <a:noFill/>
        </p:spPr>
        <p:txBody>
          <a:bodyPr wrap="none" rtlCol="0">
            <a:spAutoFit/>
          </a:bodyPr>
          <a:lstStyle/>
          <a:p>
            <a:r>
              <a:rPr lang="en-US" dirty="0"/>
              <a:t>NIFC_IPFH (skipping fires of &lt; 100 acres)</a:t>
            </a:r>
          </a:p>
        </p:txBody>
      </p:sp>
      <p:sp>
        <p:nvSpPr>
          <p:cNvPr id="21" name="TextBox 20">
            <a:extLst>
              <a:ext uri="{FF2B5EF4-FFF2-40B4-BE49-F238E27FC236}">
                <a16:creationId xmlns:a16="http://schemas.microsoft.com/office/drawing/2014/main" id="{8ADD5332-3FA9-AEDB-DF8D-22606438DD41}"/>
              </a:ext>
            </a:extLst>
          </p:cNvPr>
          <p:cNvSpPr txBox="1"/>
          <p:nvPr/>
        </p:nvSpPr>
        <p:spPr>
          <a:xfrm>
            <a:off x="-47860" y="1640129"/>
            <a:ext cx="4036361" cy="369332"/>
          </a:xfrm>
          <a:prstGeom prst="rect">
            <a:avLst/>
          </a:prstGeom>
          <a:noFill/>
        </p:spPr>
        <p:txBody>
          <a:bodyPr wrap="none" rtlCol="0">
            <a:spAutoFit/>
          </a:bodyPr>
          <a:lstStyle/>
          <a:p>
            <a:r>
              <a:rPr lang="en-US" dirty="0"/>
              <a:t>GEOMAC (skipping fires of &lt; 100 acres)</a:t>
            </a:r>
          </a:p>
        </p:txBody>
      </p:sp>
      <p:sp>
        <p:nvSpPr>
          <p:cNvPr id="26" name="TextBox 25">
            <a:extLst>
              <a:ext uri="{FF2B5EF4-FFF2-40B4-BE49-F238E27FC236}">
                <a16:creationId xmlns:a16="http://schemas.microsoft.com/office/drawing/2014/main" id="{179B9FA2-6BFB-5D6A-BA99-CCBE55BFA080}"/>
              </a:ext>
            </a:extLst>
          </p:cNvPr>
          <p:cNvSpPr txBox="1"/>
          <p:nvPr/>
        </p:nvSpPr>
        <p:spPr>
          <a:xfrm>
            <a:off x="-47860" y="3052843"/>
            <a:ext cx="1587294" cy="369332"/>
          </a:xfrm>
          <a:prstGeom prst="rect">
            <a:avLst/>
          </a:prstGeom>
          <a:noFill/>
        </p:spPr>
        <p:txBody>
          <a:bodyPr wrap="none" rtlCol="0">
            <a:spAutoFit/>
          </a:bodyPr>
          <a:lstStyle/>
          <a:p>
            <a:r>
              <a:rPr lang="en-US" dirty="0"/>
              <a:t>TNC Sandhills</a:t>
            </a:r>
          </a:p>
        </p:txBody>
      </p:sp>
      <p:sp>
        <p:nvSpPr>
          <p:cNvPr id="27" name="TextBox 26">
            <a:extLst>
              <a:ext uri="{FF2B5EF4-FFF2-40B4-BE49-F238E27FC236}">
                <a16:creationId xmlns:a16="http://schemas.microsoft.com/office/drawing/2014/main" id="{B4DBE912-E655-DD11-FA2D-041CA2022FDA}"/>
              </a:ext>
            </a:extLst>
          </p:cNvPr>
          <p:cNvSpPr txBox="1"/>
          <p:nvPr/>
        </p:nvSpPr>
        <p:spPr>
          <a:xfrm>
            <a:off x="-47860" y="4633002"/>
            <a:ext cx="2099614" cy="369332"/>
          </a:xfrm>
          <a:prstGeom prst="rect">
            <a:avLst/>
          </a:prstGeom>
          <a:noFill/>
        </p:spPr>
        <p:txBody>
          <a:bodyPr wrap="none" rtlCol="0">
            <a:spAutoFit/>
          </a:bodyPr>
          <a:lstStyle/>
          <a:p>
            <a:r>
              <a:rPr lang="en-US" dirty="0"/>
              <a:t>TNC Coastal Plains</a:t>
            </a:r>
          </a:p>
        </p:txBody>
      </p:sp>
      <p:pic>
        <p:nvPicPr>
          <p:cNvPr id="30" name="Picture 29">
            <a:extLst>
              <a:ext uri="{FF2B5EF4-FFF2-40B4-BE49-F238E27FC236}">
                <a16:creationId xmlns:a16="http://schemas.microsoft.com/office/drawing/2014/main" id="{5C74A93B-5987-A6EC-1249-D3A6B729BBB8}"/>
              </a:ext>
            </a:extLst>
          </p:cNvPr>
          <p:cNvPicPr>
            <a:picLocks noChangeAspect="1"/>
          </p:cNvPicPr>
          <p:nvPr/>
        </p:nvPicPr>
        <p:blipFill>
          <a:blip r:embed="rId3"/>
          <a:stretch>
            <a:fillRect/>
          </a:stretch>
        </p:blipFill>
        <p:spPr>
          <a:xfrm>
            <a:off x="1001946" y="3398565"/>
            <a:ext cx="10662978" cy="1170976"/>
          </a:xfrm>
          <a:prstGeom prst="rect">
            <a:avLst/>
          </a:prstGeom>
        </p:spPr>
      </p:pic>
      <p:pic>
        <p:nvPicPr>
          <p:cNvPr id="32" name="Picture 31">
            <a:extLst>
              <a:ext uri="{FF2B5EF4-FFF2-40B4-BE49-F238E27FC236}">
                <a16:creationId xmlns:a16="http://schemas.microsoft.com/office/drawing/2014/main" id="{6C747755-08D5-F48C-7DE0-C95DA41AC91C}"/>
              </a:ext>
            </a:extLst>
          </p:cNvPr>
          <p:cNvPicPr>
            <a:picLocks noChangeAspect="1"/>
          </p:cNvPicPr>
          <p:nvPr/>
        </p:nvPicPr>
        <p:blipFill>
          <a:blip r:embed="rId4"/>
          <a:stretch>
            <a:fillRect/>
          </a:stretch>
        </p:blipFill>
        <p:spPr>
          <a:xfrm>
            <a:off x="983793" y="5002334"/>
            <a:ext cx="10681131" cy="1421782"/>
          </a:xfrm>
          <a:prstGeom prst="rect">
            <a:avLst/>
          </a:prstGeom>
        </p:spPr>
      </p:pic>
      <p:pic>
        <p:nvPicPr>
          <p:cNvPr id="34" name="Picture 33">
            <a:extLst>
              <a:ext uri="{FF2B5EF4-FFF2-40B4-BE49-F238E27FC236}">
                <a16:creationId xmlns:a16="http://schemas.microsoft.com/office/drawing/2014/main" id="{56BC1871-5469-B4CE-792E-6862B0C1E17A}"/>
              </a:ext>
            </a:extLst>
          </p:cNvPr>
          <p:cNvPicPr>
            <a:picLocks noChangeAspect="1"/>
          </p:cNvPicPr>
          <p:nvPr/>
        </p:nvPicPr>
        <p:blipFill>
          <a:blip r:embed="rId5"/>
          <a:stretch>
            <a:fillRect/>
          </a:stretch>
        </p:blipFill>
        <p:spPr>
          <a:xfrm>
            <a:off x="1001946" y="1973101"/>
            <a:ext cx="10695378" cy="1156738"/>
          </a:xfrm>
          <a:prstGeom prst="rect">
            <a:avLst/>
          </a:prstGeom>
        </p:spPr>
      </p:pic>
      <p:pic>
        <p:nvPicPr>
          <p:cNvPr id="36" name="Picture 35">
            <a:extLst>
              <a:ext uri="{FF2B5EF4-FFF2-40B4-BE49-F238E27FC236}">
                <a16:creationId xmlns:a16="http://schemas.microsoft.com/office/drawing/2014/main" id="{02760FAA-9C76-1B55-F001-93CA1584D057}"/>
              </a:ext>
            </a:extLst>
          </p:cNvPr>
          <p:cNvPicPr>
            <a:picLocks noChangeAspect="1"/>
          </p:cNvPicPr>
          <p:nvPr/>
        </p:nvPicPr>
        <p:blipFill>
          <a:blip r:embed="rId6"/>
          <a:stretch>
            <a:fillRect/>
          </a:stretch>
        </p:blipFill>
        <p:spPr>
          <a:xfrm>
            <a:off x="983792" y="338271"/>
            <a:ext cx="10681131" cy="1332920"/>
          </a:xfrm>
          <a:prstGeom prst="rect">
            <a:avLst/>
          </a:prstGeom>
        </p:spPr>
      </p:pic>
    </p:spTree>
    <p:extLst>
      <p:ext uri="{BB962C8B-B14F-4D97-AF65-F5344CB8AC3E}">
        <p14:creationId xmlns:p14="http://schemas.microsoft.com/office/powerpoint/2010/main" val="210555679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1151C05-1186-8200-747B-7A18A8A1017C}"/>
              </a:ext>
            </a:extLst>
          </p:cNvPr>
          <p:cNvPicPr>
            <a:picLocks noChangeAspect="1"/>
          </p:cNvPicPr>
          <p:nvPr/>
        </p:nvPicPr>
        <p:blipFill>
          <a:blip r:embed="rId2"/>
          <a:stretch>
            <a:fillRect/>
          </a:stretch>
        </p:blipFill>
        <p:spPr>
          <a:xfrm>
            <a:off x="3728148" y="0"/>
            <a:ext cx="4735703" cy="6858000"/>
          </a:xfrm>
          <a:prstGeom prst="rect">
            <a:avLst/>
          </a:prstGeom>
        </p:spPr>
      </p:pic>
    </p:spTree>
    <p:extLst>
      <p:ext uri="{BB962C8B-B14F-4D97-AF65-F5344CB8AC3E}">
        <p14:creationId xmlns:p14="http://schemas.microsoft.com/office/powerpoint/2010/main" val="35535294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46938-DB5F-5944-E992-E8EA557F0825}"/>
              </a:ext>
            </a:extLst>
          </p:cNvPr>
          <p:cNvSpPr>
            <a:spLocks noGrp="1"/>
          </p:cNvSpPr>
          <p:nvPr>
            <p:ph type="title"/>
          </p:nvPr>
        </p:nvSpPr>
        <p:spPr>
          <a:xfrm>
            <a:off x="0" y="0"/>
            <a:ext cx="10515600" cy="1325563"/>
          </a:xfrm>
        </p:spPr>
        <p:txBody>
          <a:bodyPr/>
          <a:lstStyle/>
          <a:p>
            <a:r>
              <a:rPr lang="en-US" dirty="0"/>
              <a:t>Some more example fires..</a:t>
            </a:r>
          </a:p>
        </p:txBody>
      </p:sp>
      <p:pic>
        <p:nvPicPr>
          <p:cNvPr id="5" name="Picture 4">
            <a:extLst>
              <a:ext uri="{FF2B5EF4-FFF2-40B4-BE49-F238E27FC236}">
                <a16:creationId xmlns:a16="http://schemas.microsoft.com/office/drawing/2014/main" id="{FF9DD396-F768-9726-CF35-723B09244C26}"/>
              </a:ext>
            </a:extLst>
          </p:cNvPr>
          <p:cNvPicPr>
            <a:picLocks noChangeAspect="1"/>
          </p:cNvPicPr>
          <p:nvPr/>
        </p:nvPicPr>
        <p:blipFill>
          <a:blip r:embed="rId2"/>
          <a:stretch>
            <a:fillRect/>
          </a:stretch>
        </p:blipFill>
        <p:spPr>
          <a:xfrm>
            <a:off x="3487328" y="2564848"/>
            <a:ext cx="2574188" cy="2743200"/>
          </a:xfrm>
          <a:prstGeom prst="rect">
            <a:avLst/>
          </a:prstGeom>
        </p:spPr>
      </p:pic>
      <p:pic>
        <p:nvPicPr>
          <p:cNvPr id="7" name="Picture 6">
            <a:extLst>
              <a:ext uri="{FF2B5EF4-FFF2-40B4-BE49-F238E27FC236}">
                <a16:creationId xmlns:a16="http://schemas.microsoft.com/office/drawing/2014/main" id="{115E22B5-7A01-7434-4B0C-B6880D988D99}"/>
              </a:ext>
            </a:extLst>
          </p:cNvPr>
          <p:cNvPicPr>
            <a:picLocks noChangeAspect="1"/>
          </p:cNvPicPr>
          <p:nvPr/>
        </p:nvPicPr>
        <p:blipFill>
          <a:blip r:embed="rId3"/>
          <a:stretch>
            <a:fillRect/>
          </a:stretch>
        </p:blipFill>
        <p:spPr>
          <a:xfrm>
            <a:off x="6283342" y="2564848"/>
            <a:ext cx="2574188" cy="2743200"/>
          </a:xfrm>
          <a:prstGeom prst="rect">
            <a:avLst/>
          </a:prstGeom>
        </p:spPr>
      </p:pic>
      <p:pic>
        <p:nvPicPr>
          <p:cNvPr id="9" name="Picture 8">
            <a:extLst>
              <a:ext uri="{FF2B5EF4-FFF2-40B4-BE49-F238E27FC236}">
                <a16:creationId xmlns:a16="http://schemas.microsoft.com/office/drawing/2014/main" id="{3EE81C31-4B40-3109-E788-CCB408120D38}"/>
              </a:ext>
            </a:extLst>
          </p:cNvPr>
          <p:cNvPicPr>
            <a:picLocks noChangeAspect="1"/>
          </p:cNvPicPr>
          <p:nvPr/>
        </p:nvPicPr>
        <p:blipFill>
          <a:blip r:embed="rId4"/>
          <a:stretch>
            <a:fillRect/>
          </a:stretch>
        </p:blipFill>
        <p:spPr>
          <a:xfrm>
            <a:off x="9079356" y="2564848"/>
            <a:ext cx="2574188" cy="2743200"/>
          </a:xfrm>
          <a:prstGeom prst="rect">
            <a:avLst/>
          </a:prstGeom>
        </p:spPr>
      </p:pic>
      <p:pic>
        <p:nvPicPr>
          <p:cNvPr id="11" name="Picture 10">
            <a:extLst>
              <a:ext uri="{FF2B5EF4-FFF2-40B4-BE49-F238E27FC236}">
                <a16:creationId xmlns:a16="http://schemas.microsoft.com/office/drawing/2014/main" id="{947A9793-AD9F-0DF0-0AB9-415D3811CA3C}"/>
              </a:ext>
            </a:extLst>
          </p:cNvPr>
          <p:cNvPicPr>
            <a:picLocks noChangeAspect="1"/>
          </p:cNvPicPr>
          <p:nvPr/>
        </p:nvPicPr>
        <p:blipFill>
          <a:blip r:embed="rId5"/>
          <a:stretch>
            <a:fillRect/>
          </a:stretch>
        </p:blipFill>
        <p:spPr>
          <a:xfrm>
            <a:off x="6451600" y="106363"/>
            <a:ext cx="3149600" cy="1792014"/>
          </a:xfrm>
          <a:prstGeom prst="rect">
            <a:avLst/>
          </a:prstGeom>
        </p:spPr>
      </p:pic>
      <p:cxnSp>
        <p:nvCxnSpPr>
          <p:cNvPr id="13" name="Straight Arrow Connector 12">
            <a:extLst>
              <a:ext uri="{FF2B5EF4-FFF2-40B4-BE49-F238E27FC236}">
                <a16:creationId xmlns:a16="http://schemas.microsoft.com/office/drawing/2014/main" id="{A0EF7E63-B2BF-AF1E-51AD-CA2645EE81D6}"/>
              </a:ext>
            </a:extLst>
          </p:cNvPr>
          <p:cNvCxnSpPr/>
          <p:nvPr/>
        </p:nvCxnSpPr>
        <p:spPr>
          <a:xfrm flipH="1" flipV="1">
            <a:off x="8956675" y="1200150"/>
            <a:ext cx="114300" cy="231775"/>
          </a:xfrm>
          <a:prstGeom prst="straightConnector1">
            <a:avLst/>
          </a:prstGeom>
          <a:ln w="6350">
            <a:tailEnd type="triangle"/>
          </a:ln>
        </p:spPr>
        <p:style>
          <a:lnRef idx="2">
            <a:schemeClr val="dk1"/>
          </a:lnRef>
          <a:fillRef idx="0">
            <a:schemeClr val="dk1"/>
          </a:fillRef>
          <a:effectRef idx="1">
            <a:schemeClr val="dk1"/>
          </a:effectRef>
          <a:fontRef idx="minor">
            <a:schemeClr val="tx1"/>
          </a:fontRef>
        </p:style>
      </p:cxnSp>
      <p:pic>
        <p:nvPicPr>
          <p:cNvPr id="15" name="Picture 14">
            <a:extLst>
              <a:ext uri="{FF2B5EF4-FFF2-40B4-BE49-F238E27FC236}">
                <a16:creationId xmlns:a16="http://schemas.microsoft.com/office/drawing/2014/main" id="{1D531904-0DFE-50B3-B660-18B69602EFC0}"/>
              </a:ext>
            </a:extLst>
          </p:cNvPr>
          <p:cNvPicPr>
            <a:picLocks noChangeAspect="1"/>
          </p:cNvPicPr>
          <p:nvPr/>
        </p:nvPicPr>
        <p:blipFill>
          <a:blip r:embed="rId6"/>
          <a:stretch>
            <a:fillRect/>
          </a:stretch>
        </p:blipFill>
        <p:spPr>
          <a:xfrm>
            <a:off x="327693" y="2564848"/>
            <a:ext cx="3048722" cy="2743200"/>
          </a:xfrm>
          <a:prstGeom prst="rect">
            <a:avLst/>
          </a:prstGeom>
        </p:spPr>
      </p:pic>
    </p:spTree>
    <p:extLst>
      <p:ext uri="{BB962C8B-B14F-4D97-AF65-F5344CB8AC3E}">
        <p14:creationId xmlns:p14="http://schemas.microsoft.com/office/powerpoint/2010/main" val="91829051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032F2-F674-71ED-F225-580F4E8D32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D7EFED-0C76-6212-5C61-4610B70B38EC}"/>
              </a:ext>
            </a:extLst>
          </p:cNvPr>
          <p:cNvSpPr>
            <a:spLocks noGrp="1"/>
          </p:cNvSpPr>
          <p:nvPr>
            <p:ph type="title"/>
          </p:nvPr>
        </p:nvSpPr>
        <p:spPr>
          <a:xfrm>
            <a:off x="0" y="0"/>
            <a:ext cx="10515600" cy="1325563"/>
          </a:xfrm>
        </p:spPr>
        <p:txBody>
          <a:bodyPr/>
          <a:lstStyle/>
          <a:p>
            <a:r>
              <a:rPr lang="en-US" dirty="0"/>
              <a:t>Some more example fires..</a:t>
            </a:r>
          </a:p>
        </p:txBody>
      </p:sp>
      <p:pic>
        <p:nvPicPr>
          <p:cNvPr id="8" name="Picture 7">
            <a:extLst>
              <a:ext uri="{FF2B5EF4-FFF2-40B4-BE49-F238E27FC236}">
                <a16:creationId xmlns:a16="http://schemas.microsoft.com/office/drawing/2014/main" id="{266A8737-15A2-57B2-C6E7-3C25DC8AFA77}"/>
              </a:ext>
            </a:extLst>
          </p:cNvPr>
          <p:cNvPicPr>
            <a:picLocks noChangeAspect="1"/>
          </p:cNvPicPr>
          <p:nvPr/>
        </p:nvPicPr>
        <p:blipFill>
          <a:blip r:embed="rId2"/>
          <a:stretch>
            <a:fillRect/>
          </a:stretch>
        </p:blipFill>
        <p:spPr>
          <a:xfrm>
            <a:off x="0" y="2051932"/>
            <a:ext cx="3276239" cy="2743200"/>
          </a:xfrm>
          <a:prstGeom prst="rect">
            <a:avLst/>
          </a:prstGeom>
        </p:spPr>
      </p:pic>
      <p:pic>
        <p:nvPicPr>
          <p:cNvPr id="13" name="Picture 12">
            <a:extLst>
              <a:ext uri="{FF2B5EF4-FFF2-40B4-BE49-F238E27FC236}">
                <a16:creationId xmlns:a16="http://schemas.microsoft.com/office/drawing/2014/main" id="{86C17C82-7263-C75E-0FC6-B541C070198C}"/>
              </a:ext>
            </a:extLst>
          </p:cNvPr>
          <p:cNvPicPr>
            <a:picLocks noChangeAspect="1"/>
          </p:cNvPicPr>
          <p:nvPr/>
        </p:nvPicPr>
        <p:blipFill>
          <a:blip r:embed="rId3"/>
          <a:stretch>
            <a:fillRect/>
          </a:stretch>
        </p:blipFill>
        <p:spPr>
          <a:xfrm>
            <a:off x="9336846" y="2051932"/>
            <a:ext cx="2808205" cy="2743200"/>
          </a:xfrm>
          <a:prstGeom prst="rect">
            <a:avLst/>
          </a:prstGeom>
        </p:spPr>
      </p:pic>
      <p:pic>
        <p:nvPicPr>
          <p:cNvPr id="15" name="Picture 14">
            <a:extLst>
              <a:ext uri="{FF2B5EF4-FFF2-40B4-BE49-F238E27FC236}">
                <a16:creationId xmlns:a16="http://schemas.microsoft.com/office/drawing/2014/main" id="{4E34268C-4B12-0DB3-EA1D-0AD7D75A7A64}"/>
              </a:ext>
            </a:extLst>
          </p:cNvPr>
          <p:cNvPicPr>
            <a:picLocks noChangeAspect="1"/>
          </p:cNvPicPr>
          <p:nvPr/>
        </p:nvPicPr>
        <p:blipFill>
          <a:blip r:embed="rId4"/>
          <a:stretch>
            <a:fillRect/>
          </a:stretch>
        </p:blipFill>
        <p:spPr>
          <a:xfrm>
            <a:off x="6433519" y="2051932"/>
            <a:ext cx="2801704" cy="2743200"/>
          </a:xfrm>
          <a:prstGeom prst="rect">
            <a:avLst/>
          </a:prstGeom>
        </p:spPr>
      </p:pic>
      <p:pic>
        <p:nvPicPr>
          <p:cNvPr id="17" name="Picture 16">
            <a:extLst>
              <a:ext uri="{FF2B5EF4-FFF2-40B4-BE49-F238E27FC236}">
                <a16:creationId xmlns:a16="http://schemas.microsoft.com/office/drawing/2014/main" id="{02420C25-9204-2091-0043-00E7F498C6E0}"/>
              </a:ext>
            </a:extLst>
          </p:cNvPr>
          <p:cNvPicPr>
            <a:picLocks noChangeAspect="1"/>
          </p:cNvPicPr>
          <p:nvPr/>
        </p:nvPicPr>
        <p:blipFill>
          <a:blip r:embed="rId5"/>
          <a:stretch>
            <a:fillRect/>
          </a:stretch>
        </p:blipFill>
        <p:spPr>
          <a:xfrm>
            <a:off x="3523692" y="2057400"/>
            <a:ext cx="2808205" cy="2743200"/>
          </a:xfrm>
          <a:prstGeom prst="rect">
            <a:avLst/>
          </a:prstGeom>
        </p:spPr>
      </p:pic>
    </p:spTree>
    <p:extLst>
      <p:ext uri="{BB962C8B-B14F-4D97-AF65-F5344CB8AC3E}">
        <p14:creationId xmlns:p14="http://schemas.microsoft.com/office/powerpoint/2010/main" val="358098390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DA687-A1AD-1A7F-3402-854A53D5851E}"/>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1D3CBF77-C929-0860-9200-990BD31BCF70}"/>
              </a:ext>
            </a:extLst>
          </p:cNvPr>
          <p:cNvSpPr>
            <a:spLocks noGrp="1"/>
          </p:cNvSpPr>
          <p:nvPr>
            <p:ph idx="1"/>
          </p:nvPr>
        </p:nvSpPr>
        <p:spPr/>
        <p:txBody>
          <a:bodyPr/>
          <a:lstStyle/>
          <a:p>
            <a:r>
              <a:rPr lang="en-US" dirty="0"/>
              <a:t>Download and explore environmental covariate, peat restoration, drainage, peat restoration, land use, and land cover data from Cat’s database</a:t>
            </a:r>
          </a:p>
          <a:p>
            <a:r>
              <a:rPr lang="en-US" dirty="0"/>
              <a:t>Look into other useful covariate datasets</a:t>
            </a:r>
          </a:p>
          <a:p>
            <a:pPr lvl="1"/>
            <a:r>
              <a:rPr lang="en-US" dirty="0"/>
              <a:t>Soil moisture?</a:t>
            </a:r>
          </a:p>
          <a:p>
            <a:r>
              <a:rPr lang="en-US" dirty="0"/>
              <a:t>Start modelling with a simple GLM of burned area/occurrence in NC peat ~ peat restoration * covariates</a:t>
            </a:r>
          </a:p>
          <a:p>
            <a:pPr lvl="1"/>
            <a:endParaRPr lang="en-US" dirty="0"/>
          </a:p>
        </p:txBody>
      </p:sp>
    </p:spTree>
    <p:extLst>
      <p:ext uri="{BB962C8B-B14F-4D97-AF65-F5344CB8AC3E}">
        <p14:creationId xmlns:p14="http://schemas.microsoft.com/office/powerpoint/2010/main" val="140042487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88080-3B8D-75DC-E7D3-F599C8F278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3D3BD7-9A39-AA6B-8148-7B93AD7F742F}"/>
              </a:ext>
            </a:extLst>
          </p:cNvPr>
          <p:cNvSpPr>
            <a:spLocks noGrp="1"/>
          </p:cNvSpPr>
          <p:nvPr>
            <p:ph type="ctrTitle"/>
          </p:nvPr>
        </p:nvSpPr>
        <p:spPr/>
        <p:txBody>
          <a:bodyPr/>
          <a:lstStyle/>
          <a:p>
            <a:r>
              <a:rPr lang="en-US" dirty="0"/>
              <a:t>6/10/26</a:t>
            </a:r>
          </a:p>
        </p:txBody>
      </p:sp>
      <p:sp>
        <p:nvSpPr>
          <p:cNvPr id="3" name="Subtitle 2">
            <a:extLst>
              <a:ext uri="{FF2B5EF4-FFF2-40B4-BE49-F238E27FC236}">
                <a16:creationId xmlns:a16="http://schemas.microsoft.com/office/drawing/2014/main" id="{DE6D105A-57C1-27EB-3CFF-2EECDEF768DC}"/>
              </a:ext>
            </a:extLst>
          </p:cNvPr>
          <p:cNvSpPr>
            <a:spLocks noGrp="1"/>
          </p:cNvSpPr>
          <p:nvPr>
            <p:ph type="subTitle" idx="1"/>
          </p:nvPr>
        </p:nvSpPr>
        <p:spPr/>
        <p:txBody>
          <a:bodyPr>
            <a:normAutofit/>
          </a:bodyPr>
          <a:lstStyle/>
          <a:p>
            <a:r>
              <a:rPr lang="en-US" dirty="0"/>
              <a:t>Fire Product Comparison Walkthrough</a:t>
            </a:r>
          </a:p>
          <a:p>
            <a:r>
              <a:rPr lang="en-US" dirty="0"/>
              <a:t>Advice on trends in areas of interest (peatlands, managed timberland, </a:t>
            </a:r>
            <a:r>
              <a:rPr lang="en-US" dirty="0" err="1"/>
              <a:t>etc</a:t>
            </a:r>
            <a:r>
              <a:rPr lang="en-US" dirty="0"/>
              <a:t>) – analyses, datasets? </a:t>
            </a:r>
          </a:p>
          <a:p>
            <a:endParaRPr lang="en-US" dirty="0"/>
          </a:p>
        </p:txBody>
      </p:sp>
    </p:spTree>
    <p:extLst>
      <p:ext uri="{BB962C8B-B14F-4D97-AF65-F5344CB8AC3E}">
        <p14:creationId xmlns:p14="http://schemas.microsoft.com/office/powerpoint/2010/main" val="395764302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30DE-4F84-E4B9-9997-1A1362DA64DE}"/>
              </a:ext>
            </a:extLst>
          </p:cNvPr>
          <p:cNvSpPr>
            <a:spLocks noGrp="1"/>
          </p:cNvSpPr>
          <p:nvPr>
            <p:ph type="title"/>
          </p:nvPr>
        </p:nvSpPr>
        <p:spPr/>
        <p:txBody>
          <a:bodyPr/>
          <a:lstStyle/>
          <a:p>
            <a:r>
              <a:rPr lang="en-US" dirty="0"/>
              <a:t>Some background</a:t>
            </a:r>
          </a:p>
        </p:txBody>
      </p:sp>
      <p:sp>
        <p:nvSpPr>
          <p:cNvPr id="3" name="Content Placeholder 2">
            <a:extLst>
              <a:ext uri="{FF2B5EF4-FFF2-40B4-BE49-F238E27FC236}">
                <a16:creationId xmlns:a16="http://schemas.microsoft.com/office/drawing/2014/main" id="{A5A2696B-3CEE-4474-5D4A-A59F29F2921F}"/>
              </a:ext>
            </a:extLst>
          </p:cNvPr>
          <p:cNvSpPr>
            <a:spLocks noGrp="1"/>
          </p:cNvSpPr>
          <p:nvPr>
            <p:ph idx="1"/>
          </p:nvPr>
        </p:nvSpPr>
        <p:spPr/>
        <p:txBody>
          <a:bodyPr/>
          <a:lstStyle/>
          <a:p>
            <a:r>
              <a:rPr lang="en-US" dirty="0"/>
              <a:t>Wildfire risk in NC peatlands</a:t>
            </a:r>
          </a:p>
          <a:p>
            <a:r>
              <a:rPr lang="en-US" dirty="0"/>
              <a:t>Peatland rewetting effect on fire occurrence, severity, burned area, GHG emissions</a:t>
            </a:r>
          </a:p>
          <a:p>
            <a:r>
              <a:rPr lang="en-US" dirty="0"/>
              <a:t>Have downloaded/compared some fire products in NC</a:t>
            </a:r>
          </a:p>
          <a:p>
            <a:r>
              <a:rPr lang="en-US" dirty="0"/>
              <a:t>Next look at fire metrics in NC peatlands and other ecosystem types, compare these products to ground truth field data?</a:t>
            </a:r>
          </a:p>
        </p:txBody>
      </p:sp>
    </p:spTree>
    <p:extLst>
      <p:ext uri="{BB962C8B-B14F-4D97-AF65-F5344CB8AC3E}">
        <p14:creationId xmlns:p14="http://schemas.microsoft.com/office/powerpoint/2010/main" val="321185808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3915C-B130-8617-9BE0-21FDCF942EDB}"/>
              </a:ext>
            </a:extLst>
          </p:cNvPr>
          <p:cNvSpPr>
            <a:spLocks noGrp="1"/>
          </p:cNvSpPr>
          <p:nvPr>
            <p:ph type="ctrTitle"/>
          </p:nvPr>
        </p:nvSpPr>
        <p:spPr/>
        <p:txBody>
          <a:bodyPr/>
          <a:lstStyle/>
          <a:p>
            <a:r>
              <a:rPr lang="en-US" dirty="0"/>
              <a:t>Fire Product Comparison</a:t>
            </a:r>
          </a:p>
        </p:txBody>
      </p:sp>
      <p:sp>
        <p:nvSpPr>
          <p:cNvPr id="3" name="Subtitle 2">
            <a:extLst>
              <a:ext uri="{FF2B5EF4-FFF2-40B4-BE49-F238E27FC236}">
                <a16:creationId xmlns:a16="http://schemas.microsoft.com/office/drawing/2014/main" id="{3968D19D-BA00-C806-7BA3-DB336BD88A5F}"/>
              </a:ext>
            </a:extLst>
          </p:cNvPr>
          <p:cNvSpPr>
            <a:spLocks noGrp="1"/>
          </p:cNvSpPr>
          <p:nvPr>
            <p:ph type="subTitle" idx="1"/>
          </p:nvPr>
        </p:nvSpPr>
        <p:spPr/>
        <p:txBody>
          <a:bodyPr/>
          <a:lstStyle/>
          <a:p>
            <a:r>
              <a:rPr lang="en-US" dirty="0"/>
              <a:t>No single product has fire occurrence, burned area, and severity. Use multiple products. </a:t>
            </a:r>
          </a:p>
        </p:txBody>
      </p:sp>
    </p:spTree>
    <p:extLst>
      <p:ext uri="{BB962C8B-B14F-4D97-AF65-F5344CB8AC3E}">
        <p14:creationId xmlns:p14="http://schemas.microsoft.com/office/powerpoint/2010/main" val="235175784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7F8D1-2F2A-BE13-EEF5-EE45E82B19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61B7C4-6A7F-846E-D226-2F396729CA0D}"/>
              </a:ext>
            </a:extLst>
          </p:cNvPr>
          <p:cNvSpPr>
            <a:spLocks noGrp="1"/>
          </p:cNvSpPr>
          <p:nvPr>
            <p:ph type="title"/>
          </p:nvPr>
        </p:nvSpPr>
        <p:spPr>
          <a:xfrm>
            <a:off x="0" y="18255"/>
            <a:ext cx="10515600" cy="1325563"/>
          </a:xfrm>
        </p:spPr>
        <p:txBody>
          <a:bodyPr/>
          <a:lstStyle/>
          <a:p>
            <a:r>
              <a:rPr lang="en-US" dirty="0"/>
              <a:t>Occurrence Dataset (VIIRS)</a:t>
            </a:r>
          </a:p>
        </p:txBody>
      </p:sp>
      <p:sp>
        <p:nvSpPr>
          <p:cNvPr id="3" name="Content Placeholder 2">
            <a:extLst>
              <a:ext uri="{FF2B5EF4-FFF2-40B4-BE49-F238E27FC236}">
                <a16:creationId xmlns:a16="http://schemas.microsoft.com/office/drawing/2014/main" id="{A2205279-EBD8-847B-167F-68C608682DB7}"/>
              </a:ext>
            </a:extLst>
          </p:cNvPr>
          <p:cNvSpPr>
            <a:spLocks noGrp="1"/>
          </p:cNvSpPr>
          <p:nvPr>
            <p:ph idx="1"/>
          </p:nvPr>
        </p:nvSpPr>
        <p:spPr>
          <a:xfrm>
            <a:off x="0" y="1021292"/>
            <a:ext cx="10515600" cy="4351338"/>
          </a:xfrm>
        </p:spPr>
        <p:txBody>
          <a:bodyPr/>
          <a:lstStyle/>
          <a:p>
            <a:r>
              <a:rPr lang="en-US" dirty="0"/>
              <a:t>Active-fire detections, 375m, 2012-present, data updates near real time</a:t>
            </a:r>
          </a:p>
        </p:txBody>
      </p:sp>
      <p:pic>
        <p:nvPicPr>
          <p:cNvPr id="5" name="Picture 4">
            <a:extLst>
              <a:ext uri="{FF2B5EF4-FFF2-40B4-BE49-F238E27FC236}">
                <a16:creationId xmlns:a16="http://schemas.microsoft.com/office/drawing/2014/main" id="{26C0867D-873B-5B85-5FAE-5CCE8EB8B05C}"/>
              </a:ext>
            </a:extLst>
          </p:cNvPr>
          <p:cNvPicPr>
            <a:picLocks noChangeAspect="1"/>
          </p:cNvPicPr>
          <p:nvPr/>
        </p:nvPicPr>
        <p:blipFill>
          <a:blip r:embed="rId3"/>
          <a:stretch>
            <a:fillRect/>
          </a:stretch>
        </p:blipFill>
        <p:spPr>
          <a:xfrm>
            <a:off x="6502354" y="2098151"/>
            <a:ext cx="5607836" cy="3738557"/>
          </a:xfrm>
          <a:prstGeom prst="rect">
            <a:avLst/>
          </a:prstGeom>
        </p:spPr>
      </p:pic>
      <p:pic>
        <p:nvPicPr>
          <p:cNvPr id="7" name="Picture 6">
            <a:extLst>
              <a:ext uri="{FF2B5EF4-FFF2-40B4-BE49-F238E27FC236}">
                <a16:creationId xmlns:a16="http://schemas.microsoft.com/office/drawing/2014/main" id="{93EAA2F1-0448-1CEF-C0F1-0C138DCB6FC9}"/>
              </a:ext>
            </a:extLst>
          </p:cNvPr>
          <p:cNvPicPr>
            <a:picLocks noChangeAspect="1"/>
          </p:cNvPicPr>
          <p:nvPr/>
        </p:nvPicPr>
        <p:blipFill>
          <a:blip r:embed="rId4"/>
          <a:stretch>
            <a:fillRect/>
          </a:stretch>
        </p:blipFill>
        <p:spPr>
          <a:xfrm>
            <a:off x="112055" y="2346855"/>
            <a:ext cx="6278244" cy="3444177"/>
          </a:xfrm>
          <a:prstGeom prst="rect">
            <a:avLst/>
          </a:prstGeom>
        </p:spPr>
      </p:pic>
    </p:spTree>
    <p:extLst>
      <p:ext uri="{BB962C8B-B14F-4D97-AF65-F5344CB8AC3E}">
        <p14:creationId xmlns:p14="http://schemas.microsoft.com/office/powerpoint/2010/main" val="230329789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1B53D-8954-7935-D450-E82D0F9B64D0}"/>
              </a:ext>
            </a:extLst>
          </p:cNvPr>
          <p:cNvSpPr>
            <a:spLocks noGrp="1"/>
          </p:cNvSpPr>
          <p:nvPr>
            <p:ph type="title"/>
          </p:nvPr>
        </p:nvSpPr>
        <p:spPr>
          <a:xfrm>
            <a:off x="0" y="0"/>
            <a:ext cx="3730752" cy="1325563"/>
          </a:xfrm>
        </p:spPr>
        <p:txBody>
          <a:bodyPr>
            <a:normAutofit/>
          </a:bodyPr>
          <a:lstStyle/>
          <a:p>
            <a:r>
              <a:rPr lang="en-US" sz="3200" dirty="0"/>
              <a:t>Burned Area Datasets</a:t>
            </a:r>
          </a:p>
        </p:txBody>
      </p:sp>
      <p:graphicFrame>
        <p:nvGraphicFramePr>
          <p:cNvPr id="4" name="Table 3">
            <a:extLst>
              <a:ext uri="{FF2B5EF4-FFF2-40B4-BE49-F238E27FC236}">
                <a16:creationId xmlns:a16="http://schemas.microsoft.com/office/drawing/2014/main" id="{79FA30BA-0FA4-E1EB-5730-656E19E0161F}"/>
              </a:ext>
            </a:extLst>
          </p:cNvPr>
          <p:cNvGraphicFramePr>
            <a:graphicFrameLocks noGrp="1"/>
          </p:cNvGraphicFramePr>
          <p:nvPr>
            <p:extLst>
              <p:ext uri="{D42A27DB-BD31-4B8C-83A1-F6EECF244321}">
                <p14:modId xmlns:p14="http://schemas.microsoft.com/office/powerpoint/2010/main" val="2680944323"/>
              </p:ext>
            </p:extLst>
          </p:nvPr>
        </p:nvGraphicFramePr>
        <p:xfrm>
          <a:off x="2456039" y="30769"/>
          <a:ext cx="8377808" cy="2392680"/>
        </p:xfrm>
        <a:graphic>
          <a:graphicData uri="http://schemas.openxmlformats.org/drawingml/2006/table">
            <a:tbl>
              <a:tblPr firstRow="1" bandRow="1">
                <a:tableStyleId>{5C22544A-7EE6-4342-B048-85BDC9FD1C3A}</a:tableStyleId>
              </a:tblPr>
              <a:tblGrid>
                <a:gridCol w="2094452">
                  <a:extLst>
                    <a:ext uri="{9D8B030D-6E8A-4147-A177-3AD203B41FA5}">
                      <a16:colId xmlns:a16="http://schemas.microsoft.com/office/drawing/2014/main" val="1771770966"/>
                    </a:ext>
                  </a:extLst>
                </a:gridCol>
                <a:gridCol w="2094452">
                  <a:extLst>
                    <a:ext uri="{9D8B030D-6E8A-4147-A177-3AD203B41FA5}">
                      <a16:colId xmlns:a16="http://schemas.microsoft.com/office/drawing/2014/main" val="3089676828"/>
                    </a:ext>
                  </a:extLst>
                </a:gridCol>
                <a:gridCol w="2094452">
                  <a:extLst>
                    <a:ext uri="{9D8B030D-6E8A-4147-A177-3AD203B41FA5}">
                      <a16:colId xmlns:a16="http://schemas.microsoft.com/office/drawing/2014/main" val="3161646855"/>
                    </a:ext>
                  </a:extLst>
                </a:gridCol>
                <a:gridCol w="2094452">
                  <a:extLst>
                    <a:ext uri="{9D8B030D-6E8A-4147-A177-3AD203B41FA5}">
                      <a16:colId xmlns:a16="http://schemas.microsoft.com/office/drawing/2014/main" val="748354975"/>
                    </a:ext>
                  </a:extLst>
                </a:gridCol>
              </a:tblGrid>
              <a:tr h="0">
                <a:tc>
                  <a:txBody>
                    <a:bodyPr/>
                    <a:lstStyle/>
                    <a:p>
                      <a:r>
                        <a:rPr lang="en-US" dirty="0"/>
                        <a:t>Product</a:t>
                      </a:r>
                    </a:p>
                  </a:txBody>
                  <a:tcPr/>
                </a:tc>
                <a:tc>
                  <a:txBody>
                    <a:bodyPr/>
                    <a:lstStyle/>
                    <a:p>
                      <a:r>
                        <a:rPr lang="en-US" dirty="0"/>
                        <a:t>Spatial Resolution</a:t>
                      </a:r>
                    </a:p>
                  </a:txBody>
                  <a:tcPr/>
                </a:tc>
                <a:tc>
                  <a:txBody>
                    <a:bodyPr/>
                    <a:lstStyle/>
                    <a:p>
                      <a:r>
                        <a:rPr lang="en-US" dirty="0"/>
                        <a:t>Temporal Coverage</a:t>
                      </a:r>
                    </a:p>
                  </a:txBody>
                  <a:tcPr/>
                </a:tc>
                <a:tc>
                  <a:txBody>
                    <a:bodyPr/>
                    <a:lstStyle/>
                    <a:p>
                      <a:r>
                        <a:rPr lang="en-US" dirty="0"/>
                        <a:t>Data Update Frequency</a:t>
                      </a:r>
                    </a:p>
                  </a:txBody>
                  <a:tcPr/>
                </a:tc>
                <a:extLst>
                  <a:ext uri="{0D108BD9-81ED-4DB2-BD59-A6C34878D82A}">
                    <a16:rowId xmlns:a16="http://schemas.microsoft.com/office/drawing/2014/main" val="2855813642"/>
                  </a:ext>
                </a:extLst>
              </a:tr>
              <a:tr h="370840">
                <a:tc>
                  <a:txBody>
                    <a:bodyPr/>
                    <a:lstStyle/>
                    <a:p>
                      <a:r>
                        <a:rPr lang="en-US" dirty="0"/>
                        <a:t>MODIS MCD64A1</a:t>
                      </a:r>
                    </a:p>
                  </a:txBody>
                  <a:tcPr/>
                </a:tc>
                <a:tc>
                  <a:txBody>
                    <a:bodyPr/>
                    <a:lstStyle/>
                    <a:p>
                      <a:r>
                        <a:rPr lang="en-US" dirty="0"/>
                        <a:t>500 m</a:t>
                      </a:r>
                    </a:p>
                  </a:txBody>
                  <a:tcPr/>
                </a:tc>
                <a:tc>
                  <a:txBody>
                    <a:bodyPr/>
                    <a:lstStyle/>
                    <a:p>
                      <a:r>
                        <a:rPr lang="en-US" dirty="0"/>
                        <a:t>Nov 2000 - present</a:t>
                      </a:r>
                    </a:p>
                  </a:txBody>
                  <a:tcPr/>
                </a:tc>
                <a:tc>
                  <a:txBody>
                    <a:bodyPr/>
                    <a:lstStyle/>
                    <a:p>
                      <a:r>
                        <a:rPr lang="en-US" dirty="0"/>
                        <a:t>Monthly</a:t>
                      </a:r>
                    </a:p>
                  </a:txBody>
                  <a:tcPr/>
                </a:tc>
                <a:extLst>
                  <a:ext uri="{0D108BD9-81ED-4DB2-BD59-A6C34878D82A}">
                    <a16:rowId xmlns:a16="http://schemas.microsoft.com/office/drawing/2014/main" val="3464984154"/>
                  </a:ext>
                </a:extLst>
              </a:tr>
              <a:tr h="370840">
                <a:tc>
                  <a:txBody>
                    <a:bodyPr/>
                    <a:lstStyle/>
                    <a:p>
                      <a:r>
                        <a:rPr lang="en-US" dirty="0"/>
                        <a:t>FireCCI51</a:t>
                      </a:r>
                    </a:p>
                  </a:txBody>
                  <a:tcPr/>
                </a:tc>
                <a:tc>
                  <a:txBody>
                    <a:bodyPr/>
                    <a:lstStyle/>
                    <a:p>
                      <a:r>
                        <a:rPr lang="en-US" dirty="0"/>
                        <a:t>250 m</a:t>
                      </a:r>
                    </a:p>
                  </a:txBody>
                  <a:tcPr/>
                </a:tc>
                <a:tc>
                  <a:txBody>
                    <a:bodyPr/>
                    <a:lstStyle/>
                    <a:p>
                      <a:r>
                        <a:rPr lang="en-US" dirty="0"/>
                        <a:t>2001-2020</a:t>
                      </a:r>
                    </a:p>
                  </a:txBody>
                  <a:tcPr/>
                </a:tc>
                <a:tc>
                  <a:txBody>
                    <a:bodyPr/>
                    <a:lstStyle/>
                    <a:p>
                      <a:r>
                        <a:rPr lang="en-US" dirty="0"/>
                        <a:t>Monthly</a:t>
                      </a:r>
                    </a:p>
                  </a:txBody>
                  <a:tcPr/>
                </a:tc>
                <a:extLst>
                  <a:ext uri="{0D108BD9-81ED-4DB2-BD59-A6C34878D82A}">
                    <a16:rowId xmlns:a16="http://schemas.microsoft.com/office/drawing/2014/main" val="729374592"/>
                  </a:ext>
                </a:extLst>
              </a:tr>
              <a:tr h="370840">
                <a:tc>
                  <a:txBody>
                    <a:bodyPr/>
                    <a:lstStyle/>
                    <a:p>
                      <a:r>
                        <a:rPr lang="en-US" dirty="0"/>
                        <a:t>FireCCIS311 (Sentinel-3)</a:t>
                      </a:r>
                    </a:p>
                  </a:txBody>
                  <a:tcPr/>
                </a:tc>
                <a:tc>
                  <a:txBody>
                    <a:bodyPr/>
                    <a:lstStyle/>
                    <a:p>
                      <a:r>
                        <a:rPr lang="en-US" dirty="0"/>
                        <a:t>300 m</a:t>
                      </a:r>
                    </a:p>
                  </a:txBody>
                  <a:tcPr/>
                </a:tc>
                <a:tc>
                  <a:txBody>
                    <a:bodyPr/>
                    <a:lstStyle/>
                    <a:p>
                      <a:r>
                        <a:rPr lang="en-US" dirty="0"/>
                        <a:t>~2019-present</a:t>
                      </a:r>
                    </a:p>
                  </a:txBody>
                  <a:tcPr/>
                </a:tc>
                <a:tc>
                  <a:txBody>
                    <a:bodyPr/>
                    <a:lstStyle/>
                    <a:p>
                      <a:r>
                        <a:rPr lang="en-US" dirty="0"/>
                        <a:t>Monthly</a:t>
                      </a:r>
                    </a:p>
                  </a:txBody>
                  <a:tcPr/>
                </a:tc>
                <a:extLst>
                  <a:ext uri="{0D108BD9-81ED-4DB2-BD59-A6C34878D82A}">
                    <a16:rowId xmlns:a16="http://schemas.microsoft.com/office/drawing/2014/main" val="3959075759"/>
                  </a:ext>
                </a:extLst>
              </a:tr>
              <a:tr h="370840">
                <a:tc>
                  <a:txBody>
                    <a:bodyPr/>
                    <a:lstStyle/>
                    <a:p>
                      <a:r>
                        <a:rPr lang="en-US" dirty="0">
                          <a:solidFill>
                            <a:srgbClr val="00B050"/>
                          </a:solidFill>
                        </a:rPr>
                        <a:t>GABAM</a:t>
                      </a:r>
                    </a:p>
                  </a:txBody>
                  <a:tcPr/>
                </a:tc>
                <a:tc>
                  <a:txBody>
                    <a:bodyPr/>
                    <a:lstStyle/>
                    <a:p>
                      <a:r>
                        <a:rPr lang="en-US" dirty="0">
                          <a:solidFill>
                            <a:srgbClr val="00B050"/>
                          </a:solidFill>
                        </a:rPr>
                        <a:t>30 m</a:t>
                      </a:r>
                    </a:p>
                  </a:txBody>
                  <a:tcPr/>
                </a:tc>
                <a:tc>
                  <a:txBody>
                    <a:bodyPr/>
                    <a:lstStyle/>
                    <a:p>
                      <a:r>
                        <a:rPr lang="en-US" dirty="0">
                          <a:solidFill>
                            <a:srgbClr val="00B050"/>
                          </a:solidFill>
                        </a:rPr>
                        <a:t>1985-2021</a:t>
                      </a:r>
                    </a:p>
                  </a:txBody>
                  <a:tcPr/>
                </a:tc>
                <a:tc>
                  <a:txBody>
                    <a:bodyPr/>
                    <a:lstStyle/>
                    <a:p>
                      <a:r>
                        <a:rPr lang="en-US" dirty="0">
                          <a:solidFill>
                            <a:srgbClr val="00B050"/>
                          </a:solidFill>
                        </a:rPr>
                        <a:t>Annual</a:t>
                      </a:r>
                    </a:p>
                  </a:txBody>
                  <a:tcPr/>
                </a:tc>
                <a:extLst>
                  <a:ext uri="{0D108BD9-81ED-4DB2-BD59-A6C34878D82A}">
                    <a16:rowId xmlns:a16="http://schemas.microsoft.com/office/drawing/2014/main" val="1263148468"/>
                  </a:ext>
                </a:extLst>
              </a:tr>
            </a:tbl>
          </a:graphicData>
        </a:graphic>
      </p:graphicFrame>
      <p:pic>
        <p:nvPicPr>
          <p:cNvPr id="6" name="Picture 5">
            <a:extLst>
              <a:ext uri="{FF2B5EF4-FFF2-40B4-BE49-F238E27FC236}">
                <a16:creationId xmlns:a16="http://schemas.microsoft.com/office/drawing/2014/main" id="{57473859-6775-43BF-6BE6-236B490C8BFB}"/>
              </a:ext>
            </a:extLst>
          </p:cNvPr>
          <p:cNvPicPr>
            <a:picLocks noChangeAspect="1"/>
          </p:cNvPicPr>
          <p:nvPr/>
        </p:nvPicPr>
        <p:blipFill>
          <a:blip r:embed="rId3"/>
          <a:stretch>
            <a:fillRect/>
          </a:stretch>
        </p:blipFill>
        <p:spPr>
          <a:xfrm>
            <a:off x="0" y="2594145"/>
            <a:ext cx="7772400" cy="4263855"/>
          </a:xfrm>
          <a:prstGeom prst="rect">
            <a:avLst/>
          </a:prstGeom>
        </p:spPr>
      </p:pic>
      <p:pic>
        <p:nvPicPr>
          <p:cNvPr id="7" name="Picture 6">
            <a:extLst>
              <a:ext uri="{FF2B5EF4-FFF2-40B4-BE49-F238E27FC236}">
                <a16:creationId xmlns:a16="http://schemas.microsoft.com/office/drawing/2014/main" id="{31ECA44B-5DB9-0A95-89DF-166995377084}"/>
              </a:ext>
            </a:extLst>
          </p:cNvPr>
          <p:cNvPicPr>
            <a:picLocks noChangeAspect="1"/>
          </p:cNvPicPr>
          <p:nvPr/>
        </p:nvPicPr>
        <p:blipFill>
          <a:blip r:embed="rId4"/>
          <a:stretch>
            <a:fillRect/>
          </a:stretch>
        </p:blipFill>
        <p:spPr>
          <a:xfrm>
            <a:off x="7948122" y="3110948"/>
            <a:ext cx="3983444" cy="3379319"/>
          </a:xfrm>
          <a:prstGeom prst="rect">
            <a:avLst/>
          </a:prstGeom>
        </p:spPr>
      </p:pic>
    </p:spTree>
    <p:extLst>
      <p:ext uri="{BB962C8B-B14F-4D97-AF65-F5344CB8AC3E}">
        <p14:creationId xmlns:p14="http://schemas.microsoft.com/office/powerpoint/2010/main" val="123843819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B722343-684F-F1C0-CE67-5EC536C7B3DC}"/>
              </a:ext>
            </a:extLst>
          </p:cNvPr>
          <p:cNvPicPr>
            <a:picLocks noChangeAspect="1"/>
          </p:cNvPicPr>
          <p:nvPr/>
        </p:nvPicPr>
        <p:blipFill>
          <a:blip r:embed="rId3"/>
          <a:stretch>
            <a:fillRect/>
          </a:stretch>
        </p:blipFill>
        <p:spPr>
          <a:xfrm>
            <a:off x="0" y="0"/>
            <a:ext cx="6459235" cy="3219493"/>
          </a:xfrm>
          <a:prstGeom prst="rect">
            <a:avLst/>
          </a:prstGeom>
        </p:spPr>
      </p:pic>
      <p:pic>
        <p:nvPicPr>
          <p:cNvPr id="9" name="Picture 8">
            <a:extLst>
              <a:ext uri="{FF2B5EF4-FFF2-40B4-BE49-F238E27FC236}">
                <a16:creationId xmlns:a16="http://schemas.microsoft.com/office/drawing/2014/main" id="{32977EFE-DD22-96AC-E043-B76B9979D089}"/>
              </a:ext>
            </a:extLst>
          </p:cNvPr>
          <p:cNvPicPr>
            <a:picLocks noChangeAspect="1"/>
          </p:cNvPicPr>
          <p:nvPr/>
        </p:nvPicPr>
        <p:blipFill>
          <a:blip r:embed="rId4"/>
          <a:stretch>
            <a:fillRect/>
          </a:stretch>
        </p:blipFill>
        <p:spPr>
          <a:xfrm>
            <a:off x="1615" y="3254756"/>
            <a:ext cx="6457620" cy="3218688"/>
          </a:xfrm>
          <a:prstGeom prst="rect">
            <a:avLst/>
          </a:prstGeom>
        </p:spPr>
      </p:pic>
      <p:pic>
        <p:nvPicPr>
          <p:cNvPr id="14" name="Picture 13">
            <a:extLst>
              <a:ext uri="{FF2B5EF4-FFF2-40B4-BE49-F238E27FC236}">
                <a16:creationId xmlns:a16="http://schemas.microsoft.com/office/drawing/2014/main" id="{63BB5E89-DC2B-BF16-5DAD-A5392C6ACDB0}"/>
              </a:ext>
            </a:extLst>
          </p:cNvPr>
          <p:cNvPicPr>
            <a:picLocks noChangeAspect="1"/>
          </p:cNvPicPr>
          <p:nvPr/>
        </p:nvPicPr>
        <p:blipFill>
          <a:blip r:embed="rId5"/>
          <a:stretch>
            <a:fillRect/>
          </a:stretch>
        </p:blipFill>
        <p:spPr>
          <a:xfrm>
            <a:off x="7256703" y="3657600"/>
            <a:ext cx="4861754" cy="3200400"/>
          </a:xfrm>
          <a:prstGeom prst="rect">
            <a:avLst/>
          </a:prstGeom>
        </p:spPr>
      </p:pic>
      <p:pic>
        <p:nvPicPr>
          <p:cNvPr id="16" name="Picture 15">
            <a:extLst>
              <a:ext uri="{FF2B5EF4-FFF2-40B4-BE49-F238E27FC236}">
                <a16:creationId xmlns:a16="http://schemas.microsoft.com/office/drawing/2014/main" id="{B731372F-9CC5-CB80-92CA-BF6AC6865F8E}"/>
              </a:ext>
            </a:extLst>
          </p:cNvPr>
          <p:cNvPicPr>
            <a:picLocks noChangeAspect="1"/>
          </p:cNvPicPr>
          <p:nvPr/>
        </p:nvPicPr>
        <p:blipFill>
          <a:blip r:embed="rId6"/>
          <a:stretch>
            <a:fillRect/>
          </a:stretch>
        </p:blipFill>
        <p:spPr>
          <a:xfrm>
            <a:off x="7614261" y="0"/>
            <a:ext cx="4146639" cy="3657600"/>
          </a:xfrm>
          <a:prstGeom prst="rect">
            <a:avLst/>
          </a:prstGeom>
        </p:spPr>
      </p:pic>
      <p:pic>
        <p:nvPicPr>
          <p:cNvPr id="17" name="Picture 16">
            <a:extLst>
              <a:ext uri="{FF2B5EF4-FFF2-40B4-BE49-F238E27FC236}">
                <a16:creationId xmlns:a16="http://schemas.microsoft.com/office/drawing/2014/main" id="{47402255-AD8F-B940-53C1-3C687307A258}"/>
              </a:ext>
            </a:extLst>
          </p:cNvPr>
          <p:cNvPicPr>
            <a:picLocks noChangeAspect="1"/>
          </p:cNvPicPr>
          <p:nvPr/>
        </p:nvPicPr>
        <p:blipFill>
          <a:blip r:embed="rId7"/>
          <a:stretch>
            <a:fillRect/>
          </a:stretch>
        </p:blipFill>
        <p:spPr>
          <a:xfrm>
            <a:off x="89538" y="7061200"/>
            <a:ext cx="12102462" cy="866065"/>
          </a:xfrm>
          <a:prstGeom prst="rect">
            <a:avLst/>
          </a:prstGeom>
        </p:spPr>
      </p:pic>
    </p:spTree>
    <p:extLst>
      <p:ext uri="{BB962C8B-B14F-4D97-AF65-F5344CB8AC3E}">
        <p14:creationId xmlns:p14="http://schemas.microsoft.com/office/powerpoint/2010/main" val="233461033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00583-E257-F724-BA0B-38CFEEEA0B9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9BC3EEF-A5CF-A926-B11B-7D126C758473}"/>
              </a:ext>
            </a:extLst>
          </p:cNvPr>
          <p:cNvSpPr txBox="1">
            <a:spLocks/>
          </p:cNvSpPr>
          <p:nvPr/>
        </p:nvSpPr>
        <p:spPr>
          <a:xfrm>
            <a:off x="0" y="0"/>
            <a:ext cx="373075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Severity Datasets</a:t>
            </a:r>
          </a:p>
        </p:txBody>
      </p:sp>
      <p:graphicFrame>
        <p:nvGraphicFramePr>
          <p:cNvPr id="5" name="Table 4">
            <a:extLst>
              <a:ext uri="{FF2B5EF4-FFF2-40B4-BE49-F238E27FC236}">
                <a16:creationId xmlns:a16="http://schemas.microsoft.com/office/drawing/2014/main" id="{1EE45296-0857-C392-779A-528EB33DF639}"/>
              </a:ext>
            </a:extLst>
          </p:cNvPr>
          <p:cNvGraphicFramePr>
            <a:graphicFrameLocks noGrp="1"/>
          </p:cNvGraphicFramePr>
          <p:nvPr>
            <p:extLst>
              <p:ext uri="{D42A27DB-BD31-4B8C-83A1-F6EECF244321}">
                <p14:modId xmlns:p14="http://schemas.microsoft.com/office/powerpoint/2010/main" val="3926229393"/>
              </p:ext>
            </p:extLst>
          </p:nvPr>
        </p:nvGraphicFramePr>
        <p:xfrm>
          <a:off x="3227004" y="0"/>
          <a:ext cx="7610633" cy="2291080"/>
        </p:xfrm>
        <a:graphic>
          <a:graphicData uri="http://schemas.openxmlformats.org/drawingml/2006/table">
            <a:tbl>
              <a:tblPr firstRow="1" bandRow="1">
                <a:tableStyleId>{5C22544A-7EE6-4342-B048-85BDC9FD1C3A}</a:tableStyleId>
              </a:tblPr>
              <a:tblGrid>
                <a:gridCol w="1327277">
                  <a:extLst>
                    <a:ext uri="{9D8B030D-6E8A-4147-A177-3AD203B41FA5}">
                      <a16:colId xmlns:a16="http://schemas.microsoft.com/office/drawing/2014/main" val="1771770966"/>
                    </a:ext>
                  </a:extLst>
                </a:gridCol>
                <a:gridCol w="2094452">
                  <a:extLst>
                    <a:ext uri="{9D8B030D-6E8A-4147-A177-3AD203B41FA5}">
                      <a16:colId xmlns:a16="http://schemas.microsoft.com/office/drawing/2014/main" val="3089676828"/>
                    </a:ext>
                  </a:extLst>
                </a:gridCol>
                <a:gridCol w="2094452">
                  <a:extLst>
                    <a:ext uri="{9D8B030D-6E8A-4147-A177-3AD203B41FA5}">
                      <a16:colId xmlns:a16="http://schemas.microsoft.com/office/drawing/2014/main" val="3161646855"/>
                    </a:ext>
                  </a:extLst>
                </a:gridCol>
                <a:gridCol w="2094452">
                  <a:extLst>
                    <a:ext uri="{9D8B030D-6E8A-4147-A177-3AD203B41FA5}">
                      <a16:colId xmlns:a16="http://schemas.microsoft.com/office/drawing/2014/main" val="748354975"/>
                    </a:ext>
                  </a:extLst>
                </a:gridCol>
              </a:tblGrid>
              <a:tr h="0">
                <a:tc>
                  <a:txBody>
                    <a:bodyPr/>
                    <a:lstStyle/>
                    <a:p>
                      <a:r>
                        <a:rPr lang="en-US" dirty="0"/>
                        <a:t>Product</a:t>
                      </a:r>
                    </a:p>
                  </a:txBody>
                  <a:tcPr/>
                </a:tc>
                <a:tc>
                  <a:txBody>
                    <a:bodyPr/>
                    <a:lstStyle/>
                    <a:p>
                      <a:r>
                        <a:rPr lang="en-US" dirty="0"/>
                        <a:t>Spatial Resolution</a:t>
                      </a:r>
                    </a:p>
                  </a:txBody>
                  <a:tcPr/>
                </a:tc>
                <a:tc>
                  <a:txBody>
                    <a:bodyPr/>
                    <a:lstStyle/>
                    <a:p>
                      <a:r>
                        <a:rPr lang="en-US" dirty="0"/>
                        <a:t>Temporal Coverage</a:t>
                      </a:r>
                    </a:p>
                  </a:txBody>
                  <a:tcPr/>
                </a:tc>
                <a:tc>
                  <a:txBody>
                    <a:bodyPr/>
                    <a:lstStyle/>
                    <a:p>
                      <a:r>
                        <a:rPr lang="en-US" dirty="0"/>
                        <a:t>Data Update Frequency</a:t>
                      </a:r>
                    </a:p>
                  </a:txBody>
                  <a:tcPr/>
                </a:tc>
                <a:extLst>
                  <a:ext uri="{0D108BD9-81ED-4DB2-BD59-A6C34878D82A}">
                    <a16:rowId xmlns:a16="http://schemas.microsoft.com/office/drawing/2014/main" val="2855813642"/>
                  </a:ext>
                </a:extLst>
              </a:tr>
              <a:tr h="370840">
                <a:tc>
                  <a:txBody>
                    <a:bodyPr/>
                    <a:lstStyle/>
                    <a:p>
                      <a:r>
                        <a:rPr lang="en-US" dirty="0"/>
                        <a:t>MODIS MOSEV </a:t>
                      </a:r>
                    </a:p>
                  </a:txBody>
                  <a:tcPr/>
                </a:tc>
                <a:tc>
                  <a:txBody>
                    <a:bodyPr/>
                    <a:lstStyle/>
                    <a:p>
                      <a:r>
                        <a:rPr lang="en-US" dirty="0"/>
                        <a:t>500 m</a:t>
                      </a:r>
                    </a:p>
                  </a:txBody>
                  <a:tcPr/>
                </a:tc>
                <a:tc>
                  <a:txBody>
                    <a:bodyPr/>
                    <a:lstStyle/>
                    <a:p>
                      <a:r>
                        <a:rPr lang="en-US" dirty="0"/>
                        <a:t>Nov 2000 - present</a:t>
                      </a:r>
                    </a:p>
                  </a:txBody>
                  <a:tcPr/>
                </a:tc>
                <a:tc>
                  <a:txBody>
                    <a:bodyPr/>
                    <a:lstStyle/>
                    <a:p>
                      <a:r>
                        <a:rPr lang="en-US" dirty="0"/>
                        <a:t>Monthly</a:t>
                      </a:r>
                    </a:p>
                  </a:txBody>
                  <a:tcPr/>
                </a:tc>
                <a:extLst>
                  <a:ext uri="{0D108BD9-81ED-4DB2-BD59-A6C34878D82A}">
                    <a16:rowId xmlns:a16="http://schemas.microsoft.com/office/drawing/2014/main" val="3464984154"/>
                  </a:ext>
                </a:extLst>
              </a:tr>
              <a:tr h="370840">
                <a:tc>
                  <a:txBody>
                    <a:bodyPr/>
                    <a:lstStyle/>
                    <a:p>
                      <a:r>
                        <a:rPr lang="en-US" dirty="0">
                          <a:solidFill>
                            <a:srgbClr val="00B050"/>
                          </a:solidFill>
                        </a:rPr>
                        <a:t>MTBS</a:t>
                      </a:r>
                    </a:p>
                  </a:txBody>
                  <a:tcPr/>
                </a:tc>
                <a:tc>
                  <a:txBody>
                    <a:bodyPr/>
                    <a:lstStyle/>
                    <a:p>
                      <a:r>
                        <a:rPr lang="en-US" dirty="0">
                          <a:solidFill>
                            <a:srgbClr val="00B050"/>
                          </a:solidFill>
                        </a:rPr>
                        <a:t>30 m</a:t>
                      </a:r>
                    </a:p>
                  </a:txBody>
                  <a:tcPr/>
                </a:tc>
                <a:tc>
                  <a:txBody>
                    <a:bodyPr/>
                    <a:lstStyle/>
                    <a:p>
                      <a:r>
                        <a:rPr lang="en-US" dirty="0">
                          <a:solidFill>
                            <a:srgbClr val="00B050"/>
                          </a:solidFill>
                        </a:rPr>
                        <a:t>1984-present</a:t>
                      </a:r>
                    </a:p>
                  </a:txBody>
                  <a:tcPr/>
                </a:tc>
                <a:tc>
                  <a:txBody>
                    <a:bodyPr/>
                    <a:lstStyle/>
                    <a:p>
                      <a:r>
                        <a:rPr lang="en-US" dirty="0">
                          <a:solidFill>
                            <a:srgbClr val="00B050"/>
                          </a:solidFill>
                        </a:rPr>
                        <a:t>Annual</a:t>
                      </a:r>
                    </a:p>
                  </a:txBody>
                  <a:tcPr/>
                </a:tc>
                <a:extLst>
                  <a:ext uri="{0D108BD9-81ED-4DB2-BD59-A6C34878D82A}">
                    <a16:rowId xmlns:a16="http://schemas.microsoft.com/office/drawing/2014/main" val="729374592"/>
                  </a:ext>
                </a:extLst>
              </a:tr>
              <a:tr h="370840">
                <a:tc>
                  <a:txBody>
                    <a:bodyPr/>
                    <a:lstStyle/>
                    <a:p>
                      <a:r>
                        <a:rPr lang="en-US" dirty="0">
                          <a:solidFill>
                            <a:srgbClr val="00B050"/>
                          </a:solidFill>
                        </a:rPr>
                        <a:t>SE </a:t>
                      </a:r>
                      <a:r>
                        <a:rPr lang="en-US" dirty="0" err="1">
                          <a:solidFill>
                            <a:srgbClr val="00B050"/>
                          </a:solidFill>
                        </a:rPr>
                        <a:t>FireMap</a:t>
                      </a:r>
                      <a:endParaRPr lang="en-US" dirty="0">
                        <a:solidFill>
                          <a:srgbClr val="00B050"/>
                        </a:solidFill>
                      </a:endParaRPr>
                    </a:p>
                  </a:txBody>
                  <a:tcPr/>
                </a:tc>
                <a:tc>
                  <a:txBody>
                    <a:bodyPr/>
                    <a:lstStyle/>
                    <a:p>
                      <a:r>
                        <a:rPr lang="en-US" dirty="0">
                          <a:solidFill>
                            <a:srgbClr val="00B050"/>
                          </a:solidFill>
                        </a:rPr>
                        <a:t>30 m (designed for small SE fires)</a:t>
                      </a:r>
                    </a:p>
                  </a:txBody>
                  <a:tcPr/>
                </a:tc>
                <a:tc>
                  <a:txBody>
                    <a:bodyPr/>
                    <a:lstStyle/>
                    <a:p>
                      <a:r>
                        <a:rPr lang="en-US" dirty="0">
                          <a:solidFill>
                            <a:srgbClr val="00B050"/>
                          </a:solidFill>
                        </a:rPr>
                        <a:t>2000-2022</a:t>
                      </a:r>
                    </a:p>
                  </a:txBody>
                  <a:tcPr/>
                </a:tc>
                <a:tc>
                  <a:txBody>
                    <a:bodyPr/>
                    <a:lstStyle/>
                    <a:p>
                      <a:r>
                        <a:rPr lang="en-US" dirty="0">
                          <a:solidFill>
                            <a:srgbClr val="00B050"/>
                          </a:solidFill>
                        </a:rPr>
                        <a:t>Annual</a:t>
                      </a:r>
                    </a:p>
                  </a:txBody>
                  <a:tcPr/>
                </a:tc>
                <a:extLst>
                  <a:ext uri="{0D108BD9-81ED-4DB2-BD59-A6C34878D82A}">
                    <a16:rowId xmlns:a16="http://schemas.microsoft.com/office/drawing/2014/main" val="3959075759"/>
                  </a:ext>
                </a:extLst>
              </a:tr>
            </a:tbl>
          </a:graphicData>
        </a:graphic>
      </p:graphicFrame>
      <p:pic>
        <p:nvPicPr>
          <p:cNvPr id="9" name="Picture 8">
            <a:extLst>
              <a:ext uri="{FF2B5EF4-FFF2-40B4-BE49-F238E27FC236}">
                <a16:creationId xmlns:a16="http://schemas.microsoft.com/office/drawing/2014/main" id="{15D9277E-DCDA-8C36-E8CB-B4F036703F68}"/>
              </a:ext>
            </a:extLst>
          </p:cNvPr>
          <p:cNvPicPr>
            <a:picLocks noChangeAspect="1"/>
          </p:cNvPicPr>
          <p:nvPr/>
        </p:nvPicPr>
        <p:blipFill>
          <a:blip r:embed="rId2"/>
          <a:stretch>
            <a:fillRect/>
          </a:stretch>
        </p:blipFill>
        <p:spPr>
          <a:xfrm>
            <a:off x="3824589" y="2851274"/>
            <a:ext cx="4542822" cy="3863017"/>
          </a:xfrm>
          <a:prstGeom prst="rect">
            <a:avLst/>
          </a:prstGeom>
        </p:spPr>
      </p:pic>
    </p:spTree>
    <p:extLst>
      <p:ext uri="{BB962C8B-B14F-4D97-AF65-F5344CB8AC3E}">
        <p14:creationId xmlns:p14="http://schemas.microsoft.com/office/powerpoint/2010/main" val="343914793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00CD15-DBC9-DE41-415C-1BB7CAFAAE0F}"/>
              </a:ext>
            </a:extLst>
          </p:cNvPr>
          <p:cNvPicPr>
            <a:picLocks noChangeAspect="1"/>
          </p:cNvPicPr>
          <p:nvPr/>
        </p:nvPicPr>
        <p:blipFill>
          <a:blip r:embed="rId3"/>
          <a:stretch>
            <a:fillRect/>
          </a:stretch>
        </p:blipFill>
        <p:spPr>
          <a:xfrm>
            <a:off x="541525" y="228600"/>
            <a:ext cx="4830936" cy="3200400"/>
          </a:xfrm>
          <a:prstGeom prst="rect">
            <a:avLst/>
          </a:prstGeom>
        </p:spPr>
      </p:pic>
      <p:pic>
        <p:nvPicPr>
          <p:cNvPr id="5" name="Picture 4">
            <a:extLst>
              <a:ext uri="{FF2B5EF4-FFF2-40B4-BE49-F238E27FC236}">
                <a16:creationId xmlns:a16="http://schemas.microsoft.com/office/drawing/2014/main" id="{6D14EE8D-F20B-898D-B315-C1A59199FFC1}"/>
              </a:ext>
            </a:extLst>
          </p:cNvPr>
          <p:cNvPicPr>
            <a:picLocks noChangeAspect="1"/>
          </p:cNvPicPr>
          <p:nvPr/>
        </p:nvPicPr>
        <p:blipFill>
          <a:blip r:embed="rId4"/>
          <a:stretch>
            <a:fillRect/>
          </a:stretch>
        </p:blipFill>
        <p:spPr>
          <a:xfrm>
            <a:off x="311728" y="3553691"/>
            <a:ext cx="4648922" cy="3200400"/>
          </a:xfrm>
          <a:prstGeom prst="rect">
            <a:avLst/>
          </a:prstGeom>
        </p:spPr>
      </p:pic>
      <p:pic>
        <p:nvPicPr>
          <p:cNvPr id="6" name="Picture 5">
            <a:extLst>
              <a:ext uri="{FF2B5EF4-FFF2-40B4-BE49-F238E27FC236}">
                <a16:creationId xmlns:a16="http://schemas.microsoft.com/office/drawing/2014/main" id="{D85EDB61-B2DE-86AE-474E-1F66B67DDD1D}"/>
              </a:ext>
            </a:extLst>
          </p:cNvPr>
          <p:cNvPicPr>
            <a:picLocks noChangeAspect="1"/>
          </p:cNvPicPr>
          <p:nvPr/>
        </p:nvPicPr>
        <p:blipFill>
          <a:blip r:embed="rId5"/>
          <a:stretch>
            <a:fillRect/>
          </a:stretch>
        </p:blipFill>
        <p:spPr>
          <a:xfrm>
            <a:off x="6096000" y="1828800"/>
            <a:ext cx="4648922" cy="3200400"/>
          </a:xfrm>
          <a:prstGeom prst="rect">
            <a:avLst/>
          </a:prstGeom>
        </p:spPr>
      </p:pic>
      <p:sp>
        <p:nvSpPr>
          <p:cNvPr id="7" name="Rectangle 6">
            <a:extLst>
              <a:ext uri="{FF2B5EF4-FFF2-40B4-BE49-F238E27FC236}">
                <a16:creationId xmlns:a16="http://schemas.microsoft.com/office/drawing/2014/main" id="{3EA8B601-81CA-0559-41CA-5B61476ABE93}"/>
              </a:ext>
            </a:extLst>
          </p:cNvPr>
          <p:cNvSpPr/>
          <p:nvPr/>
        </p:nvSpPr>
        <p:spPr>
          <a:xfrm rot="16200000">
            <a:off x="4504765" y="1506071"/>
            <a:ext cx="1277471" cy="6454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err="1">
                <a:solidFill>
                  <a:schemeClr val="tx1"/>
                </a:solidFill>
              </a:rPr>
              <a:t>dNBR</a:t>
            </a:r>
            <a:endParaRPr lang="en-US" sz="1100" dirty="0">
              <a:solidFill>
                <a:schemeClr val="tx1"/>
              </a:solidFill>
            </a:endParaRPr>
          </a:p>
        </p:txBody>
      </p:sp>
      <p:sp>
        <p:nvSpPr>
          <p:cNvPr id="9" name="Rectangle 8">
            <a:extLst>
              <a:ext uri="{FF2B5EF4-FFF2-40B4-BE49-F238E27FC236}">
                <a16:creationId xmlns:a16="http://schemas.microsoft.com/office/drawing/2014/main" id="{0FD2539F-A61E-4874-642B-6E880785CC16}"/>
              </a:ext>
            </a:extLst>
          </p:cNvPr>
          <p:cNvSpPr/>
          <p:nvPr/>
        </p:nvSpPr>
        <p:spPr>
          <a:xfrm>
            <a:off x="10602686" y="3229429"/>
            <a:ext cx="297543" cy="4717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D4720FA-BEE1-5B93-58BD-A51D9F34FA46}"/>
              </a:ext>
            </a:extLst>
          </p:cNvPr>
          <p:cNvSpPr txBox="1"/>
          <p:nvPr/>
        </p:nvSpPr>
        <p:spPr>
          <a:xfrm rot="16200000">
            <a:off x="10443694" y="3316632"/>
            <a:ext cx="543739" cy="369332"/>
          </a:xfrm>
          <a:prstGeom prst="rect">
            <a:avLst/>
          </a:prstGeom>
          <a:noFill/>
        </p:spPr>
        <p:txBody>
          <a:bodyPr wrap="none" rtlCol="0">
            <a:spAutoFit/>
          </a:bodyPr>
          <a:lstStyle/>
          <a:p>
            <a:r>
              <a:rPr lang="en-US" dirty="0"/>
              <a:t>CBI</a:t>
            </a:r>
          </a:p>
        </p:txBody>
      </p:sp>
    </p:spTree>
    <p:extLst>
      <p:ext uri="{BB962C8B-B14F-4D97-AF65-F5344CB8AC3E}">
        <p14:creationId xmlns:p14="http://schemas.microsoft.com/office/powerpoint/2010/main" val="159584014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D2FC35C-8215-C866-9A4E-7B60420A14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32E9EB-381D-9CDA-8B23-0BEEAD77F886}"/>
              </a:ext>
            </a:extLst>
          </p:cNvPr>
          <p:cNvSpPr>
            <a:spLocks noGrp="1"/>
          </p:cNvSpPr>
          <p:nvPr>
            <p:ph type="title"/>
          </p:nvPr>
        </p:nvSpPr>
        <p:spPr/>
        <p:txBody>
          <a:bodyPr/>
          <a:lstStyle/>
          <a:p>
            <a:r>
              <a:rPr lang="en-US" dirty="0"/>
              <a:t>Recommendations</a:t>
            </a:r>
          </a:p>
        </p:txBody>
      </p:sp>
      <p:sp>
        <p:nvSpPr>
          <p:cNvPr id="3" name="Content Placeholder 2">
            <a:extLst>
              <a:ext uri="{FF2B5EF4-FFF2-40B4-BE49-F238E27FC236}">
                <a16:creationId xmlns:a16="http://schemas.microsoft.com/office/drawing/2014/main" id="{06C7CC59-A608-0474-7C2B-533624D93AAC}"/>
              </a:ext>
            </a:extLst>
          </p:cNvPr>
          <p:cNvSpPr>
            <a:spLocks noGrp="1"/>
          </p:cNvSpPr>
          <p:nvPr>
            <p:ph idx="1"/>
          </p:nvPr>
        </p:nvSpPr>
        <p:spPr/>
        <p:txBody>
          <a:bodyPr/>
          <a:lstStyle/>
          <a:p>
            <a:r>
              <a:rPr lang="en-US" dirty="0"/>
              <a:t>Occurrence: VIIRS active fire (375m, 2012-).</a:t>
            </a:r>
          </a:p>
          <a:p>
            <a:r>
              <a:rPr lang="en-US" dirty="0"/>
              <a:t>Burned area extent: GABAM (30m, long) as primary, cross-check with USGS LBA, MODIS/</a:t>
            </a:r>
            <a:r>
              <a:rPr lang="en-US" dirty="0" err="1"/>
              <a:t>FireCCI</a:t>
            </a:r>
            <a:r>
              <a:rPr lang="en-US" dirty="0"/>
              <a:t> as coarse sensitivity check.</a:t>
            </a:r>
          </a:p>
          <a:p>
            <a:r>
              <a:rPr lang="en-US" dirty="0"/>
              <a:t>Severity: SE </a:t>
            </a:r>
            <a:r>
              <a:rPr lang="en-US" dirty="0" err="1"/>
              <a:t>FireMap</a:t>
            </a:r>
            <a:r>
              <a:rPr lang="en-US" dirty="0"/>
              <a:t> (30m, SE-specific, small-fire-aware) as primary for small fires, but MTBS as primary for large fires. Cross-check with MOSEV (500m, long) and the other primary product.</a:t>
            </a:r>
          </a:p>
        </p:txBody>
      </p:sp>
    </p:spTree>
    <p:extLst>
      <p:ext uri="{BB962C8B-B14F-4D97-AF65-F5344CB8AC3E}">
        <p14:creationId xmlns:p14="http://schemas.microsoft.com/office/powerpoint/2010/main" val="399905013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9B980-57B7-A618-8EE6-C9CF423F7BF2}"/>
              </a:ext>
            </a:extLst>
          </p:cNvPr>
          <p:cNvSpPr>
            <a:spLocks noGrp="1"/>
          </p:cNvSpPr>
          <p:nvPr>
            <p:ph type="ctrTitle"/>
          </p:nvPr>
        </p:nvSpPr>
        <p:spPr/>
        <p:txBody>
          <a:bodyPr/>
          <a:lstStyle/>
          <a:p>
            <a:r>
              <a:rPr lang="en-US" dirty="0"/>
              <a:t>Advice on trends in areas of interest</a:t>
            </a:r>
          </a:p>
        </p:txBody>
      </p:sp>
      <p:sp>
        <p:nvSpPr>
          <p:cNvPr id="3" name="Subtitle 2">
            <a:extLst>
              <a:ext uri="{FF2B5EF4-FFF2-40B4-BE49-F238E27FC236}">
                <a16:creationId xmlns:a16="http://schemas.microsoft.com/office/drawing/2014/main" id="{3040ABBD-743B-EE68-3514-51E4CF9F1BE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16068760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0FE24-3D62-DF5C-6D70-5C93D72B24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EF5F93-4901-1B65-2CF9-72F6623B2DA8}"/>
              </a:ext>
            </a:extLst>
          </p:cNvPr>
          <p:cNvSpPr>
            <a:spLocks noGrp="1"/>
          </p:cNvSpPr>
          <p:nvPr>
            <p:ph type="title"/>
          </p:nvPr>
        </p:nvSpPr>
        <p:spPr/>
        <p:txBody>
          <a:bodyPr/>
          <a:lstStyle/>
          <a:p>
            <a:r>
              <a:rPr lang="en-US" dirty="0"/>
              <a:t>Fire Data Download</a:t>
            </a:r>
          </a:p>
        </p:txBody>
      </p:sp>
      <p:graphicFrame>
        <p:nvGraphicFramePr>
          <p:cNvPr id="4" name="Content Placeholder 3">
            <a:extLst>
              <a:ext uri="{FF2B5EF4-FFF2-40B4-BE49-F238E27FC236}">
                <a16:creationId xmlns:a16="http://schemas.microsoft.com/office/drawing/2014/main" id="{F5EE947A-A90F-F97E-1E8C-CB68DF393BE2}"/>
              </a:ext>
            </a:extLst>
          </p:cNvPr>
          <p:cNvGraphicFramePr>
            <a:graphicFrameLocks noGrp="1"/>
          </p:cNvGraphicFramePr>
          <p:nvPr>
            <p:ph idx="1"/>
            <p:extLst>
              <p:ext uri="{D42A27DB-BD31-4B8C-83A1-F6EECF244321}">
                <p14:modId xmlns:p14="http://schemas.microsoft.com/office/powerpoint/2010/main" val="4074354596"/>
              </p:ext>
            </p:extLst>
          </p:nvPr>
        </p:nvGraphicFramePr>
        <p:xfrm>
          <a:off x="838200" y="1825625"/>
          <a:ext cx="10515600" cy="36068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313059565"/>
                    </a:ext>
                  </a:extLst>
                </a:gridCol>
                <a:gridCol w="5257800">
                  <a:extLst>
                    <a:ext uri="{9D8B030D-6E8A-4147-A177-3AD203B41FA5}">
                      <a16:colId xmlns:a16="http://schemas.microsoft.com/office/drawing/2014/main" val="2865651798"/>
                    </a:ext>
                  </a:extLst>
                </a:gridCol>
              </a:tblGrid>
              <a:tr h="370840">
                <a:tc>
                  <a:txBody>
                    <a:bodyPr/>
                    <a:lstStyle/>
                    <a:p>
                      <a:r>
                        <a:rPr lang="en-US" dirty="0"/>
                        <a:t>Product</a:t>
                      </a:r>
                    </a:p>
                  </a:txBody>
                  <a:tcPr/>
                </a:tc>
                <a:tc>
                  <a:txBody>
                    <a:bodyPr/>
                    <a:lstStyle/>
                    <a:p>
                      <a:r>
                        <a:rPr lang="en-US" dirty="0"/>
                        <a:t>Downloaded? Issues?</a:t>
                      </a:r>
                    </a:p>
                  </a:txBody>
                  <a:tcPr/>
                </a:tc>
                <a:extLst>
                  <a:ext uri="{0D108BD9-81ED-4DB2-BD59-A6C34878D82A}">
                    <a16:rowId xmlns:a16="http://schemas.microsoft.com/office/drawing/2014/main" val="477085781"/>
                  </a:ext>
                </a:extLst>
              </a:tr>
              <a:tr h="370840">
                <a:tc>
                  <a:txBody>
                    <a:bodyPr/>
                    <a:lstStyle/>
                    <a:p>
                      <a:r>
                        <a:rPr lang="en-US" dirty="0"/>
                        <a:t>MODIS</a:t>
                      </a:r>
                    </a:p>
                  </a:txBody>
                  <a:tcPr/>
                </a:tc>
                <a:tc>
                  <a:txBody>
                    <a:bodyPr/>
                    <a:lstStyle/>
                    <a:p>
                      <a:r>
                        <a:rPr lang="en-US" dirty="0"/>
                        <a:t>Y</a:t>
                      </a:r>
                    </a:p>
                  </a:txBody>
                  <a:tcPr/>
                </a:tc>
                <a:extLst>
                  <a:ext uri="{0D108BD9-81ED-4DB2-BD59-A6C34878D82A}">
                    <a16:rowId xmlns:a16="http://schemas.microsoft.com/office/drawing/2014/main" val="3131007403"/>
                  </a:ext>
                </a:extLst>
              </a:tr>
              <a:tr h="370840">
                <a:tc>
                  <a:txBody>
                    <a:bodyPr/>
                    <a:lstStyle/>
                    <a:p>
                      <a:r>
                        <a:rPr lang="en-US" dirty="0"/>
                        <a:t>VIIRS</a:t>
                      </a:r>
                    </a:p>
                  </a:txBody>
                  <a:tcPr/>
                </a:tc>
                <a:tc>
                  <a:txBody>
                    <a:bodyPr/>
                    <a:lstStyle/>
                    <a:p>
                      <a:r>
                        <a:rPr lang="en-US" dirty="0"/>
                        <a:t>Y</a:t>
                      </a:r>
                    </a:p>
                  </a:txBody>
                  <a:tcPr/>
                </a:tc>
                <a:extLst>
                  <a:ext uri="{0D108BD9-81ED-4DB2-BD59-A6C34878D82A}">
                    <a16:rowId xmlns:a16="http://schemas.microsoft.com/office/drawing/2014/main" val="3023446004"/>
                  </a:ext>
                </a:extLst>
              </a:tr>
              <a:tr h="370840">
                <a:tc>
                  <a:txBody>
                    <a:bodyPr/>
                    <a:lstStyle/>
                    <a:p>
                      <a:r>
                        <a:rPr lang="en-US" dirty="0"/>
                        <a:t>GABAM</a:t>
                      </a:r>
                    </a:p>
                  </a:txBody>
                  <a:tcPr/>
                </a:tc>
                <a:tc>
                  <a:txBody>
                    <a:bodyPr/>
                    <a:lstStyle/>
                    <a:p>
                      <a:r>
                        <a:rPr lang="en-US" dirty="0"/>
                        <a:t>Y</a:t>
                      </a:r>
                    </a:p>
                  </a:txBody>
                  <a:tcPr/>
                </a:tc>
                <a:extLst>
                  <a:ext uri="{0D108BD9-81ED-4DB2-BD59-A6C34878D82A}">
                    <a16:rowId xmlns:a16="http://schemas.microsoft.com/office/drawing/2014/main" val="228095999"/>
                  </a:ext>
                </a:extLst>
              </a:tr>
              <a:tr h="370840">
                <a:tc>
                  <a:txBody>
                    <a:bodyPr/>
                    <a:lstStyle/>
                    <a:p>
                      <a:r>
                        <a:rPr lang="en-US" dirty="0"/>
                        <a:t>SE </a:t>
                      </a:r>
                      <a:r>
                        <a:rPr lang="en-US" dirty="0" err="1"/>
                        <a:t>FireMap</a:t>
                      </a:r>
                      <a:endParaRPr lang="en-US" dirty="0"/>
                    </a:p>
                  </a:txBody>
                  <a:tcPr/>
                </a:tc>
                <a:tc>
                  <a:txBody>
                    <a:bodyPr/>
                    <a:lstStyle/>
                    <a:p>
                      <a:r>
                        <a:rPr lang="en-US" dirty="0"/>
                        <a:t>Y</a:t>
                      </a:r>
                    </a:p>
                  </a:txBody>
                  <a:tcPr/>
                </a:tc>
                <a:extLst>
                  <a:ext uri="{0D108BD9-81ED-4DB2-BD59-A6C34878D82A}">
                    <a16:rowId xmlns:a16="http://schemas.microsoft.com/office/drawing/2014/main" val="2668887784"/>
                  </a:ext>
                </a:extLst>
              </a:tr>
              <a:tr h="370840">
                <a:tc>
                  <a:txBody>
                    <a:bodyPr/>
                    <a:lstStyle/>
                    <a:p>
                      <a:r>
                        <a:rPr lang="en-US" dirty="0"/>
                        <a:t>FireCCI51 and FireCCIS311</a:t>
                      </a:r>
                    </a:p>
                  </a:txBody>
                  <a:tcPr/>
                </a:tc>
                <a:tc>
                  <a:txBody>
                    <a:bodyPr/>
                    <a:lstStyle/>
                    <a:p>
                      <a:r>
                        <a:rPr lang="en-US" dirty="0"/>
                        <a:t>Y</a:t>
                      </a:r>
                    </a:p>
                  </a:txBody>
                  <a:tcPr/>
                </a:tc>
                <a:extLst>
                  <a:ext uri="{0D108BD9-81ED-4DB2-BD59-A6C34878D82A}">
                    <a16:rowId xmlns:a16="http://schemas.microsoft.com/office/drawing/2014/main" val="3379537645"/>
                  </a:ext>
                </a:extLst>
              </a:tr>
              <a:tr h="370840">
                <a:tc>
                  <a:txBody>
                    <a:bodyPr/>
                    <a:lstStyle/>
                    <a:p>
                      <a:r>
                        <a:rPr lang="en-US" dirty="0"/>
                        <a:t>MOSEV</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a:t>
                      </a:r>
                    </a:p>
                  </a:txBody>
                  <a:tcPr/>
                </a:tc>
                <a:extLst>
                  <a:ext uri="{0D108BD9-81ED-4DB2-BD59-A6C34878D82A}">
                    <a16:rowId xmlns:a16="http://schemas.microsoft.com/office/drawing/2014/main" val="122829810"/>
                  </a:ext>
                </a:extLst>
              </a:tr>
              <a:tr h="370840">
                <a:tc>
                  <a:txBody>
                    <a:bodyPr/>
                    <a:lstStyle/>
                    <a:p>
                      <a:r>
                        <a:rPr lang="en-US" dirty="0"/>
                        <a:t>MTBS/UFMP</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a:t>
                      </a:r>
                    </a:p>
                  </a:txBody>
                  <a:tcPr/>
                </a:tc>
                <a:extLst>
                  <a:ext uri="{0D108BD9-81ED-4DB2-BD59-A6C34878D82A}">
                    <a16:rowId xmlns:a16="http://schemas.microsoft.com/office/drawing/2014/main" val="1408408344"/>
                  </a:ext>
                </a:extLst>
              </a:tr>
              <a:tr h="370840">
                <a:tc>
                  <a:txBody>
                    <a:bodyPr/>
                    <a:lstStyle/>
                    <a:p>
                      <a:r>
                        <a:rPr lang="en-US" dirty="0"/>
                        <a:t>USGS</a:t>
                      </a:r>
                    </a:p>
                  </a:txBody>
                  <a:tcPr/>
                </a:tc>
                <a:tc>
                  <a:txBody>
                    <a:bodyPr/>
                    <a:lstStyle/>
                    <a:p>
                      <a:r>
                        <a:rPr lang="en-US" dirty="0"/>
                        <a:t>Had API permission issue – resolved now, will download later</a:t>
                      </a:r>
                    </a:p>
                  </a:txBody>
                  <a:tcPr/>
                </a:tc>
                <a:extLst>
                  <a:ext uri="{0D108BD9-81ED-4DB2-BD59-A6C34878D82A}">
                    <a16:rowId xmlns:a16="http://schemas.microsoft.com/office/drawing/2014/main" val="69953743"/>
                  </a:ext>
                </a:extLst>
              </a:tr>
            </a:tbl>
          </a:graphicData>
        </a:graphic>
      </p:graphicFrame>
      <p:sp>
        <p:nvSpPr>
          <p:cNvPr id="5" name="TextBox 4">
            <a:extLst>
              <a:ext uri="{FF2B5EF4-FFF2-40B4-BE49-F238E27FC236}">
                <a16:creationId xmlns:a16="http://schemas.microsoft.com/office/drawing/2014/main" id="{724FBBEA-9485-7EF6-2D4F-42D3E858B6A7}"/>
              </a:ext>
            </a:extLst>
          </p:cNvPr>
          <p:cNvSpPr txBox="1"/>
          <p:nvPr/>
        </p:nvSpPr>
        <p:spPr>
          <a:xfrm>
            <a:off x="3267856" y="5216577"/>
            <a:ext cx="184731" cy="369332"/>
          </a:xfrm>
          <a:prstGeom prst="rect">
            <a:avLst/>
          </a:prstGeom>
          <a:noFill/>
        </p:spPr>
        <p:txBody>
          <a:bodyPr wrap="none" rtlCol="0">
            <a:spAutoFit/>
          </a:bodyPr>
          <a:lstStyle/>
          <a:p>
            <a:endParaRPr lang="en-US" dirty="0"/>
          </a:p>
        </p:txBody>
      </p:sp>
      <p:sp>
        <p:nvSpPr>
          <p:cNvPr id="8" name="TextBox 7">
            <a:extLst>
              <a:ext uri="{FF2B5EF4-FFF2-40B4-BE49-F238E27FC236}">
                <a16:creationId xmlns:a16="http://schemas.microsoft.com/office/drawing/2014/main" id="{175A818A-AD1D-98AA-11ED-48397D1EB6FD}"/>
              </a:ext>
            </a:extLst>
          </p:cNvPr>
          <p:cNvSpPr txBox="1"/>
          <p:nvPr/>
        </p:nvSpPr>
        <p:spPr>
          <a:xfrm>
            <a:off x="838200" y="5741233"/>
            <a:ext cx="2061334" cy="369332"/>
          </a:xfrm>
          <a:prstGeom prst="rect">
            <a:avLst/>
          </a:prstGeom>
          <a:noFill/>
        </p:spPr>
        <p:txBody>
          <a:bodyPr wrap="none" rtlCol="0">
            <a:spAutoFit/>
          </a:bodyPr>
          <a:lstStyle/>
          <a:p>
            <a:r>
              <a:rPr lang="en-US" dirty="0" err="1"/>
              <a:t>Data_inventory.csv</a:t>
            </a:r>
            <a:endParaRPr lang="en-US" dirty="0"/>
          </a:p>
        </p:txBody>
      </p:sp>
    </p:spTree>
    <p:extLst>
      <p:ext uri="{BB962C8B-B14F-4D97-AF65-F5344CB8AC3E}">
        <p14:creationId xmlns:p14="http://schemas.microsoft.com/office/powerpoint/2010/main" val="111643607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BEDC-7154-587A-96F0-FCFD504FBAC9}"/>
              </a:ext>
            </a:extLst>
          </p:cNvPr>
          <p:cNvSpPr>
            <a:spLocks noGrp="1"/>
          </p:cNvSpPr>
          <p:nvPr>
            <p:ph type="ctrTitle"/>
          </p:nvPr>
        </p:nvSpPr>
        <p:spPr/>
        <p:txBody>
          <a:bodyPr/>
          <a:lstStyle/>
          <a:p>
            <a:r>
              <a:rPr lang="en-US" dirty="0"/>
              <a:t>6/4/26</a:t>
            </a:r>
          </a:p>
        </p:txBody>
      </p:sp>
      <p:sp>
        <p:nvSpPr>
          <p:cNvPr id="3" name="Subtitle 2">
            <a:extLst>
              <a:ext uri="{FF2B5EF4-FFF2-40B4-BE49-F238E27FC236}">
                <a16:creationId xmlns:a16="http://schemas.microsoft.com/office/drawing/2014/main" id="{3B27B83B-70DC-DA08-C962-08E2BE779659}"/>
              </a:ext>
            </a:extLst>
          </p:cNvPr>
          <p:cNvSpPr>
            <a:spLocks noGrp="1"/>
          </p:cNvSpPr>
          <p:nvPr>
            <p:ph type="subTitle" idx="1"/>
          </p:nvPr>
        </p:nvSpPr>
        <p:spPr/>
        <p:txBody>
          <a:bodyPr/>
          <a:lstStyle/>
          <a:p>
            <a:r>
              <a:rPr lang="en-US" dirty="0"/>
              <a:t>Fire Product Comparison</a:t>
            </a:r>
          </a:p>
          <a:p>
            <a:r>
              <a:rPr lang="en-US" dirty="0"/>
              <a:t>Fire Data Download</a:t>
            </a:r>
          </a:p>
          <a:p>
            <a:r>
              <a:rPr lang="en-US" dirty="0"/>
              <a:t>Box Issues/Belowground smoldering confound</a:t>
            </a:r>
          </a:p>
        </p:txBody>
      </p:sp>
    </p:spTree>
    <p:extLst>
      <p:ext uri="{BB962C8B-B14F-4D97-AF65-F5344CB8AC3E}">
        <p14:creationId xmlns:p14="http://schemas.microsoft.com/office/powerpoint/2010/main" val="25976610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440D6-C470-378B-7F55-086897C2A17B}"/>
              </a:ext>
            </a:extLst>
          </p:cNvPr>
          <p:cNvSpPr>
            <a:spLocks noGrp="1"/>
          </p:cNvSpPr>
          <p:nvPr>
            <p:ph type="title"/>
          </p:nvPr>
        </p:nvSpPr>
        <p:spPr/>
        <p:txBody>
          <a:bodyPr/>
          <a:lstStyle/>
          <a:p>
            <a:r>
              <a:rPr lang="en-US" dirty="0"/>
              <a:t>Fire Product Comparison</a:t>
            </a:r>
          </a:p>
        </p:txBody>
      </p:sp>
      <p:sp>
        <p:nvSpPr>
          <p:cNvPr id="3" name="Content Placeholder 2">
            <a:extLst>
              <a:ext uri="{FF2B5EF4-FFF2-40B4-BE49-F238E27FC236}">
                <a16:creationId xmlns:a16="http://schemas.microsoft.com/office/drawing/2014/main" id="{AAFF2416-B572-C63F-8380-66C118E341A5}"/>
              </a:ext>
            </a:extLst>
          </p:cNvPr>
          <p:cNvSpPr>
            <a:spLocks noGrp="1"/>
          </p:cNvSpPr>
          <p:nvPr>
            <p:ph idx="1"/>
          </p:nvPr>
        </p:nvSpPr>
        <p:spPr/>
        <p:txBody>
          <a:bodyPr/>
          <a:lstStyle/>
          <a:p>
            <a:r>
              <a:rPr lang="en-US" dirty="0"/>
              <a:t>Occurrence: VIIRS active fire (375m, 2012-).</a:t>
            </a:r>
          </a:p>
          <a:p>
            <a:r>
              <a:rPr lang="en-US" dirty="0"/>
              <a:t>Burned area extent: GABAM (30m, long) as primary, cross-check with USGS LBA, MODIS/</a:t>
            </a:r>
            <a:r>
              <a:rPr lang="en-US" dirty="0" err="1"/>
              <a:t>FireCCI</a:t>
            </a:r>
            <a:r>
              <a:rPr lang="en-US" dirty="0"/>
              <a:t> as coarse sensitivity check.</a:t>
            </a:r>
          </a:p>
          <a:p>
            <a:r>
              <a:rPr lang="en-US" dirty="0"/>
              <a:t>Severity: SE </a:t>
            </a:r>
            <a:r>
              <a:rPr lang="en-US" dirty="0" err="1"/>
              <a:t>FireMap</a:t>
            </a:r>
            <a:r>
              <a:rPr lang="en-US" dirty="0"/>
              <a:t> (30m, SE-specific, small-fire-aware) as primary for small fires, but MTBS as primary for large fires. Cross-check with MOSEV (500m, long) and the other primary product.</a:t>
            </a:r>
          </a:p>
        </p:txBody>
      </p:sp>
    </p:spTree>
    <p:extLst>
      <p:ext uri="{BB962C8B-B14F-4D97-AF65-F5344CB8AC3E}">
        <p14:creationId xmlns:p14="http://schemas.microsoft.com/office/powerpoint/2010/main" val="350481129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B370C-3A1A-281E-260C-D50B6495EEA7}"/>
              </a:ext>
            </a:extLst>
          </p:cNvPr>
          <p:cNvSpPr>
            <a:spLocks noGrp="1"/>
          </p:cNvSpPr>
          <p:nvPr>
            <p:ph type="title"/>
          </p:nvPr>
        </p:nvSpPr>
        <p:spPr/>
        <p:txBody>
          <a:bodyPr/>
          <a:lstStyle/>
          <a:p>
            <a:r>
              <a:rPr lang="en-US" dirty="0"/>
              <a:t>Fire Data Download</a:t>
            </a:r>
          </a:p>
        </p:txBody>
      </p:sp>
      <p:graphicFrame>
        <p:nvGraphicFramePr>
          <p:cNvPr id="4" name="Content Placeholder 3">
            <a:extLst>
              <a:ext uri="{FF2B5EF4-FFF2-40B4-BE49-F238E27FC236}">
                <a16:creationId xmlns:a16="http://schemas.microsoft.com/office/drawing/2014/main" id="{4B4281E7-9C7C-C63C-7C83-FFB4667D51AD}"/>
              </a:ext>
            </a:extLst>
          </p:cNvPr>
          <p:cNvGraphicFramePr>
            <a:graphicFrameLocks noGrp="1"/>
          </p:cNvGraphicFramePr>
          <p:nvPr>
            <p:ph idx="1"/>
            <p:extLst>
              <p:ext uri="{D42A27DB-BD31-4B8C-83A1-F6EECF244321}">
                <p14:modId xmlns:p14="http://schemas.microsoft.com/office/powerpoint/2010/main" val="3562008573"/>
              </p:ext>
            </p:extLst>
          </p:nvPr>
        </p:nvGraphicFramePr>
        <p:xfrm>
          <a:off x="838200" y="1825625"/>
          <a:ext cx="10515600" cy="333756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313059565"/>
                    </a:ext>
                  </a:extLst>
                </a:gridCol>
                <a:gridCol w="5257800">
                  <a:extLst>
                    <a:ext uri="{9D8B030D-6E8A-4147-A177-3AD203B41FA5}">
                      <a16:colId xmlns:a16="http://schemas.microsoft.com/office/drawing/2014/main" val="2865651798"/>
                    </a:ext>
                  </a:extLst>
                </a:gridCol>
              </a:tblGrid>
              <a:tr h="370840">
                <a:tc>
                  <a:txBody>
                    <a:bodyPr/>
                    <a:lstStyle/>
                    <a:p>
                      <a:r>
                        <a:rPr lang="en-US" dirty="0"/>
                        <a:t>Product</a:t>
                      </a:r>
                    </a:p>
                  </a:txBody>
                  <a:tcPr/>
                </a:tc>
                <a:tc>
                  <a:txBody>
                    <a:bodyPr/>
                    <a:lstStyle/>
                    <a:p>
                      <a:r>
                        <a:rPr lang="en-US" dirty="0"/>
                        <a:t>Downloaded? Issues?</a:t>
                      </a:r>
                    </a:p>
                  </a:txBody>
                  <a:tcPr/>
                </a:tc>
                <a:extLst>
                  <a:ext uri="{0D108BD9-81ED-4DB2-BD59-A6C34878D82A}">
                    <a16:rowId xmlns:a16="http://schemas.microsoft.com/office/drawing/2014/main" val="477085781"/>
                  </a:ext>
                </a:extLst>
              </a:tr>
              <a:tr h="370840">
                <a:tc>
                  <a:txBody>
                    <a:bodyPr/>
                    <a:lstStyle/>
                    <a:p>
                      <a:r>
                        <a:rPr lang="en-US" dirty="0"/>
                        <a:t>MODIS</a:t>
                      </a:r>
                    </a:p>
                  </a:txBody>
                  <a:tcPr/>
                </a:tc>
                <a:tc>
                  <a:txBody>
                    <a:bodyPr/>
                    <a:lstStyle/>
                    <a:p>
                      <a:r>
                        <a:rPr lang="en-US" dirty="0"/>
                        <a:t>Y</a:t>
                      </a:r>
                    </a:p>
                  </a:txBody>
                  <a:tcPr/>
                </a:tc>
                <a:extLst>
                  <a:ext uri="{0D108BD9-81ED-4DB2-BD59-A6C34878D82A}">
                    <a16:rowId xmlns:a16="http://schemas.microsoft.com/office/drawing/2014/main" val="3131007403"/>
                  </a:ext>
                </a:extLst>
              </a:tr>
              <a:tr h="370840">
                <a:tc>
                  <a:txBody>
                    <a:bodyPr/>
                    <a:lstStyle/>
                    <a:p>
                      <a:r>
                        <a:rPr lang="en-US" dirty="0"/>
                        <a:t>VIIRS</a:t>
                      </a:r>
                    </a:p>
                  </a:txBody>
                  <a:tcPr/>
                </a:tc>
                <a:tc>
                  <a:txBody>
                    <a:bodyPr/>
                    <a:lstStyle/>
                    <a:p>
                      <a:r>
                        <a:rPr lang="en-US" dirty="0"/>
                        <a:t>Y</a:t>
                      </a:r>
                    </a:p>
                  </a:txBody>
                  <a:tcPr/>
                </a:tc>
                <a:extLst>
                  <a:ext uri="{0D108BD9-81ED-4DB2-BD59-A6C34878D82A}">
                    <a16:rowId xmlns:a16="http://schemas.microsoft.com/office/drawing/2014/main" val="3023446004"/>
                  </a:ext>
                </a:extLst>
              </a:tr>
              <a:tr h="370840">
                <a:tc>
                  <a:txBody>
                    <a:bodyPr/>
                    <a:lstStyle/>
                    <a:p>
                      <a:r>
                        <a:rPr lang="en-US" dirty="0"/>
                        <a:t>GABAM</a:t>
                      </a:r>
                    </a:p>
                  </a:txBody>
                  <a:tcPr/>
                </a:tc>
                <a:tc>
                  <a:txBody>
                    <a:bodyPr/>
                    <a:lstStyle/>
                    <a:p>
                      <a:r>
                        <a:rPr lang="en-US" dirty="0"/>
                        <a:t>Y</a:t>
                      </a:r>
                    </a:p>
                  </a:txBody>
                  <a:tcPr/>
                </a:tc>
                <a:extLst>
                  <a:ext uri="{0D108BD9-81ED-4DB2-BD59-A6C34878D82A}">
                    <a16:rowId xmlns:a16="http://schemas.microsoft.com/office/drawing/2014/main" val="228095999"/>
                  </a:ext>
                </a:extLst>
              </a:tr>
              <a:tr h="370840">
                <a:tc>
                  <a:txBody>
                    <a:bodyPr/>
                    <a:lstStyle/>
                    <a:p>
                      <a:r>
                        <a:rPr lang="en-US" dirty="0"/>
                        <a:t>SE </a:t>
                      </a:r>
                      <a:r>
                        <a:rPr lang="en-US" dirty="0" err="1"/>
                        <a:t>FireMap</a:t>
                      </a:r>
                      <a:endParaRPr lang="en-US" dirty="0"/>
                    </a:p>
                  </a:txBody>
                  <a:tcPr/>
                </a:tc>
                <a:tc>
                  <a:txBody>
                    <a:bodyPr/>
                    <a:lstStyle/>
                    <a:p>
                      <a:r>
                        <a:rPr lang="en-US" dirty="0"/>
                        <a:t>Y</a:t>
                      </a:r>
                    </a:p>
                  </a:txBody>
                  <a:tcPr/>
                </a:tc>
                <a:extLst>
                  <a:ext uri="{0D108BD9-81ED-4DB2-BD59-A6C34878D82A}">
                    <a16:rowId xmlns:a16="http://schemas.microsoft.com/office/drawing/2014/main" val="2668887784"/>
                  </a:ext>
                </a:extLst>
              </a:tr>
              <a:tr h="370840">
                <a:tc>
                  <a:txBody>
                    <a:bodyPr/>
                    <a:lstStyle/>
                    <a:p>
                      <a:r>
                        <a:rPr lang="en-US" dirty="0"/>
                        <a:t>FireCCI51 and FireCCIS311</a:t>
                      </a:r>
                    </a:p>
                  </a:txBody>
                  <a:tcPr/>
                </a:tc>
                <a:tc>
                  <a:txBody>
                    <a:bodyPr/>
                    <a:lstStyle/>
                    <a:p>
                      <a:r>
                        <a:rPr lang="en-US" dirty="0"/>
                        <a:t>Not tried yet</a:t>
                      </a:r>
                    </a:p>
                  </a:txBody>
                  <a:tcPr/>
                </a:tc>
                <a:extLst>
                  <a:ext uri="{0D108BD9-81ED-4DB2-BD59-A6C34878D82A}">
                    <a16:rowId xmlns:a16="http://schemas.microsoft.com/office/drawing/2014/main" val="3379537645"/>
                  </a:ext>
                </a:extLst>
              </a:tr>
              <a:tr h="370840">
                <a:tc>
                  <a:txBody>
                    <a:bodyPr/>
                    <a:lstStyle/>
                    <a:p>
                      <a:r>
                        <a:rPr lang="en-US" dirty="0"/>
                        <a:t>MOSEV</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tried yet</a:t>
                      </a:r>
                    </a:p>
                  </a:txBody>
                  <a:tcPr/>
                </a:tc>
                <a:extLst>
                  <a:ext uri="{0D108BD9-81ED-4DB2-BD59-A6C34878D82A}">
                    <a16:rowId xmlns:a16="http://schemas.microsoft.com/office/drawing/2014/main" val="122829810"/>
                  </a:ext>
                </a:extLst>
              </a:tr>
              <a:tr h="370840">
                <a:tc>
                  <a:txBody>
                    <a:bodyPr/>
                    <a:lstStyle/>
                    <a:p>
                      <a:r>
                        <a:rPr lang="en-US" dirty="0"/>
                        <a:t>MTBS/UFMP</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tried yet</a:t>
                      </a:r>
                    </a:p>
                  </a:txBody>
                  <a:tcPr/>
                </a:tc>
                <a:extLst>
                  <a:ext uri="{0D108BD9-81ED-4DB2-BD59-A6C34878D82A}">
                    <a16:rowId xmlns:a16="http://schemas.microsoft.com/office/drawing/2014/main" val="1408408344"/>
                  </a:ext>
                </a:extLst>
              </a:tr>
              <a:tr h="370840">
                <a:tc>
                  <a:txBody>
                    <a:bodyPr/>
                    <a:lstStyle/>
                    <a:p>
                      <a:r>
                        <a:rPr lang="en-US" dirty="0"/>
                        <a:t>USGS</a:t>
                      </a:r>
                    </a:p>
                  </a:txBody>
                  <a:tcPr/>
                </a:tc>
                <a:tc>
                  <a:txBody>
                    <a:bodyPr/>
                    <a:lstStyle/>
                    <a:p>
                      <a:r>
                        <a:rPr lang="en-US" dirty="0"/>
                        <a:t>Not Tried yet</a:t>
                      </a:r>
                    </a:p>
                  </a:txBody>
                  <a:tcPr/>
                </a:tc>
                <a:extLst>
                  <a:ext uri="{0D108BD9-81ED-4DB2-BD59-A6C34878D82A}">
                    <a16:rowId xmlns:a16="http://schemas.microsoft.com/office/drawing/2014/main" val="69953743"/>
                  </a:ext>
                </a:extLst>
              </a:tr>
            </a:tbl>
          </a:graphicData>
        </a:graphic>
      </p:graphicFrame>
      <p:sp>
        <p:nvSpPr>
          <p:cNvPr id="5" name="TextBox 4">
            <a:extLst>
              <a:ext uri="{FF2B5EF4-FFF2-40B4-BE49-F238E27FC236}">
                <a16:creationId xmlns:a16="http://schemas.microsoft.com/office/drawing/2014/main" id="{CE9DB41D-81C5-6EDE-1167-25ABBB649DE2}"/>
              </a:ext>
            </a:extLst>
          </p:cNvPr>
          <p:cNvSpPr txBox="1"/>
          <p:nvPr/>
        </p:nvSpPr>
        <p:spPr>
          <a:xfrm>
            <a:off x="3267856" y="5216577"/>
            <a:ext cx="184731" cy="369332"/>
          </a:xfrm>
          <a:prstGeom prst="rect">
            <a:avLst/>
          </a:prstGeom>
          <a:noFill/>
        </p:spPr>
        <p:txBody>
          <a:bodyPr wrap="none" rtlCol="0">
            <a:spAutoFit/>
          </a:bodyPr>
          <a:lstStyle/>
          <a:p>
            <a:endParaRPr lang="en-US" dirty="0"/>
          </a:p>
        </p:txBody>
      </p:sp>
      <p:sp>
        <p:nvSpPr>
          <p:cNvPr id="8" name="TextBox 7">
            <a:extLst>
              <a:ext uri="{FF2B5EF4-FFF2-40B4-BE49-F238E27FC236}">
                <a16:creationId xmlns:a16="http://schemas.microsoft.com/office/drawing/2014/main" id="{031F1C89-25B7-D9B6-DFC1-27BB98B9836E}"/>
              </a:ext>
            </a:extLst>
          </p:cNvPr>
          <p:cNvSpPr txBox="1"/>
          <p:nvPr/>
        </p:nvSpPr>
        <p:spPr>
          <a:xfrm>
            <a:off x="838200" y="5741233"/>
            <a:ext cx="2061334" cy="369332"/>
          </a:xfrm>
          <a:prstGeom prst="rect">
            <a:avLst/>
          </a:prstGeom>
          <a:noFill/>
        </p:spPr>
        <p:txBody>
          <a:bodyPr wrap="none" rtlCol="0">
            <a:spAutoFit/>
          </a:bodyPr>
          <a:lstStyle/>
          <a:p>
            <a:r>
              <a:rPr lang="en-US" dirty="0" err="1"/>
              <a:t>Data_inventory.csv</a:t>
            </a:r>
            <a:endParaRPr lang="en-US" dirty="0"/>
          </a:p>
        </p:txBody>
      </p:sp>
    </p:spTree>
    <p:extLst>
      <p:ext uri="{BB962C8B-B14F-4D97-AF65-F5344CB8AC3E}">
        <p14:creationId xmlns:p14="http://schemas.microsoft.com/office/powerpoint/2010/main" val="41654766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0F38C-CC74-2585-778E-20BFE5EE02F0}"/>
              </a:ext>
            </a:extLst>
          </p:cNvPr>
          <p:cNvSpPr>
            <a:spLocks noGrp="1"/>
          </p:cNvSpPr>
          <p:nvPr>
            <p:ph type="title"/>
          </p:nvPr>
        </p:nvSpPr>
        <p:spPr>
          <a:xfrm>
            <a:off x="0" y="-281918"/>
            <a:ext cx="3330315" cy="1511111"/>
          </a:xfrm>
        </p:spPr>
        <p:txBody>
          <a:bodyPr>
            <a:normAutofit/>
          </a:bodyPr>
          <a:lstStyle/>
          <a:p>
            <a:r>
              <a:rPr lang="en-US" sz="2000" dirty="0"/>
              <a:t>MODIS vs GABAM initial comparison</a:t>
            </a:r>
          </a:p>
        </p:txBody>
      </p:sp>
      <p:pic>
        <p:nvPicPr>
          <p:cNvPr id="5" name="Content Placeholder 4">
            <a:extLst>
              <a:ext uri="{FF2B5EF4-FFF2-40B4-BE49-F238E27FC236}">
                <a16:creationId xmlns:a16="http://schemas.microsoft.com/office/drawing/2014/main" id="{BAB4F964-D021-0913-9F8E-C29ECBD67C25}"/>
              </a:ext>
            </a:extLst>
          </p:cNvPr>
          <p:cNvPicPr>
            <a:picLocks noGrp="1" noChangeAspect="1"/>
          </p:cNvPicPr>
          <p:nvPr>
            <p:ph idx="1"/>
          </p:nvPr>
        </p:nvPicPr>
        <p:blipFill>
          <a:blip r:embed="rId2"/>
          <a:stretch>
            <a:fillRect/>
          </a:stretch>
        </p:blipFill>
        <p:spPr>
          <a:xfrm>
            <a:off x="3009899" y="0"/>
            <a:ext cx="6172201" cy="3429000"/>
          </a:xfrm>
          <a:prstGeom prst="rect">
            <a:avLst/>
          </a:prstGeom>
        </p:spPr>
      </p:pic>
      <p:pic>
        <p:nvPicPr>
          <p:cNvPr id="7" name="Picture 6">
            <a:extLst>
              <a:ext uri="{FF2B5EF4-FFF2-40B4-BE49-F238E27FC236}">
                <a16:creationId xmlns:a16="http://schemas.microsoft.com/office/drawing/2014/main" id="{DD548E96-2815-9218-71BF-AF3D8DC47574}"/>
              </a:ext>
            </a:extLst>
          </p:cNvPr>
          <p:cNvPicPr>
            <a:picLocks noChangeAspect="1"/>
          </p:cNvPicPr>
          <p:nvPr/>
        </p:nvPicPr>
        <p:blipFill>
          <a:blip r:embed="rId3"/>
          <a:stretch>
            <a:fillRect/>
          </a:stretch>
        </p:blipFill>
        <p:spPr>
          <a:xfrm>
            <a:off x="2209800" y="3325091"/>
            <a:ext cx="7772400" cy="3532909"/>
          </a:xfrm>
          <a:prstGeom prst="rect">
            <a:avLst/>
          </a:prstGeom>
        </p:spPr>
      </p:pic>
    </p:spTree>
    <p:extLst>
      <p:ext uri="{BB962C8B-B14F-4D97-AF65-F5344CB8AC3E}">
        <p14:creationId xmlns:p14="http://schemas.microsoft.com/office/powerpoint/2010/main" val="224269779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38CB5-7195-A832-2A9A-86B77FB76C28}"/>
              </a:ext>
            </a:extLst>
          </p:cNvPr>
          <p:cNvSpPr>
            <a:spLocks noGrp="1"/>
          </p:cNvSpPr>
          <p:nvPr>
            <p:ph type="title"/>
          </p:nvPr>
        </p:nvSpPr>
        <p:spPr/>
        <p:txBody>
          <a:bodyPr/>
          <a:lstStyle/>
          <a:p>
            <a:r>
              <a:rPr lang="en-US" dirty="0"/>
              <a:t>Help!</a:t>
            </a:r>
          </a:p>
        </p:txBody>
      </p:sp>
      <p:sp>
        <p:nvSpPr>
          <p:cNvPr id="3" name="Content Placeholder 2">
            <a:extLst>
              <a:ext uri="{FF2B5EF4-FFF2-40B4-BE49-F238E27FC236}">
                <a16:creationId xmlns:a16="http://schemas.microsoft.com/office/drawing/2014/main" id="{AB6F20CB-2921-D9D3-614A-F24A3B26BBEA}"/>
              </a:ext>
            </a:extLst>
          </p:cNvPr>
          <p:cNvSpPr>
            <a:spLocks noGrp="1"/>
          </p:cNvSpPr>
          <p:nvPr>
            <p:ph idx="1"/>
          </p:nvPr>
        </p:nvSpPr>
        <p:spPr/>
        <p:txBody>
          <a:bodyPr/>
          <a:lstStyle/>
          <a:p>
            <a:r>
              <a:rPr lang="en-US" dirty="0"/>
              <a:t>Box</a:t>
            </a:r>
          </a:p>
          <a:p>
            <a:pPr lvl="1"/>
            <a:r>
              <a:rPr lang="en-US" dirty="0"/>
              <a:t>Can’t access files from Database folder in box and still can’t upload anything</a:t>
            </a:r>
          </a:p>
          <a:p>
            <a:r>
              <a:rPr lang="en-US" dirty="0"/>
              <a:t>Ideas for dealing with lack of products that measure belowground smoldering?</a:t>
            </a:r>
          </a:p>
          <a:p>
            <a:pPr marL="0" indent="0">
              <a:buNone/>
            </a:pPr>
            <a:endParaRPr lang="en-US" dirty="0"/>
          </a:p>
        </p:txBody>
      </p:sp>
    </p:spTree>
    <p:extLst>
      <p:ext uri="{BB962C8B-B14F-4D97-AF65-F5344CB8AC3E}">
        <p14:creationId xmlns:p14="http://schemas.microsoft.com/office/powerpoint/2010/main" val="117434346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1F909-CD77-500B-2F77-2CF86122C00F}"/>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0FBD0631-58FA-09F9-7C62-C26EA0A268AE}"/>
              </a:ext>
            </a:extLst>
          </p:cNvPr>
          <p:cNvSpPr>
            <a:spLocks noGrp="1"/>
          </p:cNvSpPr>
          <p:nvPr>
            <p:ph idx="1"/>
          </p:nvPr>
        </p:nvSpPr>
        <p:spPr/>
        <p:txBody>
          <a:bodyPr/>
          <a:lstStyle/>
          <a:p>
            <a:r>
              <a:rPr lang="en-US" dirty="0"/>
              <a:t>Finish downloading fire data (and upload to box)</a:t>
            </a:r>
          </a:p>
          <a:p>
            <a:r>
              <a:rPr lang="en-US" dirty="0"/>
              <a:t>Download environmental covariates + read chamberlain et al 2024 in depth</a:t>
            </a:r>
          </a:p>
          <a:p>
            <a:r>
              <a:rPr lang="en-US" dirty="0"/>
              <a:t>Clip fire data to NC peatland extent</a:t>
            </a:r>
          </a:p>
          <a:p>
            <a:r>
              <a:rPr lang="en-US" dirty="0"/>
              <a:t>Plot correlations between fire products of the same category (i.e., burned area, severity) and visualize fire product maps</a:t>
            </a:r>
          </a:p>
          <a:p>
            <a:endParaRPr lang="en-US" dirty="0"/>
          </a:p>
        </p:txBody>
      </p:sp>
    </p:spTree>
    <p:extLst>
      <p:ext uri="{BB962C8B-B14F-4D97-AF65-F5344CB8AC3E}">
        <p14:creationId xmlns:p14="http://schemas.microsoft.com/office/powerpoint/2010/main" val="22668992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14549</TotalTime>
  <Words>4920</Words>
  <Application>Microsoft Macintosh PowerPoint</Application>
  <PresentationFormat>Widescreen</PresentationFormat>
  <Paragraphs>598</Paragraphs>
  <Slides>132</Slides>
  <Notes>47</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132</vt:i4>
      </vt:variant>
    </vt:vector>
  </HeadingPairs>
  <TitlesOfParts>
    <vt:vector size="138" baseType="lpstr">
      <vt:lpstr>Aptos</vt:lpstr>
      <vt:lpstr>Aptos Display</vt:lpstr>
      <vt:lpstr>Arial</vt:lpstr>
      <vt:lpstr>Cambria Math</vt:lpstr>
      <vt:lpstr>Wingdings</vt:lpstr>
      <vt:lpstr>Office Theme</vt:lpstr>
      <vt:lpstr>8/11/26</vt:lpstr>
      <vt:lpstr>MCD64A1 vs FireCCIS311 modeling results (before adding in drainage, land cover, site-level SE clustering…)</vt:lpstr>
      <vt:lpstr>Raw burn rate over NC peat (both on 300m grid)</vt:lpstr>
      <vt:lpstr>Prognostic and propensity score validation</vt:lpstr>
      <vt:lpstr>PowerPoint Presentation</vt:lpstr>
      <vt:lpstr>PowerPoint Presentation</vt:lpstr>
      <vt:lpstr>PowerPoint Presentation</vt:lpstr>
      <vt:lpstr>ATT comparison (pixel level)</vt:lpstr>
      <vt:lpstr>Average Treatment Effect on the Treated pixels (both at 300m for comparison)</vt:lpstr>
      <vt:lpstr>Drainage</vt:lpstr>
      <vt:lpstr>HAND drainage over NC and NC peat </vt:lpstr>
      <vt:lpstr>Relationship between drainage and other covariates</vt:lpstr>
      <vt:lpstr>Land cover</vt:lpstr>
      <vt:lpstr>LANDFIRE land cover over NC – treated and control pixels are matched exactly on land cover category</vt:lpstr>
      <vt:lpstr>Match treated and control pixels using drainage and land cover</vt:lpstr>
      <vt:lpstr>PowerPoint Presentation</vt:lpstr>
      <vt:lpstr>PowerPoint Presentation</vt:lpstr>
      <vt:lpstr>PowerPoint Presentation</vt:lpstr>
      <vt:lpstr>Burned area vs covariates that vary per year (skipping the covariates that are a single static measurement)</vt:lpstr>
      <vt:lpstr>FireCCIS311</vt:lpstr>
      <vt:lpstr>FireCCIS311 vs PDSI drought index (more negative means more dry). </vt:lpstr>
      <vt:lpstr>FireCCIS311 vs min temperature </vt:lpstr>
      <vt:lpstr>FireCCIS311 vs max temperature </vt:lpstr>
      <vt:lpstr>FireCCIS311 vs precipitation (mean annual in mm)</vt:lpstr>
      <vt:lpstr>MCD64A1</vt:lpstr>
      <vt:lpstr>MCD64A1 vs PDSI drought index (more negative means more dry). </vt:lpstr>
      <vt:lpstr>MCD64A1 vs min temperature </vt:lpstr>
      <vt:lpstr>MCD64A1 vs max temperature </vt:lpstr>
      <vt:lpstr>MCD64A1 vs precipitation (mean annual in mm)</vt:lpstr>
      <vt:lpstr>MCD64A1</vt:lpstr>
      <vt:lpstr>MCD64A1 vs PDSI drought index (more negative means more dry). </vt:lpstr>
      <vt:lpstr>MCD64A1 vs min temperature </vt:lpstr>
      <vt:lpstr>MCD64A1 vs max temperature </vt:lpstr>
      <vt:lpstr>MCD64A1 vs precipitation (mean annual in mm)</vt:lpstr>
      <vt:lpstr>Burn rate per site</vt:lpstr>
      <vt:lpstr>MCD64A1</vt:lpstr>
      <vt:lpstr>MCD64A1</vt:lpstr>
      <vt:lpstr>PowerPoint Presentation</vt:lpstr>
      <vt:lpstr>FireCCIS311</vt:lpstr>
      <vt:lpstr>PowerPoint Presentation</vt:lpstr>
      <vt:lpstr>Modeling results with standard errors clustered by restoration site rather than by pixel</vt:lpstr>
      <vt:lpstr>Issues</vt:lpstr>
      <vt:lpstr>MCD64A1 300m – error bars are broken for now because some years have NaN values</vt:lpstr>
      <vt:lpstr>Next steps</vt:lpstr>
      <vt:lpstr>7/16/26</vt:lpstr>
      <vt:lpstr>Add soil covariates (organic matter %, available water capacity, drainage class) + growing degree days</vt:lpstr>
      <vt:lpstr>Add pdsi drought index</vt:lpstr>
      <vt:lpstr>PowerPoint Presentation</vt:lpstr>
      <vt:lpstr>Raw burn rate (this is what the model is predicting)</vt:lpstr>
      <vt:lpstr>Castro et al 2026 modeling approach</vt:lpstr>
      <vt:lpstr>Castro et al 2026 modeling approach</vt:lpstr>
      <vt:lpstr>PowerPoint Presentation</vt:lpstr>
      <vt:lpstr>PowerPoint Presentation</vt:lpstr>
      <vt:lpstr>PowerPoint Presentation</vt:lpstr>
      <vt:lpstr>Castro et al 2026 modeling approach</vt:lpstr>
      <vt:lpstr>PowerPoint Presentation</vt:lpstr>
      <vt:lpstr>Next steps</vt:lpstr>
      <vt:lpstr>7/9/26</vt:lpstr>
      <vt:lpstr>Data</vt:lpstr>
      <vt:lpstr>PowerPoint Presentation</vt:lpstr>
      <vt:lpstr>Matching pipeline</vt:lpstr>
      <vt:lpstr>PowerPoint Presentation</vt:lpstr>
      <vt:lpstr>PowerPoint Presentation</vt:lpstr>
      <vt:lpstr>PowerPoint Presentation</vt:lpstr>
      <vt:lpstr>PowerPoint Presentation</vt:lpstr>
      <vt:lpstr>PowerPoint Presentation</vt:lpstr>
      <vt:lpstr>Modeling pipeline (baseline) - broken</vt:lpstr>
      <vt:lpstr>Snippet of dataframe used for modeling</vt:lpstr>
      <vt:lpstr>PowerPoint Presentation</vt:lpstr>
      <vt:lpstr>Tried again dropping histosol % and tmin</vt:lpstr>
      <vt:lpstr>Next steps</vt:lpstr>
      <vt:lpstr>7/2/26</vt:lpstr>
      <vt:lpstr>NC peatland extent (&gt;80% histosol vs 0% histosol) – not too much difference</vt:lpstr>
      <vt:lpstr>Occurrence Dataset (VIIRS) in NC peat (&gt;80% histosol)</vt:lpstr>
      <vt:lpstr>Burned Area Datasets</vt:lpstr>
      <vt:lpstr>PowerPoint Presentation</vt:lpstr>
      <vt:lpstr>Reference vs burned area fire products (NC peatland &gt;80% histosol)</vt:lpstr>
      <vt:lpstr>PowerPoint Presentation</vt:lpstr>
      <vt:lpstr>Peat restoration site exploration</vt:lpstr>
      <vt:lpstr>Peat restoration sites</vt:lpstr>
      <vt:lpstr>What to do with non-completed sites? Also why do some sites not have end years?</vt:lpstr>
      <vt:lpstr>Completed sites</vt:lpstr>
      <vt:lpstr>Burned area and fire counts before and after start yr of treatment in completed sites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Next Steps</vt:lpstr>
      <vt:lpstr>6/24/26</vt:lpstr>
      <vt:lpstr>Fire Product Comparison</vt:lpstr>
      <vt:lpstr>NC peatland extent</vt:lpstr>
      <vt:lpstr>Occurrence Dataset (VIIRS) in NC peat</vt:lpstr>
      <vt:lpstr>Burned Area Datasets</vt:lpstr>
      <vt:lpstr>PowerPoint Presentation</vt:lpstr>
      <vt:lpstr>PowerPoint Presentation</vt:lpstr>
      <vt:lpstr>PowerPoint Presentation</vt:lpstr>
      <vt:lpstr>PowerPoint Presentation</vt:lpstr>
      <vt:lpstr>Validation of fire products against “ground truth” reference datasets</vt:lpstr>
      <vt:lpstr>Ground truth (reference) per-fire-event datasets – fire perimeter polygons</vt:lpstr>
      <vt:lpstr>Some example fire perimeters</vt:lpstr>
      <vt:lpstr>Example comparison of Pains Bay fire perimeter vs burned area products</vt:lpstr>
      <vt:lpstr>Example comparison of Shaken Creek fire perimeter vs burned area products</vt:lpstr>
      <vt:lpstr>Reference vs burned area fire products (all of North Carolina)</vt:lpstr>
      <vt:lpstr>PowerPoint Presentation</vt:lpstr>
      <vt:lpstr>PowerPoint Presentation</vt:lpstr>
      <vt:lpstr>Reference vs burned area fire products (just North Carolina peatlands)</vt:lpstr>
      <vt:lpstr>PowerPoint Presentation</vt:lpstr>
      <vt:lpstr>PowerPoint Presentation</vt:lpstr>
      <vt:lpstr>Some more example fires..</vt:lpstr>
      <vt:lpstr>Some more example fires..</vt:lpstr>
      <vt:lpstr>Next steps</vt:lpstr>
      <vt:lpstr>6/10/26</vt:lpstr>
      <vt:lpstr>Some background</vt:lpstr>
      <vt:lpstr>Fire Product Comparison</vt:lpstr>
      <vt:lpstr>Occurrence Dataset (VIIRS)</vt:lpstr>
      <vt:lpstr>Burned Area Datasets</vt:lpstr>
      <vt:lpstr>PowerPoint Presentation</vt:lpstr>
      <vt:lpstr>PowerPoint Presentation</vt:lpstr>
      <vt:lpstr>PowerPoint Presentation</vt:lpstr>
      <vt:lpstr>Recommendations</vt:lpstr>
      <vt:lpstr>Advice on trends in areas of interest</vt:lpstr>
      <vt:lpstr>Fire Data Download</vt:lpstr>
      <vt:lpstr>6/4/26</vt:lpstr>
      <vt:lpstr>Fire Product Comparison</vt:lpstr>
      <vt:lpstr>Fire Data Download</vt:lpstr>
      <vt:lpstr>MODIS vs GABAM initial comparison</vt:lpstr>
      <vt:lpstr>Help!</vt:lpstr>
      <vt:lpstr>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Jim Zhang</dc:creator>
  <cp:lastModifiedBy>Jim Zhang</cp:lastModifiedBy>
  <cp:revision>1</cp:revision>
  <dcterms:created xsi:type="dcterms:W3CDTF">2026-06-04T17:34:07Z</dcterms:created>
  <dcterms:modified xsi:type="dcterms:W3CDTF">2026-09-08T16:35:15Z</dcterms:modified>
</cp:coreProperties>
</file>